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2"/>
  </p:sldMasterIdLst>
  <p:notesMasterIdLst>
    <p:notesMasterId r:id="rId23"/>
  </p:notesMasterIdLst>
  <p:sldIdLst>
    <p:sldId id="256" r:id="rId3"/>
    <p:sldId id="262" r:id="rId4"/>
    <p:sldId id="269" r:id="rId5"/>
    <p:sldId id="285" r:id="rId6"/>
    <p:sldId id="257" r:id="rId7"/>
    <p:sldId id="270" r:id="rId8"/>
    <p:sldId id="274" r:id="rId9"/>
    <p:sldId id="264" r:id="rId10"/>
    <p:sldId id="265" r:id="rId11"/>
    <p:sldId id="266" r:id="rId12"/>
    <p:sldId id="277" r:id="rId13"/>
    <p:sldId id="279" r:id="rId14"/>
    <p:sldId id="278" r:id="rId15"/>
    <p:sldId id="280" r:id="rId16"/>
    <p:sldId id="281" r:id="rId17"/>
    <p:sldId id="282" r:id="rId18"/>
    <p:sldId id="286" r:id="rId19"/>
    <p:sldId id="283" r:id="rId20"/>
    <p:sldId id="284" r:id="rId21"/>
    <p:sldId id="272" r:id="rId2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E75E278A-FF0E-49A4-B170-79828D63BBAD}">
          <p14:sldIdLst>
            <p14:sldId id="256"/>
          </p14:sldIdLst>
        </p14:section>
        <p14:section name="研究背景" id="{B9B51309-D148-4332-87C2-07BE32FBCA3B}">
          <p14:sldIdLst>
            <p14:sldId id="262"/>
            <p14:sldId id="269"/>
            <p14:sldId id="285"/>
            <p14:sldId id="257"/>
            <p14:sldId id="270"/>
            <p14:sldId id="274"/>
            <p14:sldId id="264"/>
            <p14:sldId id="265"/>
            <p14:sldId id="266"/>
            <p14:sldId id="277"/>
            <p14:sldId id="279"/>
            <p14:sldId id="278"/>
            <p14:sldId id="280"/>
            <p14:sldId id="281"/>
            <p14:sldId id="282"/>
            <p14:sldId id="286"/>
            <p14:sldId id="283"/>
            <p14:sldId id="284"/>
            <p14:sldId id="272"/>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4" name="作者" initials="A" lastIdx="0"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462F"/>
    <a:srgbClr val="D2B4A6"/>
    <a:srgbClr val="734F29"/>
    <a:srgbClr val="D24726"/>
    <a:srgbClr val="AEB785"/>
    <a:srgbClr val="EFD5A2"/>
    <a:srgbClr val="3B3026"/>
    <a:srgbClr val="ECE1CA"/>
    <a:srgbClr val="79553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41" autoAdjust="0"/>
    <p:restoredTop sz="82857" autoAdjust="0"/>
  </p:normalViewPr>
  <p:slideViewPr>
    <p:cSldViewPr snapToGrid="0">
      <p:cViewPr varScale="1">
        <p:scale>
          <a:sx n="79" d="100"/>
          <a:sy n="79" d="100"/>
        </p:scale>
        <p:origin x="786" y="7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1.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commentAuthors" Target="commen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43783FA-7461-4D7A-B79D-874DE18AFD8F}" type="doc">
      <dgm:prSet loTypeId="urn:microsoft.com/office/officeart/2005/8/layout/hierarchy6" loCatId="hierarchy" qsTypeId="urn:microsoft.com/office/officeart/2005/8/quickstyle/simple1" qsCatId="simple" csTypeId="urn:microsoft.com/office/officeart/2005/8/colors/colorful4" csCatId="colorful" phldr="1"/>
      <dgm:spPr/>
      <dgm:t>
        <a:bodyPr/>
        <a:lstStyle/>
        <a:p>
          <a:endParaRPr lang="zh-CN" altLang="en-US"/>
        </a:p>
      </dgm:t>
    </dgm:pt>
    <dgm:pt modelId="{19BE6104-39D7-4C94-9EC0-8CC971EE36E3}">
      <dgm:prSet phldrT="[文本]"/>
      <dgm:spPr>
        <a:solidFill>
          <a:srgbClr val="FF0000"/>
        </a:solidFill>
      </dgm:spPr>
      <dgm:t>
        <a:bodyPr/>
        <a:lstStyle/>
        <a:p>
          <a:r>
            <a:rPr lang="zh-CN" altLang="en-US" dirty="0" smtClean="0"/>
            <a:t>初始形状</a:t>
          </a:r>
          <a:endParaRPr lang="zh-CN" altLang="en-US" dirty="0"/>
        </a:p>
      </dgm:t>
    </dgm:pt>
    <dgm:pt modelId="{59970D5A-5CB7-4DE3-AC69-8E3F8EC4FF1C}" type="parTrans" cxnId="{881651A4-83EB-4415-933B-AAF7CD0A43C1}">
      <dgm:prSet/>
      <dgm:spPr/>
      <dgm:t>
        <a:bodyPr/>
        <a:lstStyle/>
        <a:p>
          <a:endParaRPr lang="zh-CN" altLang="en-US"/>
        </a:p>
      </dgm:t>
    </dgm:pt>
    <dgm:pt modelId="{E6808B3A-DB5B-4F7D-9908-3D9BBDA945EB}" type="sibTrans" cxnId="{881651A4-83EB-4415-933B-AAF7CD0A43C1}">
      <dgm:prSet/>
      <dgm:spPr/>
      <dgm:t>
        <a:bodyPr/>
        <a:lstStyle/>
        <a:p>
          <a:endParaRPr lang="zh-CN" altLang="en-US"/>
        </a:p>
      </dgm:t>
    </dgm:pt>
    <dgm:pt modelId="{212B911C-7628-465A-9AF7-BE91E263BC4D}">
      <dgm:prSet phldrT="[文本]"/>
      <dgm:spPr>
        <a:solidFill>
          <a:srgbClr val="7030A0"/>
        </a:solidFill>
      </dgm:spPr>
      <dgm:t>
        <a:bodyPr/>
        <a:lstStyle/>
        <a:p>
          <a:r>
            <a:rPr lang="zh-CN" altLang="en-US" dirty="0" smtClean="0"/>
            <a:t>非终端形状</a:t>
          </a:r>
          <a:endParaRPr lang="zh-CN" altLang="en-US" dirty="0"/>
        </a:p>
      </dgm:t>
    </dgm:pt>
    <dgm:pt modelId="{08D4F578-4DF3-4B6A-AF05-44CA77BCDD08}" type="parTrans" cxnId="{1A1231CC-9B79-4811-8EB5-E351C6083589}">
      <dgm:prSet/>
      <dgm:spPr/>
      <dgm:t>
        <a:bodyPr/>
        <a:lstStyle/>
        <a:p>
          <a:endParaRPr lang="zh-CN" altLang="en-US"/>
        </a:p>
      </dgm:t>
    </dgm:pt>
    <dgm:pt modelId="{9CE03D07-735C-4C1E-A6D0-95F8CB78E16E}" type="sibTrans" cxnId="{1A1231CC-9B79-4811-8EB5-E351C6083589}">
      <dgm:prSet/>
      <dgm:spPr/>
      <dgm:t>
        <a:bodyPr/>
        <a:lstStyle/>
        <a:p>
          <a:endParaRPr lang="zh-CN" altLang="en-US"/>
        </a:p>
      </dgm:t>
    </dgm:pt>
    <dgm:pt modelId="{2886FB4A-F27C-461F-87BD-6A98A9F13C23}">
      <dgm:prSet phldrT="[文本]"/>
      <dgm:spPr>
        <a:solidFill>
          <a:srgbClr val="00B050"/>
        </a:solidFill>
      </dgm:spPr>
      <dgm:t>
        <a:bodyPr/>
        <a:lstStyle/>
        <a:p>
          <a:r>
            <a:rPr lang="zh-CN" altLang="en-US" dirty="0" smtClean="0"/>
            <a:t>终端形状</a:t>
          </a:r>
          <a:endParaRPr lang="zh-CN" altLang="en-US" dirty="0"/>
        </a:p>
      </dgm:t>
    </dgm:pt>
    <dgm:pt modelId="{8CD7CA8B-B27C-4475-821C-50E6ABBC94EA}" type="parTrans" cxnId="{6ED457B9-CEEE-4588-AD0C-E4EDF57A1CB9}">
      <dgm:prSet/>
      <dgm:spPr/>
      <dgm:t>
        <a:bodyPr/>
        <a:lstStyle/>
        <a:p>
          <a:endParaRPr lang="zh-CN" altLang="en-US"/>
        </a:p>
      </dgm:t>
    </dgm:pt>
    <dgm:pt modelId="{51DD47AB-01A7-482F-95D7-06E8FB29948D}" type="sibTrans" cxnId="{6ED457B9-CEEE-4588-AD0C-E4EDF57A1CB9}">
      <dgm:prSet/>
      <dgm:spPr/>
      <dgm:t>
        <a:bodyPr/>
        <a:lstStyle/>
        <a:p>
          <a:endParaRPr lang="zh-CN" altLang="en-US"/>
        </a:p>
      </dgm:t>
    </dgm:pt>
    <dgm:pt modelId="{910E79F4-2AD0-48A9-8FE8-97A63BC1461B}">
      <dgm:prSet phldrT="[文本]"/>
      <dgm:spPr>
        <a:solidFill>
          <a:srgbClr val="7030A0"/>
        </a:solidFill>
      </dgm:spPr>
      <dgm:t>
        <a:bodyPr/>
        <a:lstStyle/>
        <a:p>
          <a:r>
            <a:rPr lang="zh-CN" altLang="en-US" dirty="0" smtClean="0"/>
            <a:t>非终端形状</a:t>
          </a:r>
          <a:endParaRPr lang="zh-CN" altLang="en-US" dirty="0"/>
        </a:p>
      </dgm:t>
    </dgm:pt>
    <dgm:pt modelId="{3B9ACAA9-673E-4F74-A4E8-B3466C49D00C}" type="parTrans" cxnId="{D37FA0D1-6F5F-4AB9-A044-78AF4EA39F37}">
      <dgm:prSet/>
      <dgm:spPr/>
      <dgm:t>
        <a:bodyPr/>
        <a:lstStyle/>
        <a:p>
          <a:endParaRPr lang="zh-CN" altLang="en-US"/>
        </a:p>
      </dgm:t>
    </dgm:pt>
    <dgm:pt modelId="{A5D8F466-537A-48F1-B4EC-E05F52172F36}" type="sibTrans" cxnId="{D37FA0D1-6F5F-4AB9-A044-78AF4EA39F37}">
      <dgm:prSet/>
      <dgm:spPr/>
      <dgm:t>
        <a:bodyPr/>
        <a:lstStyle/>
        <a:p>
          <a:endParaRPr lang="zh-CN" altLang="en-US"/>
        </a:p>
      </dgm:t>
    </dgm:pt>
    <dgm:pt modelId="{DBEFE4C2-14F0-49A0-BB7A-122D29C81491}">
      <dgm:prSet phldrT="[文本]"/>
      <dgm:spPr>
        <a:solidFill>
          <a:srgbClr val="7030A0"/>
        </a:solidFill>
      </dgm:spPr>
      <dgm:t>
        <a:bodyPr/>
        <a:lstStyle/>
        <a:p>
          <a:r>
            <a:rPr lang="zh-CN" altLang="en-US" dirty="0" smtClean="0"/>
            <a:t>非终端形状</a:t>
          </a:r>
          <a:endParaRPr lang="zh-CN" altLang="en-US" dirty="0"/>
        </a:p>
      </dgm:t>
    </dgm:pt>
    <dgm:pt modelId="{B56951D6-A228-4EC4-8CC3-7D888EE01E34}" type="parTrans" cxnId="{EE083CAC-466B-481E-A5BC-88DCF9BA3A10}">
      <dgm:prSet/>
      <dgm:spPr/>
      <dgm:t>
        <a:bodyPr/>
        <a:lstStyle/>
        <a:p>
          <a:endParaRPr lang="zh-CN" altLang="en-US"/>
        </a:p>
      </dgm:t>
    </dgm:pt>
    <dgm:pt modelId="{62193C4A-75D2-4B87-A143-A0115DE9AEC5}" type="sibTrans" cxnId="{EE083CAC-466B-481E-A5BC-88DCF9BA3A10}">
      <dgm:prSet/>
      <dgm:spPr/>
      <dgm:t>
        <a:bodyPr/>
        <a:lstStyle/>
        <a:p>
          <a:endParaRPr lang="zh-CN" altLang="en-US"/>
        </a:p>
      </dgm:t>
    </dgm:pt>
    <dgm:pt modelId="{3E67C107-38AE-4570-9356-A7C02B24EFBF}">
      <dgm:prSet phldrT="[文本]"/>
      <dgm:spPr>
        <a:solidFill>
          <a:srgbClr val="00B050"/>
        </a:solidFill>
      </dgm:spPr>
      <dgm:t>
        <a:bodyPr/>
        <a:lstStyle/>
        <a:p>
          <a:r>
            <a:rPr lang="zh-CN" altLang="en-US" dirty="0" smtClean="0"/>
            <a:t>终端形状</a:t>
          </a:r>
          <a:endParaRPr lang="zh-CN" altLang="en-US" dirty="0"/>
        </a:p>
      </dgm:t>
    </dgm:pt>
    <dgm:pt modelId="{04E084E0-22A3-4D81-9B0C-A45AD2D6A3B9}" type="parTrans" cxnId="{C60F871D-5458-48FE-969F-0184D45BC439}">
      <dgm:prSet/>
      <dgm:spPr/>
      <dgm:t>
        <a:bodyPr/>
        <a:lstStyle/>
        <a:p>
          <a:endParaRPr lang="zh-CN" altLang="en-US"/>
        </a:p>
      </dgm:t>
    </dgm:pt>
    <dgm:pt modelId="{6E6F00A2-72E6-497A-ACEB-90902E4949E7}" type="sibTrans" cxnId="{C60F871D-5458-48FE-969F-0184D45BC439}">
      <dgm:prSet/>
      <dgm:spPr/>
      <dgm:t>
        <a:bodyPr/>
        <a:lstStyle/>
        <a:p>
          <a:endParaRPr lang="zh-CN" altLang="en-US"/>
        </a:p>
      </dgm:t>
    </dgm:pt>
    <dgm:pt modelId="{EC391ECA-F2BE-4F1A-999B-4FCFB1DDF66E}">
      <dgm:prSet phldrT="[文本]"/>
      <dgm:spPr>
        <a:solidFill>
          <a:srgbClr val="00B050"/>
        </a:solidFill>
      </dgm:spPr>
      <dgm:t>
        <a:bodyPr/>
        <a:lstStyle/>
        <a:p>
          <a:r>
            <a:rPr lang="zh-CN" altLang="en-US" dirty="0" smtClean="0"/>
            <a:t>终端形状</a:t>
          </a:r>
          <a:endParaRPr lang="zh-CN" altLang="en-US" dirty="0"/>
        </a:p>
      </dgm:t>
    </dgm:pt>
    <dgm:pt modelId="{CDFC9146-A4B7-4709-849A-B0FA094B0C30}" type="parTrans" cxnId="{3B30B7F3-9FBC-4212-82D1-83F7000ABC8B}">
      <dgm:prSet/>
      <dgm:spPr/>
      <dgm:t>
        <a:bodyPr/>
        <a:lstStyle/>
        <a:p>
          <a:endParaRPr lang="zh-CN" altLang="en-US"/>
        </a:p>
      </dgm:t>
    </dgm:pt>
    <dgm:pt modelId="{6834E433-46EC-4FD0-B45B-1E6177B8D4B4}" type="sibTrans" cxnId="{3B30B7F3-9FBC-4212-82D1-83F7000ABC8B}">
      <dgm:prSet/>
      <dgm:spPr/>
      <dgm:t>
        <a:bodyPr/>
        <a:lstStyle/>
        <a:p>
          <a:endParaRPr lang="zh-CN" altLang="en-US"/>
        </a:p>
      </dgm:t>
    </dgm:pt>
    <dgm:pt modelId="{9F6A6F39-C55A-473B-9AC4-32D954B90D3F}">
      <dgm:prSet phldrT="[文本]"/>
      <dgm:spPr>
        <a:solidFill>
          <a:srgbClr val="00B050"/>
        </a:solidFill>
      </dgm:spPr>
      <dgm:t>
        <a:bodyPr/>
        <a:lstStyle/>
        <a:p>
          <a:r>
            <a:rPr lang="zh-CN" altLang="en-US" dirty="0" smtClean="0"/>
            <a:t>终端形状</a:t>
          </a:r>
          <a:endParaRPr lang="zh-CN" altLang="en-US" dirty="0"/>
        </a:p>
      </dgm:t>
    </dgm:pt>
    <dgm:pt modelId="{686659FD-E1C0-43BA-9ED7-C1FE180CE836}" type="parTrans" cxnId="{A824A0FB-9126-4180-8684-E9687960392C}">
      <dgm:prSet/>
      <dgm:spPr/>
      <dgm:t>
        <a:bodyPr/>
        <a:lstStyle/>
        <a:p>
          <a:endParaRPr lang="zh-CN" altLang="en-US"/>
        </a:p>
      </dgm:t>
    </dgm:pt>
    <dgm:pt modelId="{ADF9F963-AC91-47F3-8296-6CD1D8636C24}" type="sibTrans" cxnId="{A824A0FB-9126-4180-8684-E9687960392C}">
      <dgm:prSet/>
      <dgm:spPr/>
      <dgm:t>
        <a:bodyPr/>
        <a:lstStyle/>
        <a:p>
          <a:endParaRPr lang="zh-CN" altLang="en-US"/>
        </a:p>
      </dgm:t>
    </dgm:pt>
    <dgm:pt modelId="{0AA281FC-F97D-4E3E-A4A7-B6B6F663E89A}">
      <dgm:prSet phldrT="[文本]"/>
      <dgm:spPr>
        <a:solidFill>
          <a:srgbClr val="00B050"/>
        </a:solidFill>
      </dgm:spPr>
      <dgm:t>
        <a:bodyPr/>
        <a:lstStyle/>
        <a:p>
          <a:r>
            <a:rPr lang="zh-CN" altLang="en-US" dirty="0" smtClean="0"/>
            <a:t>终端形状</a:t>
          </a:r>
          <a:endParaRPr lang="zh-CN" altLang="en-US" dirty="0"/>
        </a:p>
      </dgm:t>
    </dgm:pt>
    <dgm:pt modelId="{BFCAB9FE-1255-457B-99BD-D89F378EE465}" type="parTrans" cxnId="{633ED3B3-D775-40E8-AA30-CE2538D7A50B}">
      <dgm:prSet/>
      <dgm:spPr/>
      <dgm:t>
        <a:bodyPr/>
        <a:lstStyle/>
        <a:p>
          <a:endParaRPr lang="zh-CN" altLang="en-US"/>
        </a:p>
      </dgm:t>
    </dgm:pt>
    <dgm:pt modelId="{2C29B9CF-9F42-48F0-97DA-23700EF3A37D}" type="sibTrans" cxnId="{633ED3B3-D775-40E8-AA30-CE2538D7A50B}">
      <dgm:prSet/>
      <dgm:spPr/>
      <dgm:t>
        <a:bodyPr/>
        <a:lstStyle/>
        <a:p>
          <a:endParaRPr lang="zh-CN" altLang="en-US"/>
        </a:p>
      </dgm:t>
    </dgm:pt>
    <dgm:pt modelId="{C457EB20-BEF5-41C0-AF22-9692F858CD2E}" type="pres">
      <dgm:prSet presAssocID="{B43783FA-7461-4D7A-B79D-874DE18AFD8F}" presName="mainComposite" presStyleCnt="0">
        <dgm:presLayoutVars>
          <dgm:chPref val="1"/>
          <dgm:dir/>
          <dgm:animOne val="branch"/>
          <dgm:animLvl val="lvl"/>
          <dgm:resizeHandles val="exact"/>
        </dgm:presLayoutVars>
      </dgm:prSet>
      <dgm:spPr/>
      <dgm:t>
        <a:bodyPr/>
        <a:lstStyle/>
        <a:p>
          <a:endParaRPr lang="zh-CN" altLang="en-US"/>
        </a:p>
      </dgm:t>
    </dgm:pt>
    <dgm:pt modelId="{4364D18F-C521-40C9-B1C1-7ABAF2251102}" type="pres">
      <dgm:prSet presAssocID="{B43783FA-7461-4D7A-B79D-874DE18AFD8F}" presName="hierFlow" presStyleCnt="0"/>
      <dgm:spPr/>
    </dgm:pt>
    <dgm:pt modelId="{709D3941-3DD2-49A2-B5FE-361844A7B2A2}" type="pres">
      <dgm:prSet presAssocID="{B43783FA-7461-4D7A-B79D-874DE18AFD8F}" presName="hierChild1" presStyleCnt="0">
        <dgm:presLayoutVars>
          <dgm:chPref val="1"/>
          <dgm:animOne val="branch"/>
          <dgm:animLvl val="lvl"/>
        </dgm:presLayoutVars>
      </dgm:prSet>
      <dgm:spPr/>
    </dgm:pt>
    <dgm:pt modelId="{79950869-C5F0-456F-90F5-9A1CF73C655C}" type="pres">
      <dgm:prSet presAssocID="{19BE6104-39D7-4C94-9EC0-8CC971EE36E3}" presName="Name14" presStyleCnt="0"/>
      <dgm:spPr/>
    </dgm:pt>
    <dgm:pt modelId="{96AFCDD6-2DDE-429D-BBDC-F3CF579CDBDE}" type="pres">
      <dgm:prSet presAssocID="{19BE6104-39D7-4C94-9EC0-8CC971EE36E3}" presName="level1Shape" presStyleLbl="node0" presStyleIdx="0" presStyleCnt="1">
        <dgm:presLayoutVars>
          <dgm:chPref val="3"/>
        </dgm:presLayoutVars>
      </dgm:prSet>
      <dgm:spPr/>
      <dgm:t>
        <a:bodyPr/>
        <a:lstStyle/>
        <a:p>
          <a:endParaRPr lang="zh-CN" altLang="en-US"/>
        </a:p>
      </dgm:t>
    </dgm:pt>
    <dgm:pt modelId="{F2186255-0F2C-4369-B035-3B9D9474423A}" type="pres">
      <dgm:prSet presAssocID="{19BE6104-39D7-4C94-9EC0-8CC971EE36E3}" presName="hierChild2" presStyleCnt="0"/>
      <dgm:spPr/>
    </dgm:pt>
    <dgm:pt modelId="{D253C646-FCE8-402B-A06A-B8255D8130DC}" type="pres">
      <dgm:prSet presAssocID="{08D4F578-4DF3-4B6A-AF05-44CA77BCDD08}" presName="Name19" presStyleLbl="parChTrans1D2" presStyleIdx="0" presStyleCnt="2"/>
      <dgm:spPr/>
      <dgm:t>
        <a:bodyPr/>
        <a:lstStyle/>
        <a:p>
          <a:endParaRPr lang="zh-CN" altLang="en-US"/>
        </a:p>
      </dgm:t>
    </dgm:pt>
    <dgm:pt modelId="{EFBD611B-5EB0-470A-9205-285C72030517}" type="pres">
      <dgm:prSet presAssocID="{212B911C-7628-465A-9AF7-BE91E263BC4D}" presName="Name21" presStyleCnt="0"/>
      <dgm:spPr/>
    </dgm:pt>
    <dgm:pt modelId="{5093E39B-95A1-45B4-BDAA-25A2CA51D400}" type="pres">
      <dgm:prSet presAssocID="{212B911C-7628-465A-9AF7-BE91E263BC4D}" presName="level2Shape" presStyleLbl="node2" presStyleIdx="0" presStyleCnt="2"/>
      <dgm:spPr/>
      <dgm:t>
        <a:bodyPr/>
        <a:lstStyle/>
        <a:p>
          <a:endParaRPr lang="zh-CN" altLang="en-US"/>
        </a:p>
      </dgm:t>
    </dgm:pt>
    <dgm:pt modelId="{F740895F-9976-4760-B061-9C9AFFCBE9A6}" type="pres">
      <dgm:prSet presAssocID="{212B911C-7628-465A-9AF7-BE91E263BC4D}" presName="hierChild3" presStyleCnt="0"/>
      <dgm:spPr/>
    </dgm:pt>
    <dgm:pt modelId="{CDA02A9B-93AA-40C5-A68D-796F8D88B97F}" type="pres">
      <dgm:prSet presAssocID="{8CD7CA8B-B27C-4475-821C-50E6ABBC94EA}" presName="Name19" presStyleLbl="parChTrans1D3" presStyleIdx="0" presStyleCnt="4"/>
      <dgm:spPr/>
      <dgm:t>
        <a:bodyPr/>
        <a:lstStyle/>
        <a:p>
          <a:endParaRPr lang="zh-CN" altLang="en-US"/>
        </a:p>
      </dgm:t>
    </dgm:pt>
    <dgm:pt modelId="{E43BCCC0-6312-4DD6-8D27-9214EC97423F}" type="pres">
      <dgm:prSet presAssocID="{2886FB4A-F27C-461F-87BD-6A98A9F13C23}" presName="Name21" presStyleCnt="0"/>
      <dgm:spPr/>
    </dgm:pt>
    <dgm:pt modelId="{ED280DD1-5ED4-4B7A-BCCB-7FF922332095}" type="pres">
      <dgm:prSet presAssocID="{2886FB4A-F27C-461F-87BD-6A98A9F13C23}" presName="level2Shape" presStyleLbl="node3" presStyleIdx="0" presStyleCnt="4"/>
      <dgm:spPr/>
      <dgm:t>
        <a:bodyPr/>
        <a:lstStyle/>
        <a:p>
          <a:endParaRPr lang="zh-CN" altLang="en-US"/>
        </a:p>
      </dgm:t>
    </dgm:pt>
    <dgm:pt modelId="{891FCF96-46E4-43CA-9EDC-164ED9F93BA0}" type="pres">
      <dgm:prSet presAssocID="{2886FB4A-F27C-461F-87BD-6A98A9F13C23}" presName="hierChild3" presStyleCnt="0"/>
      <dgm:spPr/>
    </dgm:pt>
    <dgm:pt modelId="{B3346178-FE9C-44F5-848E-61C7F6110BB1}" type="pres">
      <dgm:prSet presAssocID="{3B9ACAA9-673E-4F74-A4E8-B3466C49D00C}" presName="Name19" presStyleLbl="parChTrans1D3" presStyleIdx="1" presStyleCnt="4"/>
      <dgm:spPr/>
      <dgm:t>
        <a:bodyPr/>
        <a:lstStyle/>
        <a:p>
          <a:endParaRPr lang="zh-CN" altLang="en-US"/>
        </a:p>
      </dgm:t>
    </dgm:pt>
    <dgm:pt modelId="{5B92E143-0A97-413E-B10A-0DDE7B0BB46A}" type="pres">
      <dgm:prSet presAssocID="{910E79F4-2AD0-48A9-8FE8-97A63BC1461B}" presName="Name21" presStyleCnt="0"/>
      <dgm:spPr/>
    </dgm:pt>
    <dgm:pt modelId="{9CAB2239-14A3-41CF-9F16-F21B0257D47B}" type="pres">
      <dgm:prSet presAssocID="{910E79F4-2AD0-48A9-8FE8-97A63BC1461B}" presName="level2Shape" presStyleLbl="node3" presStyleIdx="1" presStyleCnt="4"/>
      <dgm:spPr/>
      <dgm:t>
        <a:bodyPr/>
        <a:lstStyle/>
        <a:p>
          <a:endParaRPr lang="zh-CN" altLang="en-US"/>
        </a:p>
      </dgm:t>
    </dgm:pt>
    <dgm:pt modelId="{B2D4A930-DC2D-4B98-88F5-1B5CDDEAE2D4}" type="pres">
      <dgm:prSet presAssocID="{910E79F4-2AD0-48A9-8FE8-97A63BC1461B}" presName="hierChild3" presStyleCnt="0"/>
      <dgm:spPr/>
    </dgm:pt>
    <dgm:pt modelId="{ECFB8B9D-E89E-493D-A50D-57F6A85C6010}" type="pres">
      <dgm:prSet presAssocID="{686659FD-E1C0-43BA-9ED7-C1FE180CE836}" presName="Name19" presStyleLbl="parChTrans1D4" presStyleIdx="0" presStyleCnt="2"/>
      <dgm:spPr/>
      <dgm:t>
        <a:bodyPr/>
        <a:lstStyle/>
        <a:p>
          <a:endParaRPr lang="zh-CN" altLang="en-US"/>
        </a:p>
      </dgm:t>
    </dgm:pt>
    <dgm:pt modelId="{2ED6FEE9-DA74-438D-A5DA-06C18B9A5D4A}" type="pres">
      <dgm:prSet presAssocID="{9F6A6F39-C55A-473B-9AC4-32D954B90D3F}" presName="Name21" presStyleCnt="0"/>
      <dgm:spPr/>
    </dgm:pt>
    <dgm:pt modelId="{94184CCF-F51D-4B48-9926-BAB9DFD4A07A}" type="pres">
      <dgm:prSet presAssocID="{9F6A6F39-C55A-473B-9AC4-32D954B90D3F}" presName="level2Shape" presStyleLbl="node4" presStyleIdx="0" presStyleCnt="2"/>
      <dgm:spPr/>
      <dgm:t>
        <a:bodyPr/>
        <a:lstStyle/>
        <a:p>
          <a:endParaRPr lang="zh-CN" altLang="en-US"/>
        </a:p>
      </dgm:t>
    </dgm:pt>
    <dgm:pt modelId="{896F8592-D005-411D-8DDD-B54FE737B791}" type="pres">
      <dgm:prSet presAssocID="{9F6A6F39-C55A-473B-9AC4-32D954B90D3F}" presName="hierChild3" presStyleCnt="0"/>
      <dgm:spPr/>
    </dgm:pt>
    <dgm:pt modelId="{51386622-3E0E-47DE-9238-FC80373998EC}" type="pres">
      <dgm:prSet presAssocID="{BFCAB9FE-1255-457B-99BD-D89F378EE465}" presName="Name19" presStyleLbl="parChTrans1D4" presStyleIdx="1" presStyleCnt="2"/>
      <dgm:spPr/>
      <dgm:t>
        <a:bodyPr/>
        <a:lstStyle/>
        <a:p>
          <a:endParaRPr lang="zh-CN" altLang="en-US"/>
        </a:p>
      </dgm:t>
    </dgm:pt>
    <dgm:pt modelId="{DE9F102A-9E4D-4828-97C3-E95ACA0242A8}" type="pres">
      <dgm:prSet presAssocID="{0AA281FC-F97D-4E3E-A4A7-B6B6F663E89A}" presName="Name21" presStyleCnt="0"/>
      <dgm:spPr/>
    </dgm:pt>
    <dgm:pt modelId="{58D44FCC-B8B8-4757-8C6A-F470916B4863}" type="pres">
      <dgm:prSet presAssocID="{0AA281FC-F97D-4E3E-A4A7-B6B6F663E89A}" presName="level2Shape" presStyleLbl="node4" presStyleIdx="1" presStyleCnt="2"/>
      <dgm:spPr/>
      <dgm:t>
        <a:bodyPr/>
        <a:lstStyle/>
        <a:p>
          <a:endParaRPr lang="zh-CN" altLang="en-US"/>
        </a:p>
      </dgm:t>
    </dgm:pt>
    <dgm:pt modelId="{C6805C61-D380-47A9-BABE-F19629539C9A}" type="pres">
      <dgm:prSet presAssocID="{0AA281FC-F97D-4E3E-A4A7-B6B6F663E89A}" presName="hierChild3" presStyleCnt="0"/>
      <dgm:spPr/>
    </dgm:pt>
    <dgm:pt modelId="{0AB50469-7BEB-4A07-B694-3C529EEA2BF9}" type="pres">
      <dgm:prSet presAssocID="{B56951D6-A228-4EC4-8CC3-7D888EE01E34}" presName="Name19" presStyleLbl="parChTrans1D2" presStyleIdx="1" presStyleCnt="2"/>
      <dgm:spPr/>
      <dgm:t>
        <a:bodyPr/>
        <a:lstStyle/>
        <a:p>
          <a:endParaRPr lang="zh-CN" altLang="en-US"/>
        </a:p>
      </dgm:t>
    </dgm:pt>
    <dgm:pt modelId="{EDE713D1-2B69-499A-88A5-1BE497C04A05}" type="pres">
      <dgm:prSet presAssocID="{DBEFE4C2-14F0-49A0-BB7A-122D29C81491}" presName="Name21" presStyleCnt="0"/>
      <dgm:spPr/>
    </dgm:pt>
    <dgm:pt modelId="{0B6E32CD-B701-40F5-BA8A-2A1AF3C5578F}" type="pres">
      <dgm:prSet presAssocID="{DBEFE4C2-14F0-49A0-BB7A-122D29C81491}" presName="level2Shape" presStyleLbl="node2" presStyleIdx="1" presStyleCnt="2"/>
      <dgm:spPr/>
      <dgm:t>
        <a:bodyPr/>
        <a:lstStyle/>
        <a:p>
          <a:endParaRPr lang="zh-CN" altLang="en-US"/>
        </a:p>
      </dgm:t>
    </dgm:pt>
    <dgm:pt modelId="{28562C21-3BE8-4B26-9C8B-B143ED548A15}" type="pres">
      <dgm:prSet presAssocID="{DBEFE4C2-14F0-49A0-BB7A-122D29C81491}" presName="hierChild3" presStyleCnt="0"/>
      <dgm:spPr/>
    </dgm:pt>
    <dgm:pt modelId="{733F4C5E-2E38-4971-872B-D38081ECF45B}" type="pres">
      <dgm:prSet presAssocID="{04E084E0-22A3-4D81-9B0C-A45AD2D6A3B9}" presName="Name19" presStyleLbl="parChTrans1D3" presStyleIdx="2" presStyleCnt="4"/>
      <dgm:spPr/>
      <dgm:t>
        <a:bodyPr/>
        <a:lstStyle/>
        <a:p>
          <a:endParaRPr lang="zh-CN" altLang="en-US"/>
        </a:p>
      </dgm:t>
    </dgm:pt>
    <dgm:pt modelId="{416CD084-059E-44D7-B498-5251D63A2CB7}" type="pres">
      <dgm:prSet presAssocID="{3E67C107-38AE-4570-9356-A7C02B24EFBF}" presName="Name21" presStyleCnt="0"/>
      <dgm:spPr/>
    </dgm:pt>
    <dgm:pt modelId="{D4945356-0FB4-4A23-86E2-8427617EA309}" type="pres">
      <dgm:prSet presAssocID="{3E67C107-38AE-4570-9356-A7C02B24EFBF}" presName="level2Shape" presStyleLbl="node3" presStyleIdx="2" presStyleCnt="4"/>
      <dgm:spPr/>
      <dgm:t>
        <a:bodyPr/>
        <a:lstStyle/>
        <a:p>
          <a:endParaRPr lang="zh-CN" altLang="en-US"/>
        </a:p>
      </dgm:t>
    </dgm:pt>
    <dgm:pt modelId="{9BBF0510-A101-4D3F-8FD0-1C9B22EC41B1}" type="pres">
      <dgm:prSet presAssocID="{3E67C107-38AE-4570-9356-A7C02B24EFBF}" presName="hierChild3" presStyleCnt="0"/>
      <dgm:spPr/>
    </dgm:pt>
    <dgm:pt modelId="{1B14948D-7E3D-483F-88BB-70F6D03E1914}" type="pres">
      <dgm:prSet presAssocID="{CDFC9146-A4B7-4709-849A-B0FA094B0C30}" presName="Name19" presStyleLbl="parChTrans1D3" presStyleIdx="3" presStyleCnt="4"/>
      <dgm:spPr/>
      <dgm:t>
        <a:bodyPr/>
        <a:lstStyle/>
        <a:p>
          <a:endParaRPr lang="zh-CN" altLang="en-US"/>
        </a:p>
      </dgm:t>
    </dgm:pt>
    <dgm:pt modelId="{7441BD6C-EFD2-47A5-9540-B1C215C9CEC0}" type="pres">
      <dgm:prSet presAssocID="{EC391ECA-F2BE-4F1A-999B-4FCFB1DDF66E}" presName="Name21" presStyleCnt="0"/>
      <dgm:spPr/>
    </dgm:pt>
    <dgm:pt modelId="{5AAE826C-E473-4C30-A605-0277693BC5C9}" type="pres">
      <dgm:prSet presAssocID="{EC391ECA-F2BE-4F1A-999B-4FCFB1DDF66E}" presName="level2Shape" presStyleLbl="node3" presStyleIdx="3" presStyleCnt="4"/>
      <dgm:spPr/>
      <dgm:t>
        <a:bodyPr/>
        <a:lstStyle/>
        <a:p>
          <a:endParaRPr lang="zh-CN" altLang="en-US"/>
        </a:p>
      </dgm:t>
    </dgm:pt>
    <dgm:pt modelId="{F6D2F3B5-AC6B-4757-93DC-A29190F92225}" type="pres">
      <dgm:prSet presAssocID="{EC391ECA-F2BE-4F1A-999B-4FCFB1DDF66E}" presName="hierChild3" presStyleCnt="0"/>
      <dgm:spPr/>
    </dgm:pt>
    <dgm:pt modelId="{C13CD890-8BF1-4C84-A612-8FBE3A304319}" type="pres">
      <dgm:prSet presAssocID="{B43783FA-7461-4D7A-B79D-874DE18AFD8F}" presName="bgShapesFlow" presStyleCnt="0"/>
      <dgm:spPr/>
    </dgm:pt>
  </dgm:ptLst>
  <dgm:cxnLst>
    <dgm:cxn modelId="{6ED457B9-CEEE-4588-AD0C-E4EDF57A1CB9}" srcId="{212B911C-7628-465A-9AF7-BE91E263BC4D}" destId="{2886FB4A-F27C-461F-87BD-6A98A9F13C23}" srcOrd="0" destOrd="0" parTransId="{8CD7CA8B-B27C-4475-821C-50E6ABBC94EA}" sibTransId="{51DD47AB-01A7-482F-95D7-06E8FB29948D}"/>
    <dgm:cxn modelId="{DBEB720F-BDC1-44AB-8320-4AE929D085C0}" type="presOf" srcId="{9F6A6F39-C55A-473B-9AC4-32D954B90D3F}" destId="{94184CCF-F51D-4B48-9926-BAB9DFD4A07A}" srcOrd="0" destOrd="0" presId="urn:microsoft.com/office/officeart/2005/8/layout/hierarchy6"/>
    <dgm:cxn modelId="{8FF09445-93CF-4FDE-BC50-35FBC50DAA10}" type="presOf" srcId="{8CD7CA8B-B27C-4475-821C-50E6ABBC94EA}" destId="{CDA02A9B-93AA-40C5-A68D-796F8D88B97F}" srcOrd="0" destOrd="0" presId="urn:microsoft.com/office/officeart/2005/8/layout/hierarchy6"/>
    <dgm:cxn modelId="{5501C9C6-C1AB-4A00-8825-9AE1157717A9}" type="presOf" srcId="{CDFC9146-A4B7-4709-849A-B0FA094B0C30}" destId="{1B14948D-7E3D-483F-88BB-70F6D03E1914}" srcOrd="0" destOrd="0" presId="urn:microsoft.com/office/officeart/2005/8/layout/hierarchy6"/>
    <dgm:cxn modelId="{D37FA0D1-6F5F-4AB9-A044-78AF4EA39F37}" srcId="{212B911C-7628-465A-9AF7-BE91E263BC4D}" destId="{910E79F4-2AD0-48A9-8FE8-97A63BC1461B}" srcOrd="1" destOrd="0" parTransId="{3B9ACAA9-673E-4F74-A4E8-B3466C49D00C}" sibTransId="{A5D8F466-537A-48F1-B4EC-E05F52172F36}"/>
    <dgm:cxn modelId="{38A24170-CE0A-40FE-91BD-BB84288C3CD5}" type="presOf" srcId="{DBEFE4C2-14F0-49A0-BB7A-122D29C81491}" destId="{0B6E32CD-B701-40F5-BA8A-2A1AF3C5578F}" srcOrd="0" destOrd="0" presId="urn:microsoft.com/office/officeart/2005/8/layout/hierarchy6"/>
    <dgm:cxn modelId="{633ED3B3-D775-40E8-AA30-CE2538D7A50B}" srcId="{910E79F4-2AD0-48A9-8FE8-97A63BC1461B}" destId="{0AA281FC-F97D-4E3E-A4A7-B6B6F663E89A}" srcOrd="1" destOrd="0" parTransId="{BFCAB9FE-1255-457B-99BD-D89F378EE465}" sibTransId="{2C29B9CF-9F42-48F0-97DA-23700EF3A37D}"/>
    <dgm:cxn modelId="{7A5618D4-72F4-4D73-9F57-0C9788C8CA7E}" type="presOf" srcId="{0AA281FC-F97D-4E3E-A4A7-B6B6F663E89A}" destId="{58D44FCC-B8B8-4757-8C6A-F470916B4863}" srcOrd="0" destOrd="0" presId="urn:microsoft.com/office/officeart/2005/8/layout/hierarchy6"/>
    <dgm:cxn modelId="{B7A8C7FE-5E85-4729-BD0C-67D384867464}" type="presOf" srcId="{08D4F578-4DF3-4B6A-AF05-44CA77BCDD08}" destId="{D253C646-FCE8-402B-A06A-B8255D8130DC}" srcOrd="0" destOrd="0" presId="urn:microsoft.com/office/officeart/2005/8/layout/hierarchy6"/>
    <dgm:cxn modelId="{08835E3A-A8C6-42C2-94FE-D80CB6DDCAA8}" type="presOf" srcId="{B43783FA-7461-4D7A-B79D-874DE18AFD8F}" destId="{C457EB20-BEF5-41C0-AF22-9692F858CD2E}" srcOrd="0" destOrd="0" presId="urn:microsoft.com/office/officeart/2005/8/layout/hierarchy6"/>
    <dgm:cxn modelId="{A37A8139-F7EA-41DA-A5F5-76DCB8606152}" type="presOf" srcId="{2886FB4A-F27C-461F-87BD-6A98A9F13C23}" destId="{ED280DD1-5ED4-4B7A-BCCB-7FF922332095}" srcOrd="0" destOrd="0" presId="urn:microsoft.com/office/officeart/2005/8/layout/hierarchy6"/>
    <dgm:cxn modelId="{03B8651A-3D59-4F04-AE80-B8975731CF28}" type="presOf" srcId="{19BE6104-39D7-4C94-9EC0-8CC971EE36E3}" destId="{96AFCDD6-2DDE-429D-BBDC-F3CF579CDBDE}" srcOrd="0" destOrd="0" presId="urn:microsoft.com/office/officeart/2005/8/layout/hierarchy6"/>
    <dgm:cxn modelId="{4AAF351F-E12F-40A2-AEF1-95EAEA8BBFA2}" type="presOf" srcId="{3E67C107-38AE-4570-9356-A7C02B24EFBF}" destId="{D4945356-0FB4-4A23-86E2-8427617EA309}" srcOrd="0" destOrd="0" presId="urn:microsoft.com/office/officeart/2005/8/layout/hierarchy6"/>
    <dgm:cxn modelId="{1A1231CC-9B79-4811-8EB5-E351C6083589}" srcId="{19BE6104-39D7-4C94-9EC0-8CC971EE36E3}" destId="{212B911C-7628-465A-9AF7-BE91E263BC4D}" srcOrd="0" destOrd="0" parTransId="{08D4F578-4DF3-4B6A-AF05-44CA77BCDD08}" sibTransId="{9CE03D07-735C-4C1E-A6D0-95F8CB78E16E}"/>
    <dgm:cxn modelId="{5EB5B3C0-C83E-44AA-8BCF-825AE71E5B79}" type="presOf" srcId="{04E084E0-22A3-4D81-9B0C-A45AD2D6A3B9}" destId="{733F4C5E-2E38-4971-872B-D38081ECF45B}" srcOrd="0" destOrd="0" presId="urn:microsoft.com/office/officeart/2005/8/layout/hierarchy6"/>
    <dgm:cxn modelId="{3B30B7F3-9FBC-4212-82D1-83F7000ABC8B}" srcId="{DBEFE4C2-14F0-49A0-BB7A-122D29C81491}" destId="{EC391ECA-F2BE-4F1A-999B-4FCFB1DDF66E}" srcOrd="1" destOrd="0" parTransId="{CDFC9146-A4B7-4709-849A-B0FA094B0C30}" sibTransId="{6834E433-46EC-4FD0-B45B-1E6177B8D4B4}"/>
    <dgm:cxn modelId="{A824A0FB-9126-4180-8684-E9687960392C}" srcId="{910E79F4-2AD0-48A9-8FE8-97A63BC1461B}" destId="{9F6A6F39-C55A-473B-9AC4-32D954B90D3F}" srcOrd="0" destOrd="0" parTransId="{686659FD-E1C0-43BA-9ED7-C1FE180CE836}" sibTransId="{ADF9F963-AC91-47F3-8296-6CD1D8636C24}"/>
    <dgm:cxn modelId="{348B2DE7-F327-4DA7-B5FB-672D548F5B09}" type="presOf" srcId="{686659FD-E1C0-43BA-9ED7-C1FE180CE836}" destId="{ECFB8B9D-E89E-493D-A50D-57F6A85C6010}" srcOrd="0" destOrd="0" presId="urn:microsoft.com/office/officeart/2005/8/layout/hierarchy6"/>
    <dgm:cxn modelId="{CDC02F4E-A632-41A6-BAAF-FF5C13F3E604}" type="presOf" srcId="{3B9ACAA9-673E-4F74-A4E8-B3466C49D00C}" destId="{B3346178-FE9C-44F5-848E-61C7F6110BB1}" srcOrd="0" destOrd="0" presId="urn:microsoft.com/office/officeart/2005/8/layout/hierarchy6"/>
    <dgm:cxn modelId="{34D90782-6913-4E7C-B3F5-C60E3B66AF3B}" type="presOf" srcId="{B56951D6-A228-4EC4-8CC3-7D888EE01E34}" destId="{0AB50469-7BEB-4A07-B694-3C529EEA2BF9}" srcOrd="0" destOrd="0" presId="urn:microsoft.com/office/officeart/2005/8/layout/hierarchy6"/>
    <dgm:cxn modelId="{B19E6B87-F926-4476-89F5-22BEE3AD294B}" type="presOf" srcId="{EC391ECA-F2BE-4F1A-999B-4FCFB1DDF66E}" destId="{5AAE826C-E473-4C30-A605-0277693BC5C9}" srcOrd="0" destOrd="0" presId="urn:microsoft.com/office/officeart/2005/8/layout/hierarchy6"/>
    <dgm:cxn modelId="{27ACF142-C172-44DE-BBC6-79C644E68359}" type="presOf" srcId="{910E79F4-2AD0-48A9-8FE8-97A63BC1461B}" destId="{9CAB2239-14A3-41CF-9F16-F21B0257D47B}" srcOrd="0" destOrd="0" presId="urn:microsoft.com/office/officeart/2005/8/layout/hierarchy6"/>
    <dgm:cxn modelId="{075FC3F2-0D24-4DB3-9653-39ACCDBDF000}" type="presOf" srcId="{BFCAB9FE-1255-457B-99BD-D89F378EE465}" destId="{51386622-3E0E-47DE-9238-FC80373998EC}" srcOrd="0" destOrd="0" presId="urn:microsoft.com/office/officeart/2005/8/layout/hierarchy6"/>
    <dgm:cxn modelId="{76673F3E-AA4F-480B-BE67-F92502D9E5C8}" type="presOf" srcId="{212B911C-7628-465A-9AF7-BE91E263BC4D}" destId="{5093E39B-95A1-45B4-BDAA-25A2CA51D400}" srcOrd="0" destOrd="0" presId="urn:microsoft.com/office/officeart/2005/8/layout/hierarchy6"/>
    <dgm:cxn modelId="{EE083CAC-466B-481E-A5BC-88DCF9BA3A10}" srcId="{19BE6104-39D7-4C94-9EC0-8CC971EE36E3}" destId="{DBEFE4C2-14F0-49A0-BB7A-122D29C81491}" srcOrd="1" destOrd="0" parTransId="{B56951D6-A228-4EC4-8CC3-7D888EE01E34}" sibTransId="{62193C4A-75D2-4B87-A143-A0115DE9AEC5}"/>
    <dgm:cxn modelId="{881651A4-83EB-4415-933B-AAF7CD0A43C1}" srcId="{B43783FA-7461-4D7A-B79D-874DE18AFD8F}" destId="{19BE6104-39D7-4C94-9EC0-8CC971EE36E3}" srcOrd="0" destOrd="0" parTransId="{59970D5A-5CB7-4DE3-AC69-8E3F8EC4FF1C}" sibTransId="{E6808B3A-DB5B-4F7D-9908-3D9BBDA945EB}"/>
    <dgm:cxn modelId="{C60F871D-5458-48FE-969F-0184D45BC439}" srcId="{DBEFE4C2-14F0-49A0-BB7A-122D29C81491}" destId="{3E67C107-38AE-4570-9356-A7C02B24EFBF}" srcOrd="0" destOrd="0" parTransId="{04E084E0-22A3-4D81-9B0C-A45AD2D6A3B9}" sibTransId="{6E6F00A2-72E6-497A-ACEB-90902E4949E7}"/>
    <dgm:cxn modelId="{40DF7CC8-79D1-41A8-BED1-B43F50A50EE6}" type="presParOf" srcId="{C457EB20-BEF5-41C0-AF22-9692F858CD2E}" destId="{4364D18F-C521-40C9-B1C1-7ABAF2251102}" srcOrd="0" destOrd="0" presId="urn:microsoft.com/office/officeart/2005/8/layout/hierarchy6"/>
    <dgm:cxn modelId="{2D7A42F8-A3E2-450E-B522-8491453BA353}" type="presParOf" srcId="{4364D18F-C521-40C9-B1C1-7ABAF2251102}" destId="{709D3941-3DD2-49A2-B5FE-361844A7B2A2}" srcOrd="0" destOrd="0" presId="urn:microsoft.com/office/officeart/2005/8/layout/hierarchy6"/>
    <dgm:cxn modelId="{42092126-B321-43DD-9BE7-5B781CC83AFC}" type="presParOf" srcId="{709D3941-3DD2-49A2-B5FE-361844A7B2A2}" destId="{79950869-C5F0-456F-90F5-9A1CF73C655C}" srcOrd="0" destOrd="0" presId="urn:microsoft.com/office/officeart/2005/8/layout/hierarchy6"/>
    <dgm:cxn modelId="{2ACBF177-A28F-47F4-9446-C9C495E05728}" type="presParOf" srcId="{79950869-C5F0-456F-90F5-9A1CF73C655C}" destId="{96AFCDD6-2DDE-429D-BBDC-F3CF579CDBDE}" srcOrd="0" destOrd="0" presId="urn:microsoft.com/office/officeart/2005/8/layout/hierarchy6"/>
    <dgm:cxn modelId="{CA6BEFD1-A9FD-4E0A-84BF-DF50FB477447}" type="presParOf" srcId="{79950869-C5F0-456F-90F5-9A1CF73C655C}" destId="{F2186255-0F2C-4369-B035-3B9D9474423A}" srcOrd="1" destOrd="0" presId="urn:microsoft.com/office/officeart/2005/8/layout/hierarchy6"/>
    <dgm:cxn modelId="{F36F7F1E-D35F-4894-BA0A-9E7DD512687F}" type="presParOf" srcId="{F2186255-0F2C-4369-B035-3B9D9474423A}" destId="{D253C646-FCE8-402B-A06A-B8255D8130DC}" srcOrd="0" destOrd="0" presId="urn:microsoft.com/office/officeart/2005/8/layout/hierarchy6"/>
    <dgm:cxn modelId="{3B9EDB93-340A-4758-A695-FEE1CDBDAB27}" type="presParOf" srcId="{F2186255-0F2C-4369-B035-3B9D9474423A}" destId="{EFBD611B-5EB0-470A-9205-285C72030517}" srcOrd="1" destOrd="0" presId="urn:microsoft.com/office/officeart/2005/8/layout/hierarchy6"/>
    <dgm:cxn modelId="{08023B65-E52E-4F60-B2D1-D00B33E5BDF6}" type="presParOf" srcId="{EFBD611B-5EB0-470A-9205-285C72030517}" destId="{5093E39B-95A1-45B4-BDAA-25A2CA51D400}" srcOrd="0" destOrd="0" presId="urn:microsoft.com/office/officeart/2005/8/layout/hierarchy6"/>
    <dgm:cxn modelId="{643080E4-EE10-4007-931E-03518B19CA6F}" type="presParOf" srcId="{EFBD611B-5EB0-470A-9205-285C72030517}" destId="{F740895F-9976-4760-B061-9C9AFFCBE9A6}" srcOrd="1" destOrd="0" presId="urn:microsoft.com/office/officeart/2005/8/layout/hierarchy6"/>
    <dgm:cxn modelId="{B96F4715-649A-446E-AE5C-C72DE70DC64D}" type="presParOf" srcId="{F740895F-9976-4760-B061-9C9AFFCBE9A6}" destId="{CDA02A9B-93AA-40C5-A68D-796F8D88B97F}" srcOrd="0" destOrd="0" presId="urn:microsoft.com/office/officeart/2005/8/layout/hierarchy6"/>
    <dgm:cxn modelId="{5C129854-41B5-4A10-A90E-48DF705216B3}" type="presParOf" srcId="{F740895F-9976-4760-B061-9C9AFFCBE9A6}" destId="{E43BCCC0-6312-4DD6-8D27-9214EC97423F}" srcOrd="1" destOrd="0" presId="urn:microsoft.com/office/officeart/2005/8/layout/hierarchy6"/>
    <dgm:cxn modelId="{0C7343C8-B8F4-4E16-8B2D-E19EBACE87F9}" type="presParOf" srcId="{E43BCCC0-6312-4DD6-8D27-9214EC97423F}" destId="{ED280DD1-5ED4-4B7A-BCCB-7FF922332095}" srcOrd="0" destOrd="0" presId="urn:microsoft.com/office/officeart/2005/8/layout/hierarchy6"/>
    <dgm:cxn modelId="{C5F6FAEA-503D-404A-A0FE-22E3E589E9B7}" type="presParOf" srcId="{E43BCCC0-6312-4DD6-8D27-9214EC97423F}" destId="{891FCF96-46E4-43CA-9EDC-164ED9F93BA0}" srcOrd="1" destOrd="0" presId="urn:microsoft.com/office/officeart/2005/8/layout/hierarchy6"/>
    <dgm:cxn modelId="{551521D8-1A3C-467A-BC0B-683FC49C2704}" type="presParOf" srcId="{F740895F-9976-4760-B061-9C9AFFCBE9A6}" destId="{B3346178-FE9C-44F5-848E-61C7F6110BB1}" srcOrd="2" destOrd="0" presId="urn:microsoft.com/office/officeart/2005/8/layout/hierarchy6"/>
    <dgm:cxn modelId="{8863E9C3-D7BB-4DAD-9595-F88D4197B1D5}" type="presParOf" srcId="{F740895F-9976-4760-B061-9C9AFFCBE9A6}" destId="{5B92E143-0A97-413E-B10A-0DDE7B0BB46A}" srcOrd="3" destOrd="0" presId="urn:microsoft.com/office/officeart/2005/8/layout/hierarchy6"/>
    <dgm:cxn modelId="{3CB537F9-201E-4AC0-8A86-30B801C99921}" type="presParOf" srcId="{5B92E143-0A97-413E-B10A-0DDE7B0BB46A}" destId="{9CAB2239-14A3-41CF-9F16-F21B0257D47B}" srcOrd="0" destOrd="0" presId="urn:microsoft.com/office/officeart/2005/8/layout/hierarchy6"/>
    <dgm:cxn modelId="{307B5CCB-FA3D-4E18-8A7D-9A92EA3287D4}" type="presParOf" srcId="{5B92E143-0A97-413E-B10A-0DDE7B0BB46A}" destId="{B2D4A930-DC2D-4B98-88F5-1B5CDDEAE2D4}" srcOrd="1" destOrd="0" presId="urn:microsoft.com/office/officeart/2005/8/layout/hierarchy6"/>
    <dgm:cxn modelId="{195C6D1C-0743-4224-B971-9F094EDD6F03}" type="presParOf" srcId="{B2D4A930-DC2D-4B98-88F5-1B5CDDEAE2D4}" destId="{ECFB8B9D-E89E-493D-A50D-57F6A85C6010}" srcOrd="0" destOrd="0" presId="urn:microsoft.com/office/officeart/2005/8/layout/hierarchy6"/>
    <dgm:cxn modelId="{0B5D3DE9-C4A7-4FFF-9012-7C829D44C014}" type="presParOf" srcId="{B2D4A930-DC2D-4B98-88F5-1B5CDDEAE2D4}" destId="{2ED6FEE9-DA74-438D-A5DA-06C18B9A5D4A}" srcOrd="1" destOrd="0" presId="urn:microsoft.com/office/officeart/2005/8/layout/hierarchy6"/>
    <dgm:cxn modelId="{BEB0290D-A5E6-46A2-956E-2579550870DE}" type="presParOf" srcId="{2ED6FEE9-DA74-438D-A5DA-06C18B9A5D4A}" destId="{94184CCF-F51D-4B48-9926-BAB9DFD4A07A}" srcOrd="0" destOrd="0" presId="urn:microsoft.com/office/officeart/2005/8/layout/hierarchy6"/>
    <dgm:cxn modelId="{E4C2B886-404F-44C7-AA4B-5F8E6DE0D7CD}" type="presParOf" srcId="{2ED6FEE9-DA74-438D-A5DA-06C18B9A5D4A}" destId="{896F8592-D005-411D-8DDD-B54FE737B791}" srcOrd="1" destOrd="0" presId="urn:microsoft.com/office/officeart/2005/8/layout/hierarchy6"/>
    <dgm:cxn modelId="{6E70D8E3-1BD5-4E68-8E3D-AD5C8A3783AD}" type="presParOf" srcId="{B2D4A930-DC2D-4B98-88F5-1B5CDDEAE2D4}" destId="{51386622-3E0E-47DE-9238-FC80373998EC}" srcOrd="2" destOrd="0" presId="urn:microsoft.com/office/officeart/2005/8/layout/hierarchy6"/>
    <dgm:cxn modelId="{81CEBA2C-8573-4E71-A443-BA0FC445C2AF}" type="presParOf" srcId="{B2D4A930-DC2D-4B98-88F5-1B5CDDEAE2D4}" destId="{DE9F102A-9E4D-4828-97C3-E95ACA0242A8}" srcOrd="3" destOrd="0" presId="urn:microsoft.com/office/officeart/2005/8/layout/hierarchy6"/>
    <dgm:cxn modelId="{1696A1E4-6BF2-4D7A-B5FB-61775E7C8E9D}" type="presParOf" srcId="{DE9F102A-9E4D-4828-97C3-E95ACA0242A8}" destId="{58D44FCC-B8B8-4757-8C6A-F470916B4863}" srcOrd="0" destOrd="0" presId="urn:microsoft.com/office/officeart/2005/8/layout/hierarchy6"/>
    <dgm:cxn modelId="{8DB7B880-5BE1-4987-A04B-7D483CD548EA}" type="presParOf" srcId="{DE9F102A-9E4D-4828-97C3-E95ACA0242A8}" destId="{C6805C61-D380-47A9-BABE-F19629539C9A}" srcOrd="1" destOrd="0" presId="urn:microsoft.com/office/officeart/2005/8/layout/hierarchy6"/>
    <dgm:cxn modelId="{C06D5247-D62D-4602-9206-EF2148705D30}" type="presParOf" srcId="{F2186255-0F2C-4369-B035-3B9D9474423A}" destId="{0AB50469-7BEB-4A07-B694-3C529EEA2BF9}" srcOrd="2" destOrd="0" presId="urn:microsoft.com/office/officeart/2005/8/layout/hierarchy6"/>
    <dgm:cxn modelId="{19174A52-63AA-4345-A248-40F759B1191F}" type="presParOf" srcId="{F2186255-0F2C-4369-B035-3B9D9474423A}" destId="{EDE713D1-2B69-499A-88A5-1BE497C04A05}" srcOrd="3" destOrd="0" presId="urn:microsoft.com/office/officeart/2005/8/layout/hierarchy6"/>
    <dgm:cxn modelId="{81579564-B370-4E1B-AF87-ACBDB0177636}" type="presParOf" srcId="{EDE713D1-2B69-499A-88A5-1BE497C04A05}" destId="{0B6E32CD-B701-40F5-BA8A-2A1AF3C5578F}" srcOrd="0" destOrd="0" presId="urn:microsoft.com/office/officeart/2005/8/layout/hierarchy6"/>
    <dgm:cxn modelId="{5601581B-2660-4EA0-97AD-D3CBE84EBD7C}" type="presParOf" srcId="{EDE713D1-2B69-499A-88A5-1BE497C04A05}" destId="{28562C21-3BE8-4B26-9C8B-B143ED548A15}" srcOrd="1" destOrd="0" presId="urn:microsoft.com/office/officeart/2005/8/layout/hierarchy6"/>
    <dgm:cxn modelId="{C0826C6A-38EF-45C7-A760-541E51F9CE02}" type="presParOf" srcId="{28562C21-3BE8-4B26-9C8B-B143ED548A15}" destId="{733F4C5E-2E38-4971-872B-D38081ECF45B}" srcOrd="0" destOrd="0" presId="urn:microsoft.com/office/officeart/2005/8/layout/hierarchy6"/>
    <dgm:cxn modelId="{A892FD08-7F9B-4A93-8057-8C2C3C65516F}" type="presParOf" srcId="{28562C21-3BE8-4B26-9C8B-B143ED548A15}" destId="{416CD084-059E-44D7-B498-5251D63A2CB7}" srcOrd="1" destOrd="0" presId="urn:microsoft.com/office/officeart/2005/8/layout/hierarchy6"/>
    <dgm:cxn modelId="{A93FFF8A-3234-45F5-B116-F09D6124B34E}" type="presParOf" srcId="{416CD084-059E-44D7-B498-5251D63A2CB7}" destId="{D4945356-0FB4-4A23-86E2-8427617EA309}" srcOrd="0" destOrd="0" presId="urn:microsoft.com/office/officeart/2005/8/layout/hierarchy6"/>
    <dgm:cxn modelId="{47BFD3CF-A6A5-452F-9B2D-1C179F2A64B5}" type="presParOf" srcId="{416CD084-059E-44D7-B498-5251D63A2CB7}" destId="{9BBF0510-A101-4D3F-8FD0-1C9B22EC41B1}" srcOrd="1" destOrd="0" presId="urn:microsoft.com/office/officeart/2005/8/layout/hierarchy6"/>
    <dgm:cxn modelId="{E8B4CB11-F140-4BAB-B9D0-15F74CB4C5D3}" type="presParOf" srcId="{28562C21-3BE8-4B26-9C8B-B143ED548A15}" destId="{1B14948D-7E3D-483F-88BB-70F6D03E1914}" srcOrd="2" destOrd="0" presId="urn:microsoft.com/office/officeart/2005/8/layout/hierarchy6"/>
    <dgm:cxn modelId="{4F10DB01-4CBA-4FA7-A094-15F68BD241F4}" type="presParOf" srcId="{28562C21-3BE8-4B26-9C8B-B143ED548A15}" destId="{7441BD6C-EFD2-47A5-9540-B1C215C9CEC0}" srcOrd="3" destOrd="0" presId="urn:microsoft.com/office/officeart/2005/8/layout/hierarchy6"/>
    <dgm:cxn modelId="{68B42CCA-1CC8-4A8B-9CF2-C3AA2DD73DE7}" type="presParOf" srcId="{7441BD6C-EFD2-47A5-9540-B1C215C9CEC0}" destId="{5AAE826C-E473-4C30-A605-0277693BC5C9}" srcOrd="0" destOrd="0" presId="urn:microsoft.com/office/officeart/2005/8/layout/hierarchy6"/>
    <dgm:cxn modelId="{D8341FF1-8FF7-4970-8B75-3C99C5F9BFC8}" type="presParOf" srcId="{7441BD6C-EFD2-47A5-9540-B1C215C9CEC0}" destId="{F6D2F3B5-AC6B-4757-93DC-A29190F92225}" srcOrd="1" destOrd="0" presId="urn:microsoft.com/office/officeart/2005/8/layout/hierarchy6"/>
    <dgm:cxn modelId="{B3950FCD-0518-4700-99D8-919612C27F55}" type="presParOf" srcId="{C457EB20-BEF5-41C0-AF22-9692F858CD2E}" destId="{C13CD890-8BF1-4C84-A612-8FBE3A304319}" srcOrd="1" destOrd="0" presId="urn:microsoft.com/office/officeart/2005/8/layout/hierarchy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AFCDD6-2DDE-429D-BBDC-F3CF579CDBDE}">
      <dsp:nvSpPr>
        <dsp:cNvPr id="0" name=""/>
        <dsp:cNvSpPr/>
      </dsp:nvSpPr>
      <dsp:spPr>
        <a:xfrm>
          <a:off x="1719667" y="505515"/>
          <a:ext cx="880664" cy="587109"/>
        </a:xfrm>
        <a:prstGeom prst="roundRect">
          <a:avLst>
            <a:gd name="adj" fmla="val 10000"/>
          </a:avLst>
        </a:prstGeom>
        <a:solidFill>
          <a:srgbClr val="FF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初始形状</a:t>
          </a:r>
          <a:endParaRPr lang="zh-CN" altLang="en-US" sz="1100" kern="1200" dirty="0"/>
        </a:p>
      </dsp:txBody>
      <dsp:txXfrm>
        <a:off x="1736863" y="522711"/>
        <a:ext cx="846272" cy="552717"/>
      </dsp:txXfrm>
    </dsp:sp>
    <dsp:sp modelId="{D253C646-FCE8-402B-A06A-B8255D8130DC}">
      <dsp:nvSpPr>
        <dsp:cNvPr id="0" name=""/>
        <dsp:cNvSpPr/>
      </dsp:nvSpPr>
      <dsp:spPr>
        <a:xfrm>
          <a:off x="1015136" y="1092624"/>
          <a:ext cx="1144863" cy="234843"/>
        </a:xfrm>
        <a:custGeom>
          <a:avLst/>
          <a:gdLst/>
          <a:ahLst/>
          <a:cxnLst/>
          <a:rect l="0" t="0" r="0" b="0"/>
          <a:pathLst>
            <a:path>
              <a:moveTo>
                <a:pt x="1144863" y="0"/>
              </a:moveTo>
              <a:lnTo>
                <a:pt x="1144863" y="117421"/>
              </a:lnTo>
              <a:lnTo>
                <a:pt x="0" y="117421"/>
              </a:lnTo>
              <a:lnTo>
                <a:pt x="0"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093E39B-95A1-45B4-BDAA-25A2CA51D400}">
      <dsp:nvSpPr>
        <dsp:cNvPr id="0" name=""/>
        <dsp:cNvSpPr/>
      </dsp:nvSpPr>
      <dsp:spPr>
        <a:xfrm>
          <a:off x="574804"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592000" y="1344664"/>
        <a:ext cx="846272" cy="552717"/>
      </dsp:txXfrm>
    </dsp:sp>
    <dsp:sp modelId="{CDA02A9B-93AA-40C5-A68D-796F8D88B97F}">
      <dsp:nvSpPr>
        <dsp:cNvPr id="0" name=""/>
        <dsp:cNvSpPr/>
      </dsp:nvSpPr>
      <dsp:spPr>
        <a:xfrm>
          <a:off x="442705"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D280DD1-5ED4-4B7A-BCCB-7FF922332095}">
      <dsp:nvSpPr>
        <dsp:cNvPr id="0" name=""/>
        <dsp:cNvSpPr/>
      </dsp:nvSpPr>
      <dsp:spPr>
        <a:xfrm>
          <a:off x="2373"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9569" y="2166617"/>
        <a:ext cx="846272" cy="552717"/>
      </dsp:txXfrm>
    </dsp:sp>
    <dsp:sp modelId="{B3346178-FE9C-44F5-848E-61C7F6110BB1}">
      <dsp:nvSpPr>
        <dsp:cNvPr id="0" name=""/>
        <dsp:cNvSpPr/>
      </dsp:nvSpPr>
      <dsp:spPr>
        <a:xfrm>
          <a:off x="1015136"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CAB2239-14A3-41CF-9F16-F21B0257D47B}">
      <dsp:nvSpPr>
        <dsp:cNvPr id="0" name=""/>
        <dsp:cNvSpPr/>
      </dsp:nvSpPr>
      <dsp:spPr>
        <a:xfrm>
          <a:off x="1147236" y="2149421"/>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1164432" y="2166617"/>
        <a:ext cx="846272" cy="552717"/>
      </dsp:txXfrm>
    </dsp:sp>
    <dsp:sp modelId="{ECFB8B9D-E89E-493D-A50D-57F6A85C6010}">
      <dsp:nvSpPr>
        <dsp:cNvPr id="0" name=""/>
        <dsp:cNvSpPr/>
      </dsp:nvSpPr>
      <dsp:spPr>
        <a:xfrm>
          <a:off x="1015136" y="2736531"/>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84CCF-F51D-4B48-9926-BAB9DFD4A07A}">
      <dsp:nvSpPr>
        <dsp:cNvPr id="0" name=""/>
        <dsp:cNvSpPr/>
      </dsp:nvSpPr>
      <dsp:spPr>
        <a:xfrm>
          <a:off x="574804"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592000" y="2988571"/>
        <a:ext cx="846272" cy="552717"/>
      </dsp:txXfrm>
    </dsp:sp>
    <dsp:sp modelId="{51386622-3E0E-47DE-9238-FC80373998EC}">
      <dsp:nvSpPr>
        <dsp:cNvPr id="0" name=""/>
        <dsp:cNvSpPr/>
      </dsp:nvSpPr>
      <dsp:spPr>
        <a:xfrm>
          <a:off x="1587568" y="2736531"/>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8D44FCC-B8B8-4757-8C6A-F470916B4863}">
      <dsp:nvSpPr>
        <dsp:cNvPr id="0" name=""/>
        <dsp:cNvSpPr/>
      </dsp:nvSpPr>
      <dsp:spPr>
        <a:xfrm>
          <a:off x="1719667"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736863" y="2988571"/>
        <a:ext cx="846272" cy="552717"/>
      </dsp:txXfrm>
    </dsp:sp>
    <dsp:sp modelId="{0AB50469-7BEB-4A07-B694-3C529EEA2BF9}">
      <dsp:nvSpPr>
        <dsp:cNvPr id="0" name=""/>
        <dsp:cNvSpPr/>
      </dsp:nvSpPr>
      <dsp:spPr>
        <a:xfrm>
          <a:off x="2159999" y="1092624"/>
          <a:ext cx="1144863" cy="234843"/>
        </a:xfrm>
        <a:custGeom>
          <a:avLst/>
          <a:gdLst/>
          <a:ahLst/>
          <a:cxnLst/>
          <a:rect l="0" t="0" r="0" b="0"/>
          <a:pathLst>
            <a:path>
              <a:moveTo>
                <a:pt x="0" y="0"/>
              </a:moveTo>
              <a:lnTo>
                <a:pt x="0" y="117421"/>
              </a:lnTo>
              <a:lnTo>
                <a:pt x="1144863" y="117421"/>
              </a:lnTo>
              <a:lnTo>
                <a:pt x="1144863"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B6E32CD-B701-40F5-BA8A-2A1AF3C5578F}">
      <dsp:nvSpPr>
        <dsp:cNvPr id="0" name=""/>
        <dsp:cNvSpPr/>
      </dsp:nvSpPr>
      <dsp:spPr>
        <a:xfrm>
          <a:off x="2864531"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2881727" y="1344664"/>
        <a:ext cx="846272" cy="552717"/>
      </dsp:txXfrm>
    </dsp:sp>
    <dsp:sp modelId="{733F4C5E-2E38-4971-872B-D38081ECF45B}">
      <dsp:nvSpPr>
        <dsp:cNvPr id="0" name=""/>
        <dsp:cNvSpPr/>
      </dsp:nvSpPr>
      <dsp:spPr>
        <a:xfrm>
          <a:off x="2732431"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4945356-0FB4-4A23-86E2-8427617EA309}">
      <dsp:nvSpPr>
        <dsp:cNvPr id="0" name=""/>
        <dsp:cNvSpPr/>
      </dsp:nvSpPr>
      <dsp:spPr>
        <a:xfrm>
          <a:off x="2292099"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2309295" y="2166617"/>
        <a:ext cx="846272" cy="552717"/>
      </dsp:txXfrm>
    </dsp:sp>
    <dsp:sp modelId="{1B14948D-7E3D-483F-88BB-70F6D03E1914}">
      <dsp:nvSpPr>
        <dsp:cNvPr id="0" name=""/>
        <dsp:cNvSpPr/>
      </dsp:nvSpPr>
      <dsp:spPr>
        <a:xfrm>
          <a:off x="3304863"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AAE826C-E473-4C30-A605-0277693BC5C9}">
      <dsp:nvSpPr>
        <dsp:cNvPr id="0" name=""/>
        <dsp:cNvSpPr/>
      </dsp:nvSpPr>
      <dsp:spPr>
        <a:xfrm>
          <a:off x="3436962"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3454158" y="2166617"/>
        <a:ext cx="846272" cy="552717"/>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6">
  <dgm:title val=""/>
  <dgm:desc val=""/>
  <dgm:catLst>
    <dgm:cat type="hierarchy" pri="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aram type="vertAlign" val="mid"/>
      <dgm:param type="horzAlign" val="ctr"/>
    </dgm:alg>
    <dgm:shape xmlns:r="http://schemas.openxmlformats.org/officeDocument/2006/relationships" r:blip="">
      <dgm:adjLst/>
    </dgm:shape>
    <dgm:presOf/>
    <dgm:choose name="Name0">
      <dgm:if name="Name1" axis="ch" ptType="node" func="cnt" op="gte" val="2">
        <dgm:choose name="Name2">
          <dgm:if name="Name3" func="var" arg="dir" op="equ" val="norm">
            <dgm:constrLst>
              <dgm:constr type="l" for="ch" forName="hierFlow" refType="w" fact="0.3"/>
              <dgm:constr type="t" for="ch" forName="hierFlow"/>
              <dgm:constr type="r" for="ch" forName="hierFlow" refType="w" fact="0.98"/>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if>
          <dgm:else name="Name4">
            <dgm:constrLst>
              <dgm:constr type="l" for="ch" forName="hierFlow" refType="w" fact="0.02"/>
              <dgm:constr type="t" for="ch" forName="hierFlow"/>
              <dgm:constr type="r" for="ch" forName="hierFlow" refType="w" fact="0.7"/>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ruleLst/>
    <dgm:layoutNode name="hierFlow">
      <dgm:alg type="lin">
        <dgm:param type="linDir" val="fromT"/>
        <dgm:param type="nodeVertAlign" val="t"/>
        <dgm:param type="vertAlign" val="t"/>
        <dgm:param type="nodeHorzAlign" val="ctr"/>
        <dgm:param type="fallback" val="2D"/>
      </dgm:alg>
      <dgm:shape xmlns:r="http://schemas.openxmlformats.org/officeDocument/2006/relationships" r:blip="">
        <dgm:adjLst/>
      </dgm:shape>
      <dgm:presOf/>
      <dgm:constrLst/>
      <dgm:ruleLst/>
      <dgm:choose name="Name6">
        <dgm:if name="Name7" axis="ch" ptType="node" func="cnt" op="gte" val="2">
          <dgm:layoutNode name="firstBuf">
            <dgm:alg type="sp"/>
            <dgm:shape xmlns:r="http://schemas.openxmlformats.org/officeDocument/2006/relationships" r:blip="">
              <dgm:adjLst/>
            </dgm:shape>
            <dgm:presOf/>
            <dgm:constrLst/>
            <dgm:ruleLst/>
          </dgm:layoutNode>
        </dgm:if>
        <dgm:else name="Name8"/>
      </dgm:choose>
      <dgm:layoutNode name="hierChild1">
        <dgm:varLst>
          <dgm:chPref val="1"/>
          <dgm:animOne val="branch"/>
          <dgm:animLvl val="lvl"/>
        </dgm:varLst>
        <dgm:choose name="Name9">
          <dgm:if name="Name10" func="var" arg="dir" op="equ" val="norm">
            <dgm:alg type="hierChild">
              <dgm:param type="linDir" val="fromL"/>
              <dgm:param type="vertAlign" val="t"/>
            </dgm:alg>
          </dgm:if>
          <dgm:else name="Name11">
            <dgm:alg type="hierChild">
              <dgm:param type="linDir" val="fromR"/>
              <dgm:param type="vertAlign" val="t"/>
            </dgm:alg>
          </dgm:else>
        </dgm:choose>
        <dgm:shape xmlns:r="http://schemas.openxmlformats.org/officeDocument/2006/relationships" r:blip="">
          <dgm:adjLst/>
        </dgm:shape>
        <dgm:presOf/>
        <dgm:constrLst>
          <dgm:constr type="primFontSz" for="des" ptType="node" op="equ"/>
        </dgm:constrLst>
        <dgm:ruleLst/>
        <dgm:forEach name="Name12" axis="ch" cnt="3">
          <dgm:forEach name="Name13" axis="self" ptType="node">
            <dgm:layoutNode name="Name14">
              <dgm:alg type="hierRoot"/>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2">
                <dgm:choose name="Name15">
                  <dgm:if name="Name16" func="var" arg="dir" op="equ" val="norm">
                    <dgm:alg type="hierChild">
                      <dgm:param type="linDir" val="fromL"/>
                    </dgm:alg>
                  </dgm:if>
                  <dgm:else name="Name17">
                    <dgm:alg type="hierChild">
                      <dgm:param type="linDir" val="fromR"/>
                    </dgm:alg>
                  </dgm:else>
                </dgm:choose>
                <dgm:shape xmlns:r="http://schemas.openxmlformats.org/officeDocument/2006/relationships" r:blip="">
                  <dgm:adjLst/>
                </dgm:shape>
                <dgm:presOf/>
                <dgm:constrLst/>
                <dgm:ruleLst/>
                <dgm:forEach name="repeat" axis="ch">
                  <dgm:forEach name="Name18" axis="self" ptType="parTrans" cnt="1">
                    <dgm:layoutNode name="Name19">
                      <dgm:alg type="conn">
                        <dgm:param type="dim" val="1D"/>
                        <dgm:param type="endSty" val="noArr"/>
                        <dgm:param type="connRout" val="bend"/>
                        <dgm:param type="begPts" val="bCtr"/>
                        <dgm:param type="endPts" val="tCtr"/>
                      </dgm:alg>
                      <dgm:shape xmlns:r="http://schemas.openxmlformats.org/officeDocument/2006/relationships" type="conn" r:blip="">
                        <dgm:adjLst/>
                      </dgm:shape>
                      <dgm:presOf axis="self"/>
                      <dgm:constrLst>
                        <dgm:constr type="w" val="1"/>
                        <dgm:constr type="h" val="1"/>
                        <dgm:constr type="begPad"/>
                        <dgm:constr type="endPad"/>
                      </dgm:constrLst>
                      <dgm:ruleLst/>
                    </dgm:layoutNode>
                  </dgm:forEach>
                  <dgm:forEach name="Name20" axis="self" ptType="node">
                    <dgm:layoutNode name="Name21">
                      <dgm:alg type="hierRoot"/>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3">
                        <dgm:choose name="Name22">
                          <dgm:if name="Name23" func="var" arg="dir" op="equ" val="norm">
                            <dgm:alg type="hierChild">
                              <dgm:param type="linDir" val="fromL"/>
                            </dgm:alg>
                          </dgm:if>
                          <dgm:else name="Name24">
                            <dgm:alg type="hierChild">
                              <dgm:param type="linDir" val="fromR"/>
                            </dgm:alg>
                          </dgm:else>
                        </dgm:choose>
                        <dgm:shape xmlns:r="http://schemas.openxmlformats.org/officeDocument/2006/relationships" r:blip="">
                          <dgm:adjLst/>
                        </dgm:shape>
                        <dgm:presOf/>
                        <dgm:constrLst/>
                        <dgm:ruleLst/>
                        <dgm:forEach name="Name25" ref="repeat"/>
                      </dgm:layoutNode>
                    </dgm:layoutNode>
                  </dgm:forEach>
                </dgm:forEach>
              </dgm:layoutNode>
            </dgm:layoutNode>
          </dgm:forEach>
        </dgm:forEach>
      </dgm:layoutNode>
    </dgm:layoutNode>
    <dgm:layoutNode name="bgShapesFlow">
      <dgm:alg type="lin">
        <dgm:param type="linDir" val="fromT"/>
        <dgm:param type="nodeVertAlign" val="t"/>
        <dgm:param type="vertAlign" val="t"/>
        <dgm:param type="nodeHorzAlign" val="ctr"/>
      </dgm:alg>
      <dgm:shape xmlns:r="http://schemas.openxmlformats.org/officeDocument/2006/relationships" r:blip="">
        <dgm:adjLst/>
      </dgm:shape>
      <dgm:presOf/>
      <dgm:constrLst>
        <dgm:constr type="userB"/>
        <dgm:constr type="w" for="ch" forName="rectComp" refType="w"/>
        <dgm:constr type="h" for="ch" forName="rectComp" refType="h"/>
        <dgm:constr type="w" for="des" forName="bgRect" refType="w"/>
        <dgm:constr type="primFontSz" for="des" forName="bgRectTx" op="equ"/>
      </dgm:constrLst>
      <dgm:ruleLst/>
      <dgm:forEach name="Name26" axis="ch" ptType="node" st="2">
        <dgm:layoutNode name="rectComp">
          <dgm:alg type="composite">
            <dgm:param type="vertAlign" val="t"/>
            <dgm:param type="horzAlign" val="ctr"/>
          </dgm:alg>
          <dgm:shape xmlns:r="http://schemas.openxmlformats.org/officeDocument/2006/relationships" r:blip="">
            <dgm:adjLst/>
          </dgm:shape>
          <dgm:presOf/>
          <dgm:choose name="Name27">
            <dgm:if name="Name28" func="var" arg="dir" op="equ" val="norm">
              <dgm:constrLst>
                <dgm:constr type="userA"/>
                <dgm:constr type="l" for="ch" forName="bgRect"/>
                <dgm:constr type="t" for="ch" forName="bgRect"/>
                <dgm:constr type="h" for="ch" forName="bgRect" refType="userA" fact="1.2"/>
                <dgm:constr type="l" for="ch" forName="bgRectTx"/>
                <dgm:constr type="t" for="ch" forName="bgRectTx"/>
                <dgm:constr type="w" for="ch" forName="bgRectTx" refType="w" refFor="ch" refForName="bgRect" fact="0.3"/>
                <dgm:constr type="h" for="ch" forName="bgRectTx" refType="h" refFor="ch" refForName="bgRect" op="equ"/>
              </dgm:constrLst>
            </dgm:if>
            <dgm:else name="Name29">
              <dgm:constrLst>
                <dgm:constr type="userA"/>
                <dgm:constr type="l" for="ch" forName="bgRect"/>
                <dgm:constr type="t" for="ch" forName="bgRect"/>
                <dgm:constr type="h" for="ch" forName="bgRect" refType="userA" fact="1.2"/>
                <dgm:constr type="r" for="ch" forName="bgRectTx" refType="w"/>
                <dgm:constr type="t" for="ch" forName="bgRectTx"/>
                <dgm:constr type="w" for="ch" forName="bgRectTx" refType="w" refFor="ch" refForName="bgRect" fact="0.3"/>
                <dgm:constr type="h" for="ch" forName="bgRectTx" refType="h" refFor="ch" refForName="bgRect" op="equ"/>
              </dgm:constrLst>
            </dgm:else>
          </dgm:choose>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presOf axis="desOrSelf" ptType="node"/>
            <dgm:shape xmlns:r="http://schemas.openxmlformats.org/officeDocument/2006/relationships" type="rect" r:blip="" zOrderOff="-999" hideGeom="1">
              <dgm:adjLst/>
            </dgm:shape>
            <dgm:constrLst>
              <dgm:constr type="primFontSz" val="65"/>
            </dgm:constrLst>
            <dgm:ruleLst>
              <dgm:rule type="primFontSz" val="5" fact="NaN" max="NaN"/>
            </dgm:ruleLst>
          </dgm:layoutNode>
        </dgm:layoutNode>
        <dgm:choose name="Name30">
          <dgm:if name="Name31" axis="self" ptType="node" func="revPos" op="gte" val="2">
            <dgm:layoutNode name="spComp">
              <dgm:alg type="composite">
                <dgm:param type="vertAlign" val="t"/>
                <dgm:param type="horzAlign" val="ctr"/>
              </dgm:alg>
              <dgm:shape xmlns:r="http://schemas.openxmlformats.org/officeDocument/2006/relationships" r:blip="">
                <dgm:adjLst/>
              </dgm:shape>
              <dgm:presOf/>
              <dgm:constrLst>
                <dgm:constr type="userA"/>
                <dgm:constr type="userB"/>
                <dgm:constr type="l" for="ch" forName="vSp"/>
                <dgm:constr type="t" for="ch" forName="vSp"/>
                <dgm:constr type="h" for="ch" forName="vSp" refType="userB"/>
                <dgm:constr type="hOff" for="ch" forName="vSp" refType="userA" fact="-0.2"/>
              </dgm:constrLst>
              <dgm:ruleLst/>
              <dgm:layoutNode name="vSp">
                <dgm:alg type="sp"/>
                <dgm:shape xmlns:r="http://schemas.openxmlformats.org/officeDocument/2006/relationships" r:blip="">
                  <dgm:adjLst/>
                </dgm:shape>
                <dgm:presOf/>
                <dgm:constrLst/>
                <dgm:ruleLst/>
              </dgm:layoutNode>
            </dgm:layoutNode>
          </dgm:if>
          <dgm:else name="Name32"/>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9.wmf"/><Relationship Id="rId1" Type="http://schemas.openxmlformats.org/officeDocument/2006/relationships/image" Target="../media/image8.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latinLnBrk="0">
              <a:defRPr lang="zh-CN" sz="1200"/>
            </a:lvl1pPr>
          </a:lstStyle>
          <a:p>
            <a:endParaRPr lang="zh-CN"/>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latinLnBrk="0">
              <a:defRPr lang="zh-CN" sz="1200"/>
            </a:lvl1pPr>
          </a:lstStyle>
          <a:p>
            <a:fld id="{EC13577B-6902-467D-A26C-08A0DD5E4E03}" type="datetimeFigureOut">
              <a:t>2014/5/12</a:t>
            </a:fld>
            <a:endParaRPr lang="zh-CN"/>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latinLnBrk="0">
              <a:defRPr lang="zh-CN" sz="1200"/>
            </a:lvl1pPr>
          </a:lstStyle>
          <a:p>
            <a:endParaRPr lang="zh-CN"/>
          </a:p>
        </p:txBody>
      </p:sp>
      <p:sp>
        <p:nvSpPr>
          <p:cNvPr id="7" name="幻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latinLnBrk="0">
              <a:defRPr lang="zh-CN" sz="1200"/>
            </a:lvl1pPr>
          </a:lstStyle>
          <a:p>
            <a:fld id="{DF61EA0F-A667-4B49-8422-0062BC55E249}" type="slidenum">
              <a:t>‹#›</a:t>
            </a:fld>
            <a:endParaRPr lang="zh-CN"/>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lang="zh-CN" sz="1200" kern="1200">
        <a:solidFill>
          <a:schemeClr val="tx1"/>
        </a:solidFill>
        <a:latin typeface="+mn-lt"/>
        <a:ea typeface="+mn-ea"/>
        <a:cs typeface="+mn-cs"/>
      </a:defRPr>
    </a:lvl1pPr>
    <a:lvl2pPr marL="457200" algn="l" defTabSz="914400" rtl="0" eaLnBrk="1" latinLnBrk="0" hangingPunct="1">
      <a:defRPr lang="zh-CN" sz="1200" kern="1200">
        <a:solidFill>
          <a:schemeClr val="tx1"/>
        </a:solidFill>
        <a:latin typeface="+mn-lt"/>
        <a:ea typeface="+mn-ea"/>
        <a:cs typeface="+mn-cs"/>
      </a:defRPr>
    </a:lvl2pPr>
    <a:lvl3pPr marL="914400" algn="l" defTabSz="914400" rtl="0" eaLnBrk="1" latinLnBrk="0" hangingPunct="1">
      <a:defRPr lang="zh-CN" sz="1200" kern="1200">
        <a:solidFill>
          <a:schemeClr val="tx1"/>
        </a:solidFill>
        <a:latin typeface="+mn-lt"/>
        <a:ea typeface="+mn-ea"/>
        <a:cs typeface="+mn-cs"/>
      </a:defRPr>
    </a:lvl3pPr>
    <a:lvl4pPr marL="1371600" algn="l" defTabSz="914400" rtl="0" eaLnBrk="1" latinLnBrk="0" hangingPunct="1">
      <a:defRPr lang="zh-CN" sz="1200" kern="1200">
        <a:solidFill>
          <a:schemeClr val="tx1"/>
        </a:solidFill>
        <a:latin typeface="+mn-lt"/>
        <a:ea typeface="+mn-ea"/>
        <a:cs typeface="+mn-cs"/>
      </a:defRPr>
    </a:lvl4pPr>
    <a:lvl5pPr marL="1828800" algn="l" defTabSz="914400" rtl="0" eaLnBrk="1" latinLnBrk="0" hangingPunct="1">
      <a:defRPr lang="zh-CN" sz="1200" kern="1200">
        <a:solidFill>
          <a:schemeClr val="tx1"/>
        </a:solidFill>
        <a:latin typeface="+mn-lt"/>
        <a:ea typeface="+mn-ea"/>
        <a:cs typeface="+mn-cs"/>
      </a:defRPr>
    </a:lvl5pPr>
    <a:lvl6pPr marL="2286000" algn="l" defTabSz="914400" rtl="0" eaLnBrk="1" latinLnBrk="0" hangingPunct="1">
      <a:defRPr lang="zh-CN" sz="1200" kern="1200">
        <a:solidFill>
          <a:schemeClr val="tx1"/>
        </a:solidFill>
        <a:latin typeface="+mn-lt"/>
        <a:ea typeface="+mn-ea"/>
        <a:cs typeface="+mn-cs"/>
      </a:defRPr>
    </a:lvl6pPr>
    <a:lvl7pPr marL="2743200" algn="l" defTabSz="914400" rtl="0" eaLnBrk="1" latinLnBrk="0" hangingPunct="1">
      <a:defRPr lang="zh-CN" sz="1200" kern="1200">
        <a:solidFill>
          <a:schemeClr val="tx1"/>
        </a:solidFill>
        <a:latin typeface="+mn-lt"/>
        <a:ea typeface="+mn-ea"/>
        <a:cs typeface="+mn-cs"/>
      </a:defRPr>
    </a:lvl7pPr>
    <a:lvl8pPr marL="3200400" algn="l" defTabSz="914400" rtl="0" eaLnBrk="1" latinLnBrk="0" hangingPunct="1">
      <a:defRPr lang="zh-CN" sz="1200" kern="1200">
        <a:solidFill>
          <a:schemeClr val="tx1"/>
        </a:solidFill>
        <a:latin typeface="+mn-lt"/>
        <a:ea typeface="+mn-ea"/>
        <a:cs typeface="+mn-cs"/>
      </a:defRPr>
    </a:lvl8pPr>
    <a:lvl9pPr marL="3657600" algn="l" defTabSz="914400" rtl="0" eaLnBrk="1" latinLnBrk="0" hangingPunct="1">
      <a:defRPr lang="zh-CN"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r>
              <a:rPr lang="zh-CN" altLang="en-US" dirty="0" smtClean="0"/>
              <a:t>各位评审老师、各位同学，大家上午好！我叫徐翔，来自地理信息系统专业。我的毕业设计的题目是基于形状语义和增强学习的建筑立面点云解译与重建的方法，在此感谢张立强教授的指导。</a:t>
            </a:r>
            <a:endParaRPr lang="zh-CN" dirty="0"/>
          </a:p>
        </p:txBody>
      </p:sp>
      <p:sp>
        <p:nvSpPr>
          <p:cNvPr id="4" name="幻灯片编号占位符 3"/>
          <p:cNvSpPr>
            <a:spLocks noGrp="1"/>
          </p:cNvSpPr>
          <p:nvPr>
            <p:ph type="sldNum" sz="quarter" idx="10"/>
          </p:nvPr>
        </p:nvSpPr>
        <p:spPr/>
        <p:txBody>
          <a:bodyPr/>
          <a:lstStyle/>
          <a:p>
            <a:fld id="{DF61EA0F-A667-4B49-8422-0062BC55E249}" type="slidenum">
              <a:rPr lang="zh-CN" smtClean="0"/>
              <a:t>1</a:t>
            </a:fld>
            <a:endParaRPr lang="zh-CN"/>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因此，如何从建筑立面的激光雷达点云中自动化恢复其结构具有十分重要的意义。</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2</a:t>
            </a:fld>
            <a:endParaRPr lang="zh-CN" altLang="en-US"/>
          </a:p>
        </p:txBody>
      </p:sp>
    </p:spTree>
    <p:extLst>
      <p:ext uri="{BB962C8B-B14F-4D97-AF65-F5344CB8AC3E}">
        <p14:creationId xmlns:p14="http://schemas.microsoft.com/office/powerpoint/2010/main" val="10437727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目前建筑立面建模的方法主要有两大类。</a:t>
            </a:r>
            <a:endParaRPr lang="en-US" altLang="zh-CN" dirty="0" smtClean="0"/>
          </a:p>
        </p:txBody>
      </p:sp>
      <p:sp>
        <p:nvSpPr>
          <p:cNvPr id="4" name="灯片编号占位符 3"/>
          <p:cNvSpPr>
            <a:spLocks noGrp="1"/>
          </p:cNvSpPr>
          <p:nvPr>
            <p:ph type="sldNum" sz="quarter" idx="10"/>
          </p:nvPr>
        </p:nvSpPr>
        <p:spPr/>
        <p:txBody>
          <a:bodyPr/>
          <a:lstStyle/>
          <a:p>
            <a:fld id="{DF61EA0F-A667-4B49-8422-0062BC55E249}" type="slidenum">
              <a:rPr lang="en-US" altLang="zh-CN" smtClean="0"/>
              <a:t>3</a:t>
            </a:fld>
            <a:endParaRPr lang="zh-CN" altLang="en-US"/>
          </a:p>
        </p:txBody>
      </p:sp>
    </p:spTree>
    <p:extLst>
      <p:ext uri="{BB962C8B-B14F-4D97-AF65-F5344CB8AC3E}">
        <p14:creationId xmlns:p14="http://schemas.microsoft.com/office/powerpoint/2010/main" val="38996746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本研究结合数据驱动和模型驱动的方法来对建筑立面进行重建。</a:t>
            </a:r>
            <a:endParaRPr lang="en-US" altLang="zh-CN" dirty="0" smtClean="0"/>
          </a:p>
          <a:p>
            <a:r>
              <a:rPr lang="zh-CN" altLang="en-US" dirty="0" smtClean="0"/>
              <a:t>首先对原始的点云数据进行预处理；</a:t>
            </a:r>
            <a:endParaRPr lang="en-US" altLang="zh-CN" dirty="0" smtClean="0"/>
          </a:p>
          <a:p>
            <a:r>
              <a:rPr lang="zh-CN" altLang="en-US" dirty="0" smtClean="0"/>
              <a:t>接着对点云进行基于数据驱动的预分类，分类的结果作为模型解译的基础；</a:t>
            </a:r>
            <a:endParaRPr lang="en-US" altLang="zh-CN" dirty="0" smtClean="0"/>
          </a:p>
          <a:p>
            <a:r>
              <a:rPr lang="zh-CN" altLang="en-US" dirty="0" smtClean="0"/>
              <a:t>在模型解译中，根据建筑立面的形状语义，采用增强学习算法求解建筑立面的最优解译；</a:t>
            </a:r>
            <a:endParaRPr lang="en-US" altLang="zh-CN" dirty="0" smtClean="0"/>
          </a:p>
          <a:p>
            <a:r>
              <a:rPr lang="zh-CN" altLang="en-US" dirty="0" smtClean="0"/>
              <a:t>最后根据得到的解译构造立面平面，在原始点云中提取立面结构的深度，最终得到建筑立面的三维模型。</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4</a:t>
            </a:fld>
            <a:endParaRPr lang="zh-CN" altLang="en-US"/>
          </a:p>
        </p:txBody>
      </p:sp>
    </p:spTree>
    <p:extLst>
      <p:ext uri="{BB962C8B-B14F-4D97-AF65-F5344CB8AC3E}">
        <p14:creationId xmlns:p14="http://schemas.microsoft.com/office/powerpoint/2010/main" val="103486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首先我们来看如何对建筑立面的结构进行建模。</a:t>
            </a:r>
            <a:endParaRPr lang="en-US" altLang="zh-CN" dirty="0" smtClean="0"/>
          </a:p>
          <a:p>
            <a:r>
              <a:rPr lang="zh-CN" altLang="en-US" dirty="0" smtClean="0"/>
              <a:t>二分形状语义首先由法国的学者首先提出，用于对高度对称的建筑立面图片的解译。本文将应用二分形状语义对建筑立面点云进行解译，并且拓展该二分形状使其能够对不对称的建筑进行建模。</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5</a:t>
            </a:fld>
            <a:endParaRPr lang="zh-CN" altLang="en-US"/>
          </a:p>
        </p:txBody>
      </p:sp>
    </p:spTree>
    <p:extLst>
      <p:ext uri="{BB962C8B-B14F-4D97-AF65-F5344CB8AC3E}">
        <p14:creationId xmlns:p14="http://schemas.microsoft.com/office/powerpoint/2010/main" val="309932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二分形状语义的核心概念是基本形状，基本形状是一个带标签的矩形，其中的（</a:t>
            </a:r>
            <a:r>
              <a:rPr lang="en-US" altLang="zh-CN" dirty="0" smtClean="0"/>
              <a:t>x</a:t>
            </a:r>
            <a:r>
              <a:rPr lang="zh-CN" altLang="en-US" dirty="0" smtClean="0"/>
              <a:t>，</a:t>
            </a:r>
            <a:r>
              <a:rPr lang="en-US" altLang="zh-CN" dirty="0" smtClean="0"/>
              <a:t>y</a:t>
            </a:r>
            <a:r>
              <a:rPr lang="zh-CN" altLang="en-US" dirty="0" smtClean="0"/>
              <a:t>，</a:t>
            </a:r>
            <a:r>
              <a:rPr lang="en-US" altLang="zh-CN" dirty="0" smtClean="0"/>
              <a:t>w</a:t>
            </a:r>
            <a:r>
              <a:rPr lang="zh-CN" altLang="en-US" dirty="0" smtClean="0"/>
              <a:t>，</a:t>
            </a:r>
            <a:r>
              <a:rPr lang="en-US" altLang="zh-CN" dirty="0" smtClean="0"/>
              <a:t>h</a:t>
            </a:r>
            <a:r>
              <a:rPr lang="zh-CN" altLang="en-US" dirty="0" smtClean="0"/>
              <a:t>）表示矩形的位置和长宽。</a:t>
            </a:r>
            <a:r>
              <a:rPr lang="en-US" altLang="zh-CN" dirty="0" smtClean="0"/>
              <a:t>Label</a:t>
            </a:r>
            <a:r>
              <a:rPr lang="zh-CN" altLang="en-US" dirty="0" smtClean="0"/>
              <a:t>表示矩形的标签，在建筑立面中，</a:t>
            </a:r>
            <a:r>
              <a:rPr lang="en-US" altLang="zh-CN" dirty="0" smtClean="0"/>
              <a:t>label</a:t>
            </a:r>
            <a:r>
              <a:rPr lang="zh-CN" altLang="en-US" dirty="0" smtClean="0"/>
              <a:t>可以是门、窗、阳台等。</a:t>
            </a:r>
            <a:endParaRPr lang="en-US" altLang="zh-CN" dirty="0" smtClean="0"/>
          </a:p>
          <a:p>
            <a:r>
              <a:rPr lang="zh-CN" altLang="en-US" dirty="0" smtClean="0"/>
              <a:t>语义规则定义了可以对基本形状进行的操作。二分形状的语义规则定义：</a:t>
            </a:r>
            <a:endParaRPr lang="en-US" altLang="zh-CN" dirty="0" smtClean="0"/>
          </a:p>
          <a:p>
            <a:r>
              <a:rPr lang="zh-CN" altLang="en-US" dirty="0" smtClean="0"/>
              <a:t>这个示意图表示了从初始形状开始，不断应用规则进行剖分的过程。可以看出，剖分的过程可以用一个二叉树表示，称之为剖分树。剖分树的叶子节点全部为终端节点，它们构成了对初始形状的最终解译。</a:t>
            </a:r>
            <a:endParaRPr lang="en-US" altLang="zh-CN" dirty="0" smtClean="0"/>
          </a:p>
          <a:p>
            <a:r>
              <a:rPr lang="zh-CN" altLang="en-US" dirty="0" smtClean="0"/>
              <a:t>那么对于一个给定的建筑立面点云，我们如何得到可以描述它的最佳剖分树呢？</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6</a:t>
            </a:fld>
            <a:endParaRPr lang="zh-CN" altLang="en-US"/>
          </a:p>
        </p:txBody>
      </p:sp>
    </p:spTree>
    <p:extLst>
      <p:ext uri="{BB962C8B-B14F-4D97-AF65-F5344CB8AC3E}">
        <p14:creationId xmlns:p14="http://schemas.microsoft.com/office/powerpoint/2010/main" val="31644095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在解决这个问题之前，我先简单地介绍一下马尔可夫决策过程。马尔科夫决策过程描述的是</a:t>
            </a:r>
            <a:r>
              <a:rPr lang="en-US" altLang="zh-CN" dirty="0" smtClean="0"/>
              <a:t>Agent</a:t>
            </a:r>
            <a:r>
              <a:rPr lang="zh-CN" altLang="en-US" dirty="0" smtClean="0"/>
              <a:t>和环境的交互，在时刻</a:t>
            </a:r>
            <a:r>
              <a:rPr lang="en-US" altLang="zh-CN" dirty="0" smtClean="0"/>
              <a:t>t</a:t>
            </a:r>
            <a:r>
              <a:rPr lang="zh-CN" altLang="en-US" dirty="0" smtClean="0"/>
              <a:t>，环境向</a:t>
            </a:r>
            <a:r>
              <a:rPr lang="en-US" altLang="zh-CN" dirty="0" smtClean="0"/>
              <a:t>Agent</a:t>
            </a:r>
            <a:r>
              <a:rPr lang="zh-CN" altLang="en-US" dirty="0" smtClean="0"/>
              <a:t>发送一个状态信号</a:t>
            </a:r>
            <a:r>
              <a:rPr lang="en-US" altLang="zh-CN" dirty="0" smtClean="0"/>
              <a:t>St</a:t>
            </a:r>
            <a:r>
              <a:rPr lang="zh-CN" altLang="en-US" dirty="0" smtClean="0"/>
              <a:t>，</a:t>
            </a:r>
            <a:r>
              <a:rPr lang="en-US" altLang="zh-CN" dirty="0" smtClean="0"/>
              <a:t>Agent</a:t>
            </a:r>
            <a:r>
              <a:rPr lang="zh-CN" altLang="en-US" dirty="0" smtClean="0"/>
              <a:t>在这个状态之上采取了行为</a:t>
            </a:r>
            <a:r>
              <a:rPr lang="en-US" altLang="zh-CN" dirty="0" smtClean="0"/>
              <a:t>At</a:t>
            </a:r>
            <a:r>
              <a:rPr lang="zh-CN" altLang="en-US" dirty="0" smtClean="0"/>
              <a:t>，这个行为反过来又影响了环境，使得状态变为了</a:t>
            </a:r>
            <a:r>
              <a:rPr lang="en-US" altLang="zh-CN" dirty="0" smtClean="0"/>
              <a:t>St+1</a:t>
            </a:r>
            <a:r>
              <a:rPr lang="zh-CN" altLang="en-US" dirty="0" smtClean="0"/>
              <a:t>，同时，</a:t>
            </a:r>
            <a:r>
              <a:rPr lang="en-US" altLang="zh-CN" dirty="0" smtClean="0"/>
              <a:t>Agent</a:t>
            </a:r>
            <a:r>
              <a:rPr lang="zh-CN" altLang="en-US" dirty="0" smtClean="0"/>
              <a:t>收到了一个即时的回报</a:t>
            </a:r>
            <a:r>
              <a:rPr lang="en-US" altLang="zh-CN" dirty="0" err="1" smtClean="0"/>
              <a:t>Rt</a:t>
            </a:r>
            <a:r>
              <a:rPr lang="zh-CN" altLang="en-US" dirty="0" smtClean="0"/>
              <a:t>。</a:t>
            </a:r>
            <a:endParaRPr lang="en-US" altLang="zh-CN" dirty="0" smtClean="0"/>
          </a:p>
          <a:p>
            <a:r>
              <a:rPr lang="zh-CN" altLang="en-US" dirty="0" smtClean="0"/>
              <a:t>在这个不断交互的过程中，</a:t>
            </a:r>
            <a:r>
              <a:rPr lang="en-US" altLang="zh-CN" dirty="0" smtClean="0"/>
              <a:t>Agent</a:t>
            </a:r>
            <a:r>
              <a:rPr lang="zh-CN" altLang="en-US" dirty="0" smtClean="0"/>
              <a:t>的目标是最大化其长期的回报值，即所有即时回报的累加值。</a:t>
            </a:r>
            <a:endParaRPr lang="en-US" altLang="zh-CN" dirty="0" smtClean="0"/>
          </a:p>
          <a:p>
            <a:r>
              <a:rPr lang="en-US" altLang="zh-CN" dirty="0" smtClean="0"/>
              <a:t>Agent</a:t>
            </a:r>
            <a:r>
              <a:rPr lang="zh-CN" altLang="en-US" dirty="0" smtClean="0"/>
              <a:t>为了达到目标，需要得到在某个状态下因该采取哪个行动的策略，策略</a:t>
            </a:r>
            <a:r>
              <a:rPr lang="el-GR" altLang="zh-CN" sz="1200" dirty="0" smtClean="0"/>
              <a:t>π</a:t>
            </a:r>
            <a:r>
              <a:rPr lang="zh-CN" altLang="en-US" sz="1200" dirty="0" smtClean="0"/>
              <a:t>描述了在某个状态下选择某个行为的概率，用</a:t>
            </a:r>
            <a:r>
              <a:rPr lang="en-US" altLang="zh-CN" sz="1200" dirty="0" smtClean="0"/>
              <a:t>V</a:t>
            </a:r>
            <a:r>
              <a:rPr lang="zh-CN" altLang="en-US" sz="1200" dirty="0" smtClean="0"/>
              <a:t>函数描述策略的好坏，</a:t>
            </a:r>
            <a:r>
              <a:rPr lang="en-US" altLang="zh-CN" sz="1200" dirty="0" smtClean="0"/>
              <a:t>V</a:t>
            </a:r>
            <a:r>
              <a:rPr lang="zh-CN" altLang="en-US" sz="1200" dirty="0" smtClean="0"/>
              <a:t>函数表示了某个状态下按照策略</a:t>
            </a:r>
            <a:r>
              <a:rPr lang="el-GR" altLang="zh-CN" sz="1200" dirty="0" smtClean="0"/>
              <a:t>π</a:t>
            </a:r>
            <a:r>
              <a:rPr lang="zh-CN" altLang="en-US" sz="1200" dirty="0" smtClean="0"/>
              <a:t>决策，</a:t>
            </a:r>
            <a:r>
              <a:rPr lang="en-US" altLang="zh-CN" sz="1200" dirty="0" smtClean="0"/>
              <a:t>agent</a:t>
            </a:r>
            <a:r>
              <a:rPr lang="zh-CN" altLang="en-US" sz="1200" dirty="0" smtClean="0"/>
              <a:t>能得到的长期回报值。</a:t>
            </a:r>
            <a:endParaRPr lang="en-US" altLang="zh-CN" sz="1200" dirty="0" smtClean="0"/>
          </a:p>
          <a:p>
            <a:r>
              <a:rPr lang="zh-CN" altLang="en-US" dirty="0" smtClean="0"/>
              <a:t>因此求解马尔科夫决策过程实际上就是寻找最优策略的过程。现有的方法一般是采用数值迭代的方式从某个策略开始，不断优化该策略以得到最优策略。我们采用的增强学习的方法改进策略的公式如下，相比于动态规划和蒙特卡罗方法，增强学习的优点在于可以应状态量巨大的马尔科夫问题的求解。</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7</a:t>
            </a:fld>
            <a:endParaRPr lang="zh-CN" altLang="en-US"/>
          </a:p>
        </p:txBody>
      </p:sp>
    </p:spTree>
    <p:extLst>
      <p:ext uri="{BB962C8B-B14F-4D97-AF65-F5344CB8AC3E}">
        <p14:creationId xmlns:p14="http://schemas.microsoft.com/office/powerpoint/2010/main" val="29531625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现在我们来看看如何将最佳形状语义的求解建模为马尔科夫决策过程。</a:t>
            </a:r>
            <a:endParaRPr lang="en-US" altLang="zh-CN" dirty="0" smtClean="0"/>
          </a:p>
          <a:p>
            <a:r>
              <a:rPr lang="en-US" altLang="zh-CN" dirty="0" smtClean="0"/>
              <a:t>Agent</a:t>
            </a:r>
            <a:r>
              <a:rPr lang="zh-CN" altLang="en-US" dirty="0" smtClean="0"/>
              <a:t>的长期回报值可以这个式子表示。</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表示根据策略得到的点（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）的建筑类别。而函数</a:t>
            </a:r>
            <a:r>
              <a:rPr lang="en-US" altLang="zh-CN" sz="1200" dirty="0" smtClean="0">
                <a:latin typeface="微软雅黑" panose="020B0503020204020204" pitchFamily="34" charset="-122"/>
                <a:ea typeface="微软雅黑" panose="020B0503020204020204" pitchFamily="34" charset="-122"/>
              </a:rPr>
              <a:t>p</a:t>
            </a:r>
            <a:r>
              <a:rPr lang="zh-CN" altLang="en-US" sz="1200" dirty="0" smtClean="0">
                <a:latin typeface="微软雅黑" panose="020B0503020204020204" pitchFamily="34" charset="-122"/>
                <a:ea typeface="微软雅黑" panose="020B0503020204020204" pitchFamily="34" charset="-122"/>
              </a:rPr>
              <a:t>表示的点（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）真实情况下属于类别</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的概率。实际上，该式子就表示了二分形状语义剖分的正确度，正确度越高，说明策略越好；最大化正确度，也就得到了建筑立面的最优剖分。</a:t>
            </a:r>
            <a:endParaRPr lang="en-US" altLang="zh-CN" sz="1200" dirty="0" smtClean="0">
              <a:latin typeface="微软雅黑" panose="020B0503020204020204" pitchFamily="34" charset="-122"/>
              <a:ea typeface="微软雅黑" panose="020B0503020204020204" pitchFamily="34" charset="-122"/>
            </a:endParaRPr>
          </a:p>
          <a:p>
            <a:endParaRPr lang="en-US" altLang="zh-CN" sz="1200" dirty="0" smtClean="0">
              <a:latin typeface="微软雅黑" panose="020B0503020204020204" pitchFamily="34" charset="-122"/>
              <a:ea typeface="微软雅黑" panose="020B0503020204020204" pitchFamily="34" charset="-122"/>
            </a:endParaRPr>
          </a:p>
          <a:p>
            <a:r>
              <a:rPr lang="zh-CN" altLang="en-US" sz="1200" dirty="0" smtClean="0">
                <a:latin typeface="微软雅黑" panose="020B0503020204020204" pitchFamily="34" charset="-122"/>
                <a:ea typeface="微软雅黑" panose="020B0503020204020204" pitchFamily="34" charset="-122"/>
              </a:rPr>
              <a:t>现在又出现了一个问题：即如何得到点（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）真实情况下是建筑类别</a:t>
            </a:r>
            <a:r>
              <a:rPr lang="en-US" altLang="zh-CN" sz="1200" dirty="0" smtClean="0">
                <a:latin typeface="微软雅黑" panose="020B0503020204020204" pitchFamily="34" charset="-122"/>
                <a:ea typeface="微软雅黑" panose="020B0503020204020204" pitchFamily="34" charset="-122"/>
              </a:rPr>
              <a:t>a</a:t>
            </a:r>
            <a:r>
              <a:rPr lang="zh-CN" altLang="en-US" sz="1200" dirty="0" smtClean="0">
                <a:latin typeface="微软雅黑" panose="020B0503020204020204" pitchFamily="34" charset="-122"/>
                <a:ea typeface="微软雅黑" panose="020B0503020204020204" pitchFamily="34" charset="-122"/>
              </a:rPr>
              <a:t>的概率？</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8</a:t>
            </a:fld>
            <a:endParaRPr lang="zh-CN" altLang="en-US"/>
          </a:p>
        </p:txBody>
      </p:sp>
    </p:spTree>
    <p:extLst>
      <p:ext uri="{BB962C8B-B14F-4D97-AF65-F5344CB8AC3E}">
        <p14:creationId xmlns:p14="http://schemas.microsoft.com/office/powerpoint/2010/main" val="12700713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为此，我们首先采用数据驱动的方法，用点云预分类的结果近似表示建筑结构的概率分布。</a:t>
            </a:r>
            <a:endParaRPr lang="en-US" altLang="zh-CN" dirty="0" smtClean="0"/>
          </a:p>
          <a:p>
            <a:r>
              <a:rPr lang="zh-CN" altLang="en-US" dirty="0" smtClean="0"/>
              <a:t>预分类主要包括三个过程，首先是</a:t>
            </a:r>
            <a:endParaRPr lang="en-US" altLang="zh-CN" dirty="0" smtClean="0"/>
          </a:p>
          <a:p>
            <a:endParaRPr lang="en-US" altLang="zh-CN" dirty="0" smtClean="0"/>
          </a:p>
          <a:p>
            <a:r>
              <a:rPr lang="zh-CN" altLang="en-US" dirty="0" smtClean="0"/>
              <a:t>这幅图表示了对一个点云缺失严重的立面的分类结果</a:t>
            </a:r>
            <a:endParaRPr lang="en-US" altLang="zh-CN" dirty="0" smtClean="0"/>
          </a:p>
          <a:p>
            <a:r>
              <a:rPr lang="zh-CN" altLang="en-US" dirty="0" smtClean="0"/>
              <a:t>对一个教堂进行分类的结果，主要分成了屋顶、窗户、立柱、门以及黑色的背景几类</a:t>
            </a:r>
            <a:endParaRPr lang="en-US" altLang="zh-CN" dirty="0" smtClean="0"/>
          </a:p>
          <a:p>
            <a:r>
              <a:rPr lang="zh-CN" altLang="en-US" dirty="0" smtClean="0"/>
              <a:t>对一个小区分类的结果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9</a:t>
            </a:fld>
            <a:endParaRPr lang="zh-CN" altLang="en-US"/>
          </a:p>
        </p:txBody>
      </p:sp>
    </p:spTree>
    <p:extLst>
      <p:ext uri="{BB962C8B-B14F-4D97-AF65-F5344CB8AC3E}">
        <p14:creationId xmlns:p14="http://schemas.microsoft.com/office/powerpoint/2010/main" val="42705977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下面展示实验的结果。</a:t>
            </a:r>
            <a:endParaRPr lang="en-US" altLang="zh-CN" dirty="0" smtClean="0"/>
          </a:p>
          <a:p>
            <a:r>
              <a:rPr lang="zh-CN" altLang="en-US" dirty="0" smtClean="0"/>
              <a:t>这是矿业大学图书馆的一个立面，形状语义解译的结果，重建结果。注意到该建筑的最下面一层和上面几层是不对称的，下面的窗户会比较大，我们的算法可以恢复这种情况。</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10</a:t>
            </a:fld>
            <a:endParaRPr lang="zh-CN" altLang="en-US"/>
          </a:p>
        </p:txBody>
      </p:sp>
    </p:spTree>
    <p:extLst>
      <p:ext uri="{BB962C8B-B14F-4D97-AF65-F5344CB8AC3E}">
        <p14:creationId xmlns:p14="http://schemas.microsoft.com/office/powerpoint/2010/main" val="35289584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这是一个更复杂的建筑，解译的结果，建模的结果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11</a:t>
            </a:fld>
            <a:endParaRPr lang="zh-CN" altLang="en-US"/>
          </a:p>
        </p:txBody>
      </p:sp>
    </p:spTree>
    <p:extLst>
      <p:ext uri="{BB962C8B-B14F-4D97-AF65-F5344CB8AC3E}">
        <p14:creationId xmlns:p14="http://schemas.microsoft.com/office/powerpoint/2010/main" val="122327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这是北师大科技楼的一个侧面，解译的结果，重建的结果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12</a:t>
            </a:fld>
            <a:endParaRPr lang="zh-CN" altLang="en-US"/>
          </a:p>
        </p:txBody>
      </p:sp>
    </p:spTree>
    <p:extLst>
      <p:ext uri="{BB962C8B-B14F-4D97-AF65-F5344CB8AC3E}">
        <p14:creationId xmlns:p14="http://schemas.microsoft.com/office/powerpoint/2010/main" val="36918998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这是一个点云缺失较为严重的建筑，解译可以很好地解决缺失的问题，这是重建的结果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13</a:t>
            </a:fld>
            <a:endParaRPr lang="zh-CN" altLang="en-US"/>
          </a:p>
        </p:txBody>
      </p:sp>
    </p:spTree>
    <p:extLst>
      <p:ext uri="{BB962C8B-B14F-4D97-AF65-F5344CB8AC3E}">
        <p14:creationId xmlns:p14="http://schemas.microsoft.com/office/powerpoint/2010/main" val="1277839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前面的建筑都只包含窗户和墙面，这个建筑多了阳台，这是解译的结果，重建的结果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14</a:t>
            </a:fld>
            <a:endParaRPr lang="zh-CN" altLang="en-US"/>
          </a:p>
        </p:txBody>
      </p:sp>
    </p:spTree>
    <p:extLst>
      <p:ext uri="{BB962C8B-B14F-4D97-AF65-F5344CB8AC3E}">
        <p14:creationId xmlns:p14="http://schemas.microsoft.com/office/powerpoint/2010/main" val="972697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之前展示的教堂，解译的结果，建模的结果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15</a:t>
            </a:fld>
            <a:endParaRPr lang="zh-CN" altLang="en-US"/>
          </a:p>
        </p:txBody>
      </p:sp>
    </p:spTree>
    <p:extLst>
      <p:ext uri="{BB962C8B-B14F-4D97-AF65-F5344CB8AC3E}">
        <p14:creationId xmlns:p14="http://schemas.microsoft.com/office/powerpoint/2010/main" val="22033263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一个典型的立面。解译的结果，重建的结果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16</a:t>
            </a:fld>
            <a:endParaRPr lang="zh-CN" altLang="en-US"/>
          </a:p>
        </p:txBody>
      </p:sp>
    </p:spTree>
    <p:extLst>
      <p:ext uri="{BB962C8B-B14F-4D97-AF65-F5344CB8AC3E}">
        <p14:creationId xmlns:p14="http://schemas.microsoft.com/office/powerpoint/2010/main" val="18441606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smtClean="0"/>
              <a:t>我们采用了</a:t>
            </a:r>
            <a:r>
              <a:rPr lang="en-US" altLang="zh-CN" dirty="0" smtClean="0"/>
              <a:t>C++</a:t>
            </a:r>
            <a:r>
              <a:rPr lang="zh-CN" altLang="en-US" dirty="0" smtClean="0"/>
              <a:t>语言在一台工作站上实现了算法，并进行了实验，从表中可以看出</a:t>
            </a:r>
            <a:r>
              <a:rPr lang="zh-CN" altLang="zh-CN" sz="1200" kern="1200" dirty="0" smtClean="0">
                <a:solidFill>
                  <a:schemeClr val="tx1"/>
                </a:solidFill>
                <a:effectLst/>
                <a:latin typeface="+mn-lt"/>
                <a:ea typeface="+mn-ea"/>
                <a:cs typeface="+mn-cs"/>
              </a:rPr>
              <a:t>，本文提出的算法的效率较高，基本可以应对大规模的城市重建。</a:t>
            </a:r>
          </a:p>
          <a:p>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17</a:t>
            </a:fld>
            <a:endParaRPr lang="zh-CN" altLang="en-US"/>
          </a:p>
        </p:txBody>
      </p:sp>
    </p:spTree>
    <p:extLst>
      <p:ext uri="{BB962C8B-B14F-4D97-AF65-F5344CB8AC3E}">
        <p14:creationId xmlns:p14="http://schemas.microsoft.com/office/powerpoint/2010/main" val="15833556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上述实验显示了我们的方法可以对多种风格的建筑进行建模，并且可以有效地应对对称建筑立面点云存在缺失的情况；</a:t>
            </a:r>
            <a:endParaRPr lang="en-US" altLang="zh-CN"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smtClean="0"/>
              <a:t>我们的方法的不足在于采用了表格的方法来表示</a:t>
            </a:r>
            <a:r>
              <a:rPr lang="en-US" altLang="zh-CN" dirty="0" smtClean="0"/>
              <a:t>V</a:t>
            </a:r>
            <a:r>
              <a:rPr lang="zh-CN" altLang="en-US" dirty="0" smtClean="0"/>
              <a:t>函数，对状态没有简化，当状态量十分巨大的时候收敛较慢。另外，我们的预分类采用了支持向量机这种监督分类的方法，没有实现完全的自动化。</a:t>
            </a:r>
            <a:endParaRPr lang="en-US" altLang="zh-CN" dirty="0" smtClean="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18</a:t>
            </a:fld>
            <a:endParaRPr lang="zh-CN" altLang="en-US"/>
          </a:p>
        </p:txBody>
      </p:sp>
    </p:spTree>
    <p:extLst>
      <p:ext uri="{BB962C8B-B14F-4D97-AF65-F5344CB8AC3E}">
        <p14:creationId xmlns:p14="http://schemas.microsoft.com/office/powerpoint/2010/main" val="37038013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谢谢各位的聆听！请老师提问～</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19</a:t>
            </a:fld>
            <a:endParaRPr lang="zh-CN" altLang="en-US"/>
          </a:p>
        </p:txBody>
      </p:sp>
    </p:spTree>
    <p:extLst>
      <p:ext uri="{BB962C8B-B14F-4D97-AF65-F5344CB8AC3E}">
        <p14:creationId xmlns:p14="http://schemas.microsoft.com/office/powerpoint/2010/main" val="4220797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现在举一个例子来说明如何用二分形状语义表示一个只包含窗户和墙面的简单建筑立面。</a:t>
            </a:r>
            <a:endParaRPr lang="en-US" altLang="zh-CN" dirty="0" smtClean="0"/>
          </a:p>
          <a:p>
            <a:r>
              <a:rPr lang="zh-CN" altLang="en-US" dirty="0" smtClean="0"/>
              <a:t>初始形状是立面本身；终端形状是</a:t>
            </a:r>
            <a:r>
              <a:rPr lang="en-US" altLang="zh-CN" dirty="0" smtClean="0"/>
              <a:t>window</a:t>
            </a:r>
            <a:r>
              <a:rPr lang="zh-CN" altLang="en-US" dirty="0" smtClean="0"/>
              <a:t>和</a:t>
            </a:r>
            <a:r>
              <a:rPr lang="en-US" altLang="zh-CN" dirty="0" smtClean="0"/>
              <a:t>wall</a:t>
            </a:r>
            <a:r>
              <a:rPr lang="zh-CN" altLang="en-US" dirty="0" smtClean="0"/>
              <a:t>，</a:t>
            </a:r>
            <a:endParaRPr lang="en-US" altLang="zh-CN" dirty="0" smtClean="0"/>
          </a:p>
          <a:p>
            <a:r>
              <a:rPr lang="zh-CN" altLang="en-US" dirty="0" smtClean="0"/>
              <a:t>非终端形状有</a:t>
            </a:r>
            <a:r>
              <a:rPr lang="en-US" altLang="zh-CN" dirty="0" smtClean="0"/>
              <a:t>4</a:t>
            </a:r>
            <a:r>
              <a:rPr lang="zh-CN" altLang="en-US" dirty="0" smtClean="0"/>
              <a:t>个，语义规则有</a:t>
            </a:r>
            <a:r>
              <a:rPr lang="en-US" altLang="zh-CN" dirty="0" smtClean="0"/>
              <a:t>5</a:t>
            </a:r>
            <a:r>
              <a:rPr lang="zh-CN" altLang="en-US" dirty="0" smtClean="0"/>
              <a:t>条，该图展示了应用该语义了对一个两层的立面进行剖分得到的剖分树。</a:t>
            </a:r>
            <a:endParaRPr lang="en-US" altLang="zh-CN" dirty="0" smtClean="0"/>
          </a:p>
          <a:p>
            <a:endParaRPr lang="en-US" altLang="zh-CN" dirty="0" smtClean="0"/>
          </a:p>
          <a:p>
            <a:r>
              <a:rPr lang="zh-CN" altLang="en-US" dirty="0" smtClean="0"/>
              <a:t>对于一个简单的建筑，我们可以通过观察的方法手动地得到其剖分树，但是对于给定的一个建筑立面的点云，我们如何得到可以描述它的最佳剖分树？</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20</a:t>
            </a:fld>
            <a:endParaRPr lang="zh-CN" altLang="en-US"/>
          </a:p>
        </p:txBody>
      </p:sp>
    </p:spTree>
    <p:extLst>
      <p:ext uri="{BB962C8B-B14F-4D97-AF65-F5344CB8AC3E}">
        <p14:creationId xmlns:p14="http://schemas.microsoft.com/office/powerpoint/2010/main" val="18310531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7" name="矩形 6"/>
          <p:cNvSpPr/>
          <p:nvPr/>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ctrTitle"/>
          </p:nvPr>
        </p:nvSpPr>
        <p:spPr>
          <a:xfrm>
            <a:off x="628652" y="2061006"/>
            <a:ext cx="7886700" cy="2387600"/>
          </a:xfrm>
        </p:spPr>
        <p:txBody>
          <a:bodyPr anchor="b">
            <a:normAutofit/>
          </a:bodyPr>
          <a:lstStyle>
            <a:lvl1pPr algn="l" latinLnBrk="0">
              <a:defRPr lang="zh-CN" sz="4050">
                <a:solidFill>
                  <a:schemeClr val="bg1"/>
                </a:solidFill>
              </a:defRPr>
            </a:lvl1pPr>
          </a:lstStyle>
          <a:p>
            <a:r>
              <a:rPr lang="zh-CN" altLang="en-US" smtClean="0"/>
              <a:t>单击此处编辑母版标题样式</a:t>
            </a:r>
            <a:endParaRPr lang="zh-CN"/>
          </a:p>
        </p:txBody>
      </p:sp>
      <p:sp>
        <p:nvSpPr>
          <p:cNvPr id="3" name="副标题 2"/>
          <p:cNvSpPr>
            <a:spLocks noGrp="1"/>
          </p:cNvSpPr>
          <p:nvPr>
            <p:ph type="subTitle" idx="1"/>
          </p:nvPr>
        </p:nvSpPr>
        <p:spPr>
          <a:xfrm>
            <a:off x="628653" y="5110611"/>
            <a:ext cx="5029199" cy="1137793"/>
          </a:xfrm>
        </p:spPr>
        <p:txBody>
          <a:bodyPr>
            <a:normAutofit/>
          </a:bodyPr>
          <a:lstStyle>
            <a:lvl1pPr marL="0" indent="0" algn="l" latinLnBrk="0">
              <a:lnSpc>
                <a:spcPct val="150000"/>
              </a:lnSpc>
              <a:spcBef>
                <a:spcPts val="450"/>
              </a:spcBef>
              <a:buNone/>
              <a:defRPr lang="zh-CN" sz="2100">
                <a:solidFill>
                  <a:srgbClr val="D24726"/>
                </a:solidFill>
                <a:latin typeface="+mj-lt"/>
              </a:defRPr>
            </a:lvl1pPr>
            <a:lvl2pPr marL="342900" indent="0" algn="ctr" latinLnBrk="0">
              <a:buNone/>
              <a:defRPr lang="zh-CN" sz="1500"/>
            </a:lvl2pPr>
            <a:lvl3pPr marL="685800" indent="0" algn="ctr" latinLnBrk="0">
              <a:buNone/>
              <a:defRPr lang="zh-CN" sz="1350"/>
            </a:lvl3pPr>
            <a:lvl4pPr marL="1028700" indent="0" algn="ctr" latinLnBrk="0">
              <a:buNone/>
              <a:defRPr lang="zh-CN" sz="1200"/>
            </a:lvl4pPr>
            <a:lvl5pPr marL="1371600" indent="0" algn="ctr" latinLnBrk="0">
              <a:buNone/>
              <a:defRPr lang="zh-CN" sz="1200"/>
            </a:lvl5pPr>
            <a:lvl6pPr marL="1714500" indent="0" algn="ctr" latinLnBrk="0">
              <a:buNone/>
              <a:defRPr lang="zh-CN" sz="1200"/>
            </a:lvl6pPr>
            <a:lvl7pPr marL="2057400" indent="0" algn="ctr" latinLnBrk="0">
              <a:buNone/>
              <a:defRPr lang="zh-CN" sz="1200"/>
            </a:lvl7pPr>
            <a:lvl8pPr marL="2400300" indent="0" algn="ctr" latinLnBrk="0">
              <a:buNone/>
              <a:defRPr lang="zh-CN" sz="1200"/>
            </a:lvl8pPr>
            <a:lvl9pPr marL="2743200" indent="0" algn="ctr" latinLnBrk="0">
              <a:buNone/>
              <a:defRPr lang="zh-CN" sz="1200"/>
            </a:lvl9pPr>
          </a:lstStyle>
          <a:p>
            <a:r>
              <a:rPr lang="zh-CN" altLang="en-US" smtClean="0"/>
              <a:t>单击此处编辑母版副标题样式</a:t>
            </a:r>
            <a:endParaRPr lang="zh-CN" dirty="0"/>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7185494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3327" y="0"/>
            <a:ext cx="8062025" cy="1208868"/>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idx="1"/>
          </p:nvPr>
        </p:nvSpPr>
        <p:spPr>
          <a:xfrm>
            <a:off x="628652" y="1825625"/>
            <a:ext cx="3125815" cy="4351338"/>
          </a:xfrm>
        </p:spPr>
        <p:txBody>
          <a:bodyPr>
            <a:normAutofit/>
          </a:bodyPr>
          <a:lstStyle>
            <a:lvl1pPr marL="0" indent="0" latinLnBrk="0">
              <a:lnSpc>
                <a:spcPct val="150000"/>
              </a:lnSpc>
              <a:spcAft>
                <a:spcPts val="900"/>
              </a:spcAft>
              <a:buNone/>
              <a:defRPr lang="zh-CN" sz="1200">
                <a:solidFill>
                  <a:schemeClr val="bg1">
                    <a:lumMod val="50000"/>
                  </a:schemeClr>
                </a:solidFill>
              </a:defRPr>
            </a:lvl1pPr>
            <a:lvl2pPr latinLnBrk="0">
              <a:lnSpc>
                <a:spcPct val="150000"/>
              </a:lnSpc>
              <a:spcAft>
                <a:spcPts val="900"/>
              </a:spcAft>
              <a:defRPr lang="zh-CN" sz="1050">
                <a:solidFill>
                  <a:schemeClr val="bg1">
                    <a:lumMod val="50000"/>
                  </a:schemeClr>
                </a:solidFill>
              </a:defRPr>
            </a:lvl2pPr>
            <a:lvl3pPr latinLnBrk="0">
              <a:lnSpc>
                <a:spcPct val="150000"/>
              </a:lnSpc>
              <a:spcAft>
                <a:spcPts val="900"/>
              </a:spcAft>
              <a:defRPr lang="zh-CN" sz="900">
                <a:solidFill>
                  <a:schemeClr val="bg1">
                    <a:lumMod val="50000"/>
                  </a:schemeClr>
                </a:solidFill>
              </a:defRPr>
            </a:lvl3pPr>
            <a:lvl4pPr latinLnBrk="0">
              <a:lnSpc>
                <a:spcPct val="150000"/>
              </a:lnSpc>
              <a:spcAft>
                <a:spcPts val="900"/>
              </a:spcAft>
              <a:defRPr lang="zh-CN" sz="825">
                <a:solidFill>
                  <a:schemeClr val="bg1">
                    <a:lumMod val="50000"/>
                  </a:schemeClr>
                </a:solidFill>
              </a:defRPr>
            </a:lvl4pPr>
            <a:lvl5pPr latinLnBrk="0">
              <a:lnSpc>
                <a:spcPct val="150000"/>
              </a:lnSpc>
              <a:spcAft>
                <a:spcPts val="900"/>
              </a:spcAft>
              <a:defRPr lang="zh-CN" sz="825">
                <a:solidFill>
                  <a:schemeClr val="bg1">
                    <a:lumMod val="50000"/>
                  </a:schemeClr>
                </a:solidFill>
              </a:defRPr>
            </a:lvl5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dirty="0"/>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21858365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7" name="矩形 6"/>
          <p:cNvSpPr/>
          <p:nvPr/>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628651" y="2402239"/>
            <a:ext cx="3381536" cy="2187227"/>
          </a:xfrm>
        </p:spPr>
        <p:txBody>
          <a:bodyPr anchor="ctr">
            <a:noAutofit/>
          </a:bodyPr>
          <a:lstStyle>
            <a:lvl1pPr algn="l" latinLnBrk="0">
              <a:defRPr lang="zh-CN" sz="3600">
                <a:solidFill>
                  <a:srgbClr val="D24726"/>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4742482" y="2402237"/>
            <a:ext cx="3952068" cy="2187226"/>
          </a:xfrm>
        </p:spPr>
        <p:txBody>
          <a:bodyPr anchor="ctr">
            <a:normAutofit/>
          </a:bodyPr>
          <a:lstStyle>
            <a:lvl1pPr marL="0" indent="0" latinLnBrk="0">
              <a:lnSpc>
                <a:spcPct val="150000"/>
              </a:lnSpc>
              <a:buNone/>
              <a:defRPr lang="zh-CN" sz="2100">
                <a:solidFill>
                  <a:schemeClr val="bg1"/>
                </a:solidFill>
                <a:latin typeface="+mj-lt"/>
              </a:defRPr>
            </a:lvl1pPr>
            <a:lvl2pPr marL="342900" indent="0" latinLnBrk="0">
              <a:buNone/>
              <a:defRPr lang="zh-CN" sz="1500"/>
            </a:lvl2pPr>
            <a:lvl3pPr marL="685800" indent="0" latinLnBrk="0">
              <a:buNone/>
              <a:defRPr lang="zh-CN" sz="1350"/>
            </a:lvl3pPr>
            <a:lvl4pPr marL="1028700" indent="0" latinLnBrk="0">
              <a:buNone/>
              <a:defRPr lang="zh-CN" sz="1200"/>
            </a:lvl4pPr>
            <a:lvl5pPr marL="1371600" indent="0" latinLnBrk="0">
              <a:buNone/>
              <a:defRPr lang="zh-CN" sz="1200"/>
            </a:lvl5pPr>
            <a:lvl6pPr marL="1714500" indent="0" latinLnBrk="0">
              <a:buNone/>
              <a:defRPr lang="zh-CN" sz="1200"/>
            </a:lvl6pPr>
            <a:lvl7pPr marL="2057400" indent="0" latinLnBrk="0">
              <a:buNone/>
              <a:defRPr lang="zh-CN" sz="1200"/>
            </a:lvl7pPr>
            <a:lvl8pPr marL="2400300" indent="0" latinLnBrk="0">
              <a:buNone/>
              <a:defRPr lang="zh-CN" sz="1200"/>
            </a:lvl8pPr>
            <a:lvl9pPr marL="2743200" indent="0" latinLnBrk="0">
              <a:buNone/>
              <a:defRPr lang="zh-CN" sz="1200"/>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356555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8" name="矩形 7"/>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sz="half" idx="1"/>
          </p:nvPr>
        </p:nvSpPr>
        <p:spPr>
          <a:xfrm>
            <a:off x="6286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内容占位符 3"/>
          <p:cNvSpPr>
            <a:spLocks noGrp="1"/>
          </p:cNvSpPr>
          <p:nvPr>
            <p:ph sz="half" idx="2"/>
          </p:nvPr>
        </p:nvSpPr>
        <p:spPr>
          <a:xfrm>
            <a:off x="46291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日期占位符 4"/>
          <p:cNvSpPr>
            <a:spLocks noGrp="1"/>
          </p:cNvSpPr>
          <p:nvPr>
            <p:ph type="dt" sz="half" idx="10"/>
          </p:nvPr>
        </p:nvSpPr>
        <p:spPr/>
        <p:txBody>
          <a:bodyPr/>
          <a:lstStyle/>
          <a:p>
            <a:fld id="{8BEEBAAA-29B5-4AF5-BC5F-7E580C29002D}" type="datetimeFigureOut">
              <a:t>2014/5/12</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
        <p:nvSpPr>
          <p:cNvPr id="9" name="矩形 8"/>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3282238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10" name="矩形 9"/>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0"/>
            <a:ext cx="8053388"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623889" y="1489075"/>
            <a:ext cx="3867151"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4" name="内容占位符 3"/>
          <p:cNvSpPr>
            <a:spLocks noGrp="1"/>
          </p:cNvSpPr>
          <p:nvPr>
            <p:ph sz="half" idx="2"/>
          </p:nvPr>
        </p:nvSpPr>
        <p:spPr>
          <a:xfrm>
            <a:off x="623889" y="2193929"/>
            <a:ext cx="3867151"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文本占位符 4"/>
          <p:cNvSpPr>
            <a:spLocks noGrp="1"/>
          </p:cNvSpPr>
          <p:nvPr>
            <p:ph type="body" sz="quarter" idx="3"/>
          </p:nvPr>
        </p:nvSpPr>
        <p:spPr>
          <a:xfrm>
            <a:off x="4642249" y="1489075"/>
            <a:ext cx="3868340"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6" name="内容占位符 5"/>
          <p:cNvSpPr>
            <a:spLocks noGrp="1"/>
          </p:cNvSpPr>
          <p:nvPr>
            <p:ph sz="quarter" idx="4"/>
          </p:nvPr>
        </p:nvSpPr>
        <p:spPr>
          <a:xfrm>
            <a:off x="4642249" y="2193929"/>
            <a:ext cx="3868340"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7" name="日期占位符 6"/>
          <p:cNvSpPr>
            <a:spLocks noGrp="1"/>
          </p:cNvSpPr>
          <p:nvPr>
            <p:ph type="dt" sz="half" idx="10"/>
          </p:nvPr>
        </p:nvSpPr>
        <p:spPr/>
        <p:txBody>
          <a:bodyPr/>
          <a:lstStyle/>
          <a:p>
            <a:fld id="{8BEEBAAA-29B5-4AF5-BC5F-7E580C29002D}" type="datetimeFigureOut">
              <a:t>2014/5/12</a:t>
            </a:fld>
            <a:endParaRPr lang="zh-CN"/>
          </a:p>
        </p:txBody>
      </p:sp>
      <p:sp>
        <p:nvSpPr>
          <p:cNvPr id="8" name="页脚占位符 7"/>
          <p:cNvSpPr>
            <a:spLocks noGrp="1"/>
          </p:cNvSpPr>
          <p:nvPr>
            <p:ph type="ftr" sz="quarter" idx="11"/>
          </p:nvPr>
        </p:nvSpPr>
        <p:spPr/>
        <p:txBody>
          <a:bodyPr/>
          <a:lstStyle/>
          <a:p>
            <a:endParaRPr lang="zh-CN"/>
          </a:p>
        </p:txBody>
      </p:sp>
      <p:sp>
        <p:nvSpPr>
          <p:cNvPr id="9" name="幻灯片编号占位符 8"/>
          <p:cNvSpPr>
            <a:spLocks noGrp="1"/>
          </p:cNvSpPr>
          <p:nvPr>
            <p:ph type="sldNum" sz="quarter" idx="12"/>
          </p:nvPr>
        </p:nvSpPr>
        <p:spPr/>
        <p:txBody>
          <a:bodyPr/>
          <a:lstStyle/>
          <a:p>
            <a:fld id="{9860EDB8-5305-433F-BE41-D7A86D811DB3}" type="slidenum">
              <a:t>‹#›</a:t>
            </a:fld>
            <a:endParaRPr lang="zh-CN"/>
          </a:p>
        </p:txBody>
      </p:sp>
      <p:sp>
        <p:nvSpPr>
          <p:cNvPr id="11" name="矩形 10"/>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6060298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6" name="矩形 5"/>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日期占位符 2"/>
          <p:cNvSpPr>
            <a:spLocks noGrp="1"/>
          </p:cNvSpPr>
          <p:nvPr>
            <p:ph type="dt" sz="half" idx="10"/>
          </p:nvPr>
        </p:nvSpPr>
        <p:spPr/>
        <p:txBody>
          <a:bodyPr/>
          <a:lstStyle/>
          <a:p>
            <a:fld id="{8BEEBAAA-29B5-4AF5-BC5F-7E580C29002D}" type="datetimeFigureOut">
              <a:t>2014/5/12</a:t>
            </a:fld>
            <a:endParaRPr lang="zh-CN"/>
          </a:p>
        </p:txBody>
      </p:sp>
      <p:sp>
        <p:nvSpPr>
          <p:cNvPr id="4" name="页脚占位符 3"/>
          <p:cNvSpPr>
            <a:spLocks noGrp="1"/>
          </p:cNvSpPr>
          <p:nvPr>
            <p:ph type="ftr" sz="quarter" idx="11"/>
          </p:nvPr>
        </p:nvSpPr>
        <p:spPr/>
        <p:txBody>
          <a:bodyPr/>
          <a:lstStyle/>
          <a:p>
            <a:endParaRPr lang="zh-CN"/>
          </a:p>
        </p:txBody>
      </p:sp>
      <p:sp>
        <p:nvSpPr>
          <p:cNvPr id="5" name="幻灯片编号占位符 4"/>
          <p:cNvSpPr>
            <a:spLocks noGrp="1"/>
          </p:cNvSpPr>
          <p:nvPr>
            <p:ph type="sldNum" sz="quarter" idx="12"/>
          </p:nvPr>
        </p:nvSpPr>
        <p:spPr/>
        <p:txBody>
          <a:bodyPr/>
          <a:lstStyle/>
          <a:p>
            <a:fld id="{9860EDB8-5305-433F-BE41-D7A86D811DB3}" type="slidenum">
              <a:t>‹#›</a:t>
            </a:fld>
            <a:endParaRPr lang="zh-CN"/>
          </a:p>
        </p:txBody>
      </p:sp>
      <p:sp>
        <p:nvSpPr>
          <p:cNvPr id="7" name="矩形 6"/>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008144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BEEBAAA-29B5-4AF5-BC5F-7E580C29002D}" type="datetimeFigureOut">
              <a:t>2014/5/12</a:t>
            </a:fld>
            <a:endParaRPr lang="zh-CN"/>
          </a:p>
        </p:txBody>
      </p:sp>
      <p:sp>
        <p:nvSpPr>
          <p:cNvPr id="3" name="页脚占位符 2"/>
          <p:cNvSpPr>
            <a:spLocks noGrp="1"/>
          </p:cNvSpPr>
          <p:nvPr>
            <p:ph type="ftr" sz="quarter" idx="11"/>
          </p:nvPr>
        </p:nvSpPr>
        <p:spPr/>
        <p:txBody>
          <a:bodyPr/>
          <a:lstStyle/>
          <a:p>
            <a:endParaRPr lang="zh-CN"/>
          </a:p>
        </p:txBody>
      </p:sp>
      <p:sp>
        <p:nvSpPr>
          <p:cNvPr id="4" name="幻灯片编号占位符 3"/>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40374320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内容占位符 2"/>
          <p:cNvSpPr>
            <a:spLocks noGrp="1"/>
          </p:cNvSpPr>
          <p:nvPr>
            <p:ph idx="1"/>
          </p:nvPr>
        </p:nvSpPr>
        <p:spPr>
          <a:xfrm>
            <a:off x="3887391" y="987429"/>
            <a:ext cx="4629151" cy="487362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2014/5/12</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17841938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图片占位符 2"/>
          <p:cNvSpPr>
            <a:spLocks noGrp="1"/>
          </p:cNvSpPr>
          <p:nvPr>
            <p:ph type="pic" idx="1"/>
          </p:nvPr>
        </p:nvSpPr>
        <p:spPr>
          <a:xfrm>
            <a:off x="3887391" y="987429"/>
            <a:ext cx="4629151" cy="4873625"/>
          </a:xfrm>
        </p:spPr>
        <p:txBody>
          <a:bodyPr/>
          <a:lstStyle>
            <a:lvl1pPr marL="0" indent="0" latinLnBrk="0">
              <a:buNone/>
              <a:defRPr lang="zh-CN" sz="2400"/>
            </a:lvl1pPr>
            <a:lvl2pPr marL="342900" indent="0" latinLnBrk="0">
              <a:buNone/>
              <a:defRPr lang="zh-CN" sz="2100"/>
            </a:lvl2pPr>
            <a:lvl3pPr marL="685800" indent="0" latinLnBrk="0">
              <a:buNone/>
              <a:defRPr lang="zh-CN" sz="1800"/>
            </a:lvl3pPr>
            <a:lvl4pPr marL="1028700" indent="0" latinLnBrk="0">
              <a:buNone/>
              <a:defRPr lang="zh-CN" sz="1500"/>
            </a:lvl4pPr>
            <a:lvl5pPr marL="1371600" indent="0" latinLnBrk="0">
              <a:buNone/>
              <a:defRPr lang="zh-CN" sz="1500"/>
            </a:lvl5pPr>
            <a:lvl6pPr marL="1714500" indent="0" latinLnBrk="0">
              <a:buNone/>
              <a:defRPr lang="zh-CN" sz="1500"/>
            </a:lvl6pPr>
            <a:lvl7pPr marL="2057400" indent="0" latinLnBrk="0">
              <a:buNone/>
              <a:defRPr lang="zh-CN" sz="1500"/>
            </a:lvl7pPr>
            <a:lvl8pPr marL="2400300" indent="0" latinLnBrk="0">
              <a:buNone/>
              <a:defRPr lang="zh-CN" sz="1500"/>
            </a:lvl8pPr>
            <a:lvl9pPr marL="2743200" indent="0" latinLnBrk="0">
              <a:buNone/>
              <a:defRPr lang="zh-CN" sz="1500"/>
            </a:lvl9pPr>
          </a:lstStyle>
          <a:p>
            <a:r>
              <a:rPr lang="zh-CN" altLang="en-US" smtClean="0"/>
              <a:t>单击图标添加图片</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2014/5/12</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31610953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5969213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a:xfrm>
          <a:off x="0" y="0"/>
          <a:ext cx="0" cy="0"/>
          <a:chOff x="0" y="0"/>
          <a:chExt cx="0" cy="0"/>
        </a:xfrm>
      </p:grpSpPr>
      <p:sp>
        <p:nvSpPr>
          <p:cNvPr id="7" name="矩形 6"/>
          <p:cNvSpPr/>
          <p:nvPr/>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竖排标题 1"/>
          <p:cNvSpPr>
            <a:spLocks noGrp="1"/>
          </p:cNvSpPr>
          <p:nvPr>
            <p:ph type="title" orient="vert"/>
          </p:nvPr>
        </p:nvSpPr>
        <p:spPr>
          <a:xfrm>
            <a:off x="7661565" y="365125"/>
            <a:ext cx="1364673" cy="5811838"/>
          </a:xfrm>
        </p:spPr>
        <p:txBody>
          <a:bodyPr vert="eaVert"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a:xfrm>
            <a:off x="628651" y="365125"/>
            <a:ext cx="5800725" cy="5811838"/>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022666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2" y="365129"/>
            <a:ext cx="7886700" cy="1325563"/>
          </a:xfrm>
          <a:prstGeom prst="rect">
            <a:avLst/>
          </a:prstGeom>
        </p:spPr>
        <p:txBody>
          <a:bodyPr vert="horz" lIns="91440" tIns="45720" rIns="91440" bIns="45720" rtlCol="0" anchor="ctr">
            <a:normAutofit/>
          </a:bodyPr>
          <a:lstStyle/>
          <a:p>
            <a:r>
              <a:rPr lang="zh-CN" dirty="0"/>
              <a:t>单击此处编辑母版标题样式</a:t>
            </a:r>
          </a:p>
        </p:txBody>
      </p:sp>
      <p:sp>
        <p:nvSpPr>
          <p:cNvPr id="3" name="文本占位符 2"/>
          <p:cNvSpPr>
            <a:spLocks noGrp="1"/>
          </p:cNvSpPr>
          <p:nvPr>
            <p:ph type="body" idx="1"/>
          </p:nvPr>
        </p:nvSpPr>
        <p:spPr>
          <a:xfrm>
            <a:off x="628652" y="1825625"/>
            <a:ext cx="7886700" cy="4351338"/>
          </a:xfrm>
          <a:prstGeom prst="rect">
            <a:avLst/>
          </a:prstGeom>
        </p:spPr>
        <p:txBody>
          <a:bodyPr vert="horz" lIns="91440" tIns="45720" rIns="91440" bIns="45720" rtlCol="0">
            <a:normAutofit/>
          </a:bodyPr>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4" name="日期占位符 3"/>
          <p:cNvSpPr>
            <a:spLocks noGrp="1"/>
          </p:cNvSpPr>
          <p:nvPr>
            <p:ph type="dt" sz="half" idx="2"/>
          </p:nvPr>
        </p:nvSpPr>
        <p:spPr>
          <a:xfrm>
            <a:off x="628650" y="6356354"/>
            <a:ext cx="2457451" cy="365125"/>
          </a:xfrm>
          <a:prstGeom prst="rect">
            <a:avLst/>
          </a:prstGeom>
        </p:spPr>
        <p:txBody>
          <a:bodyPr vert="horz" lIns="91440" tIns="45720" rIns="91440" bIns="45720" rtlCol="0" anchor="ctr"/>
          <a:lstStyle>
            <a:lvl1pPr algn="l"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8BEEBAAA-29B5-4AF5-BC5F-7E580C29002D}" type="datetimeFigureOut">
              <a:rPr lang="en-US" altLang="zh-CN" smtClean="0"/>
              <a:pPr/>
              <a:t>5/12/2014</a:t>
            </a:fld>
            <a:endParaRPr lang="zh-CN" altLang="en-US"/>
          </a:p>
        </p:txBody>
      </p:sp>
      <p:sp>
        <p:nvSpPr>
          <p:cNvPr id="5" name="页脚占位符 4"/>
          <p:cNvSpPr>
            <a:spLocks noGrp="1"/>
          </p:cNvSpPr>
          <p:nvPr>
            <p:ph type="ftr" sz="quarter" idx="3"/>
          </p:nvPr>
        </p:nvSpPr>
        <p:spPr>
          <a:xfrm>
            <a:off x="3486152" y="6356354"/>
            <a:ext cx="2171700" cy="365125"/>
          </a:xfrm>
          <a:prstGeom prst="rect">
            <a:avLst/>
          </a:prstGeom>
        </p:spPr>
        <p:txBody>
          <a:bodyPr vert="horz" lIns="91440" tIns="45720" rIns="91440" bIns="45720" rtlCol="0" anchor="ctr"/>
          <a:lstStyle>
            <a:lvl1pPr algn="ct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endParaRPr lang="zh-CN" altLang="en-US"/>
          </a:p>
        </p:txBody>
      </p:sp>
      <p:sp>
        <p:nvSpPr>
          <p:cNvPr id="6" name="幻灯片编号占位符 5"/>
          <p:cNvSpPr>
            <a:spLocks noGrp="1"/>
          </p:cNvSpPr>
          <p:nvPr>
            <p:ph type="sldNum" sz="quarter" idx="4"/>
          </p:nvPr>
        </p:nvSpPr>
        <p:spPr>
          <a:xfrm>
            <a:off x="6057900" y="6356354"/>
            <a:ext cx="2457451" cy="365125"/>
          </a:xfrm>
          <a:prstGeom prst="rect">
            <a:avLst/>
          </a:prstGeom>
        </p:spPr>
        <p:txBody>
          <a:bodyPr vert="horz" lIns="91440" tIns="45720" rIns="91440" bIns="45720" rtlCol="0" anchor="ctr"/>
          <a:lstStyle>
            <a:lvl1pPr algn="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9860EDB8-5305-433F-BE41-D7A86D811DB3}" type="slidenum">
              <a:rPr lang="en-US" altLang="zh-CN" smtClean="0"/>
              <a:pPr/>
              <a:t>‹#›</a:t>
            </a:fld>
            <a:endParaRPr lang="en-US" altLang="zh-CN"/>
          </a:p>
        </p:txBody>
      </p: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mc:AlternateContent xmlns:mc="http://schemas.openxmlformats.org/markup-compatibility/2006" xmlns:p14="http://schemas.microsoft.com/office/powerpoint/2010/main">
    <mc:Choice Requires="p14">
      <p:transition p14:dur="10"/>
    </mc:Choice>
    <mc:Fallback xmlns="">
      <p:transition/>
    </mc:Fallback>
  </mc:AlternateContent>
  <p:txStyles>
    <p:titleStyle>
      <a:lvl1pPr algn="l" defTabSz="685800" rtl="0" eaLnBrk="1" latinLnBrk="0" hangingPunct="1">
        <a:spcBef>
          <a:spcPct val="0"/>
        </a:spcBef>
        <a:buNone/>
        <a:defRPr lang="zh-CN" sz="3300" kern="1200">
          <a:solidFill>
            <a:schemeClr val="tx1"/>
          </a:solidFill>
          <a:latin typeface="Microsoft YaHei UI" panose="020B0503020204020204" pitchFamily="34" charset="-122"/>
          <a:ea typeface="Microsoft YaHei UI" panose="020B0503020204020204" pitchFamily="34" charset="-122"/>
          <a:cs typeface="+mj-cs"/>
        </a:defRPr>
      </a:lvl1pPr>
    </p:titleStyle>
    <p:bodyStyle>
      <a:lvl1pPr marL="171450" indent="-171450" algn="l" defTabSz="685800" rtl="0" eaLnBrk="1" latinLnBrk="0" hangingPunct="1">
        <a:lnSpc>
          <a:spcPct val="90000"/>
        </a:lnSpc>
        <a:spcBef>
          <a:spcPct val="30000"/>
        </a:spcBef>
        <a:buFont typeface="Arial" panose="020B0604020202020204" pitchFamily="34" charset="0"/>
        <a:buChar char="•"/>
        <a:defRPr lang="zh-CN" sz="2100" kern="1200">
          <a:solidFill>
            <a:schemeClr val="tx1"/>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90000"/>
        </a:lnSpc>
        <a:spcBef>
          <a:spcPct val="30000"/>
        </a:spcBef>
        <a:buFont typeface="Arial" panose="020B0604020202020204" pitchFamily="34" charset="0"/>
        <a:buChar char="•"/>
        <a:defRPr lang="zh-CN" sz="1800" kern="1200">
          <a:solidFill>
            <a:schemeClr val="tx1"/>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90000"/>
        </a:lnSpc>
        <a:spcBef>
          <a:spcPct val="30000"/>
        </a:spcBef>
        <a:buFont typeface="Arial" panose="020B0604020202020204" pitchFamily="34" charset="0"/>
        <a:buChar char="•"/>
        <a:defRPr lang="zh-CN" sz="1500" kern="1200">
          <a:solidFill>
            <a:schemeClr val="tx1"/>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p:bodyStyle>
    <p:otherStyle>
      <a:defPPr>
        <a:defRPr lang="zh-CN"/>
      </a:defPPr>
      <a:lvl1pPr marL="0" algn="l" defTabSz="685800" rtl="0" eaLnBrk="1" latinLnBrk="0" hangingPunct="1">
        <a:defRPr lang="zh-CN" sz="1350" kern="1200">
          <a:solidFill>
            <a:schemeClr val="tx1"/>
          </a:solidFill>
          <a:latin typeface="+mn-lt"/>
          <a:ea typeface="+mn-ea"/>
          <a:cs typeface="+mn-cs"/>
        </a:defRPr>
      </a:lvl1pPr>
      <a:lvl2pPr marL="342900" algn="l" defTabSz="685800" rtl="0" eaLnBrk="1" latinLnBrk="0" hangingPunct="1">
        <a:defRPr lang="zh-CN" sz="1350" kern="1200">
          <a:solidFill>
            <a:schemeClr val="tx1"/>
          </a:solidFill>
          <a:latin typeface="+mn-lt"/>
          <a:ea typeface="+mn-ea"/>
          <a:cs typeface="+mn-cs"/>
        </a:defRPr>
      </a:lvl2pPr>
      <a:lvl3pPr marL="685800" algn="l" defTabSz="685800" rtl="0" eaLnBrk="1" latinLnBrk="0" hangingPunct="1">
        <a:defRPr lang="zh-CN" sz="1350" kern="1200">
          <a:solidFill>
            <a:schemeClr val="tx1"/>
          </a:solidFill>
          <a:latin typeface="+mn-lt"/>
          <a:ea typeface="+mn-ea"/>
          <a:cs typeface="+mn-cs"/>
        </a:defRPr>
      </a:lvl3pPr>
      <a:lvl4pPr marL="1028700" algn="l" defTabSz="685800" rtl="0" eaLnBrk="1" latinLnBrk="0" hangingPunct="1">
        <a:defRPr lang="zh-CN" sz="1350" kern="1200">
          <a:solidFill>
            <a:schemeClr val="tx1"/>
          </a:solidFill>
          <a:latin typeface="+mn-lt"/>
          <a:ea typeface="+mn-ea"/>
          <a:cs typeface="+mn-cs"/>
        </a:defRPr>
      </a:lvl4pPr>
      <a:lvl5pPr marL="1371600" algn="l" defTabSz="685800" rtl="0" eaLnBrk="1" latinLnBrk="0" hangingPunct="1">
        <a:defRPr lang="zh-CN" sz="1350" kern="1200">
          <a:solidFill>
            <a:schemeClr val="tx1"/>
          </a:solidFill>
          <a:latin typeface="+mn-lt"/>
          <a:ea typeface="+mn-ea"/>
          <a:cs typeface="+mn-cs"/>
        </a:defRPr>
      </a:lvl5pPr>
      <a:lvl6pPr marL="1714500" algn="l" defTabSz="685800" rtl="0" eaLnBrk="1" latinLnBrk="0" hangingPunct="1">
        <a:defRPr lang="zh-CN" sz="1350" kern="1200">
          <a:solidFill>
            <a:schemeClr val="tx1"/>
          </a:solidFill>
          <a:latin typeface="+mn-lt"/>
          <a:ea typeface="+mn-ea"/>
          <a:cs typeface="+mn-cs"/>
        </a:defRPr>
      </a:lvl6pPr>
      <a:lvl7pPr marL="2057400" algn="l" defTabSz="685800" rtl="0" eaLnBrk="1" latinLnBrk="0" hangingPunct="1">
        <a:defRPr lang="zh-CN" sz="1350" kern="1200">
          <a:solidFill>
            <a:schemeClr val="tx1"/>
          </a:solidFill>
          <a:latin typeface="+mn-lt"/>
          <a:ea typeface="+mn-ea"/>
          <a:cs typeface="+mn-cs"/>
        </a:defRPr>
      </a:lvl7pPr>
      <a:lvl8pPr marL="2400300" algn="l" defTabSz="685800" rtl="0" eaLnBrk="1" latinLnBrk="0" hangingPunct="1">
        <a:defRPr lang="zh-CN" sz="1350" kern="1200">
          <a:solidFill>
            <a:schemeClr val="tx1"/>
          </a:solidFill>
          <a:latin typeface="+mn-lt"/>
          <a:ea typeface="+mn-ea"/>
          <a:cs typeface="+mn-cs"/>
        </a:defRPr>
      </a:lvl8pPr>
      <a:lvl9pPr marL="2743200" algn="l" defTabSz="685800" rtl="0" eaLnBrk="1" latinLnBrk="0" hangingPunct="1">
        <a:defRPr lang="zh-CN"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9.wmf"/><Relationship Id="rId3" Type="http://schemas.openxmlformats.org/officeDocument/2006/relationships/notesSlide" Target="../notesSlides/notesSlide7.xml"/><Relationship Id="rId7"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8.wmf"/><Relationship Id="rId5" Type="http://schemas.openxmlformats.org/officeDocument/2006/relationships/oleObject" Target="../embeddings/oleObject1.bin"/><Relationship Id="rId10" Type="http://schemas.openxmlformats.org/officeDocument/2006/relationships/image" Target="../media/image10.wmf"/><Relationship Id="rId4" Type="http://schemas.openxmlformats.org/officeDocument/2006/relationships/image" Target="../media/image11.png"/><Relationship Id="rId9" Type="http://schemas.openxmlformats.org/officeDocument/2006/relationships/oleObject" Target="../embeddings/oleObject3.bin"/></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2.png"/><Relationship Id="rId7"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altLang="en-US" dirty="0" smtClean="0"/>
              <a:t>基于形状语义和增强学习的建筑立面点云解译与重建的方法</a:t>
            </a:r>
            <a:endParaRPr lang="zh-CN" dirty="0">
              <a:latin typeface="Microsoft YaHei UI" panose="020B0503020204020204" pitchFamily="34" charset="-122"/>
              <a:ea typeface="Microsoft YaHei UI" panose="020B0503020204020204" pitchFamily="34" charset="-122"/>
            </a:endParaRPr>
          </a:p>
        </p:txBody>
      </p:sp>
      <p:sp>
        <p:nvSpPr>
          <p:cNvPr id="3" name="副标题 2"/>
          <p:cNvSpPr>
            <a:spLocks noGrp="1"/>
          </p:cNvSpPr>
          <p:nvPr>
            <p:ph type="subTitle" idx="1"/>
          </p:nvPr>
        </p:nvSpPr>
        <p:spPr/>
        <p:txBody>
          <a:bodyPr>
            <a:normAutofit/>
          </a:bodyPr>
          <a:lstStyle/>
          <a:p>
            <a:r>
              <a:rPr lang="zh-CN" altLang="en-US" dirty="0" smtClean="0">
                <a:latin typeface="Microsoft YaHei UI" panose="020B0503020204020204" pitchFamily="34" charset="-122"/>
              </a:rPr>
              <a:t>徐翔 地理信息系统专业</a:t>
            </a:r>
            <a:endParaRPr lang="en-US" altLang="zh-CN" dirty="0" smtClean="0">
              <a:latin typeface="Microsoft YaHei UI" panose="020B0503020204020204" pitchFamily="34" charset="-122"/>
            </a:endParaRPr>
          </a:p>
          <a:p>
            <a:r>
              <a:rPr lang="zh-CN" altLang="en-US" dirty="0" smtClean="0">
                <a:latin typeface="Microsoft YaHei UI" panose="020B0503020204020204" pitchFamily="34" charset="-122"/>
                <a:ea typeface="Microsoft YaHei UI" panose="020B0503020204020204" pitchFamily="34" charset="-122"/>
              </a:rPr>
              <a:t>指导老师：张立强教授</a:t>
            </a:r>
            <a:endParaRPr lang="zh-CN" dirty="0">
              <a:latin typeface="Microsoft YaHei UI" panose="020B0503020204020204" pitchFamily="34" charset="-122"/>
              <a:ea typeface="Microsoft YaHei UI" panose="020B0503020204020204" pitchFamily="34" charset="-122"/>
            </a:endParaRPr>
          </a:p>
        </p:txBody>
      </p:sp>
      <p:pic>
        <p:nvPicPr>
          <p:cNvPr id="5" name="图片 4"/>
          <p:cNvPicPr>
            <a:picLocks noChangeAspect="1"/>
          </p:cNvPicPr>
          <p:nvPr/>
        </p:nvPicPr>
        <p:blipFill rotWithShape="1">
          <a:blip r:embed="rId3" cstate="print">
            <a:extLst>
              <a:ext uri="{28A0092B-C50C-407E-A947-70E740481C1C}">
                <a14:useLocalDpi xmlns:a14="http://schemas.microsoft.com/office/drawing/2010/main" val="0"/>
              </a:ext>
            </a:extLst>
          </a:blip>
          <a:srcRect l="32956" r="32714"/>
          <a:stretch/>
        </p:blipFill>
        <p:spPr>
          <a:xfrm>
            <a:off x="291341" y="857250"/>
            <a:ext cx="1296189" cy="2160000"/>
          </a:xfrm>
          <a:prstGeom prst="rect">
            <a:avLst/>
          </a:prstGeom>
        </p:spPr>
      </p:pic>
      <p:pic>
        <p:nvPicPr>
          <p:cNvPr id="6" name="图片 5"/>
          <p:cNvPicPr>
            <a:picLocks noChangeAspect="1"/>
          </p:cNvPicPr>
          <p:nvPr/>
        </p:nvPicPr>
        <p:blipFill rotWithShape="1">
          <a:blip r:embed="rId4" cstate="print">
            <a:extLst>
              <a:ext uri="{28A0092B-C50C-407E-A947-70E740481C1C}">
                <a14:useLocalDpi xmlns:a14="http://schemas.microsoft.com/office/drawing/2010/main" val="0"/>
              </a:ext>
            </a:extLst>
          </a:blip>
          <a:srcRect l="24582" r="23743"/>
          <a:stretch/>
        </p:blipFill>
        <p:spPr>
          <a:xfrm>
            <a:off x="2042151" y="857250"/>
            <a:ext cx="1951058" cy="2160000"/>
          </a:xfrm>
          <a:prstGeom prst="rect">
            <a:avLst/>
          </a:prstGeom>
        </p:spPr>
      </p:pic>
      <p:pic>
        <p:nvPicPr>
          <p:cNvPr id="7" name="图片 6"/>
          <p:cNvPicPr>
            <a:picLocks noChangeAspect="1"/>
          </p:cNvPicPr>
          <p:nvPr/>
        </p:nvPicPr>
        <p:blipFill rotWithShape="1">
          <a:blip r:embed="rId5" cstate="print">
            <a:extLst>
              <a:ext uri="{28A0092B-C50C-407E-A947-70E740481C1C}">
                <a14:useLocalDpi xmlns:a14="http://schemas.microsoft.com/office/drawing/2010/main" val="0"/>
              </a:ext>
            </a:extLst>
          </a:blip>
          <a:srcRect l="24582" r="27571"/>
          <a:stretch/>
        </p:blipFill>
        <p:spPr>
          <a:xfrm>
            <a:off x="4572001" y="857250"/>
            <a:ext cx="1806535" cy="2160000"/>
          </a:xfrm>
          <a:prstGeom prst="rect">
            <a:avLst/>
          </a:prstGeom>
        </p:spPr>
      </p:pic>
      <p:pic>
        <p:nvPicPr>
          <p:cNvPr id="8" name="图片 7"/>
          <p:cNvPicPr>
            <a:picLocks noChangeAspect="1"/>
          </p:cNvPicPr>
          <p:nvPr/>
        </p:nvPicPr>
        <p:blipFill rotWithShape="1">
          <a:blip r:embed="rId6" cstate="print">
            <a:extLst>
              <a:ext uri="{28A0092B-C50C-407E-A947-70E740481C1C}">
                <a14:useLocalDpi xmlns:a14="http://schemas.microsoft.com/office/drawing/2010/main" val="0"/>
              </a:ext>
            </a:extLst>
          </a:blip>
          <a:srcRect l="27334" r="23384"/>
          <a:stretch/>
        </p:blipFill>
        <p:spPr>
          <a:xfrm>
            <a:off x="6972272" y="857250"/>
            <a:ext cx="1860731" cy="2160000"/>
          </a:xfrm>
          <a:prstGeom prst="rect">
            <a:avLst/>
          </a:prstGeom>
        </p:spPr>
      </p:pic>
    </p:spTree>
    <p:extLst>
      <p:ext uri="{BB962C8B-B14F-4D97-AF65-F5344CB8AC3E}">
        <p14:creationId xmlns:p14="http://schemas.microsoft.com/office/powerpoint/2010/main" val="2471807738"/>
      </p:ext>
    </p:extLst>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研究背景及意义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88806" y="2094122"/>
            <a:ext cx="8311028" cy="4270583"/>
          </a:xfrm>
        </p:spPr>
        <p:txBody>
          <a:bodyPr>
            <a:normAutofit fontScale="92500"/>
          </a:bodyPr>
          <a:lstStyle/>
          <a:p>
            <a:pPr marL="214313" indent="-214313">
              <a:buClr>
                <a:srgbClr val="00B050"/>
              </a:buClr>
              <a:buFont typeface="Wingdings" panose="05000000000000000000" pitchFamily="2" charset="2"/>
              <a:buChar char="u"/>
            </a:pPr>
            <a:r>
              <a:rPr lang="zh-CN" altLang="zh-CN" sz="2400" dirty="0">
                <a:solidFill>
                  <a:srgbClr val="00B050"/>
                </a:solidFill>
                <a:latin typeface="微软雅黑" panose="020B0503020204020204" pitchFamily="34" charset="-122"/>
                <a:ea typeface="微软雅黑" panose="020B0503020204020204" pitchFamily="34" charset="-122"/>
              </a:rPr>
              <a:t>随着</a:t>
            </a:r>
            <a:r>
              <a:rPr lang="en-US" altLang="zh-CN" sz="2400" dirty="0">
                <a:solidFill>
                  <a:srgbClr val="00B050"/>
                </a:solidFill>
                <a:latin typeface="微软雅黑" panose="020B0503020204020204" pitchFamily="34" charset="-122"/>
                <a:ea typeface="微软雅黑" panose="020B0503020204020204" pitchFamily="34" charset="-122"/>
              </a:rPr>
              <a:t>GIS</a:t>
            </a:r>
            <a:r>
              <a:rPr lang="zh-CN" altLang="zh-CN" sz="2400" dirty="0">
                <a:solidFill>
                  <a:srgbClr val="00B050"/>
                </a:solidFill>
                <a:latin typeface="微软雅黑" panose="020B0503020204020204" pitchFamily="34" charset="-122"/>
                <a:ea typeface="微软雅黑" panose="020B0503020204020204" pitchFamily="34" charset="-122"/>
              </a:rPr>
              <a:t>服务领域的不断</a:t>
            </a:r>
            <a:r>
              <a:rPr lang="zh-CN" altLang="zh-CN" sz="2400" dirty="0" smtClean="0">
                <a:solidFill>
                  <a:srgbClr val="00B050"/>
                </a:solidFill>
                <a:latin typeface="微软雅黑" panose="020B0503020204020204" pitchFamily="34" charset="-122"/>
                <a:ea typeface="微软雅黑" panose="020B0503020204020204" pitchFamily="34" charset="-122"/>
              </a:rPr>
              <a:t>拓展</a:t>
            </a:r>
            <a:r>
              <a:rPr lang="zh-CN" altLang="en-US" sz="2400" dirty="0" smtClean="0">
                <a:solidFill>
                  <a:srgbClr val="00B050"/>
                </a:solidFill>
                <a:latin typeface="微软雅黑" panose="020B0503020204020204" pitchFamily="34" charset="-122"/>
                <a:ea typeface="微软雅黑" panose="020B0503020204020204" pitchFamily="34" charset="-122"/>
              </a:rPr>
              <a:t>，三维数字城市的重建越来越重要</a:t>
            </a:r>
            <a:endParaRPr lang="en-US" altLang="zh-CN" sz="2400" dirty="0" smtClean="0">
              <a:solidFill>
                <a:srgbClr val="00B05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zh-CN" sz="2250" dirty="0" smtClean="0">
                <a:solidFill>
                  <a:srgbClr val="00B050"/>
                </a:solidFill>
                <a:latin typeface="微软雅黑" panose="020B0503020204020204" pitchFamily="34" charset="-122"/>
                <a:ea typeface="微软雅黑" panose="020B0503020204020204" pitchFamily="34" charset="-122"/>
              </a:rPr>
              <a:t>导航</a:t>
            </a:r>
            <a:r>
              <a:rPr lang="zh-CN" altLang="zh-CN" sz="2250" dirty="0">
                <a:solidFill>
                  <a:srgbClr val="00B050"/>
                </a:solidFill>
                <a:latin typeface="微软雅黑" panose="020B0503020204020204" pitchFamily="34" charset="-122"/>
                <a:ea typeface="微软雅黑" panose="020B0503020204020204" pitchFamily="34" charset="-122"/>
              </a:rPr>
              <a:t>、城市漫游、城乡规划、遗迹保护、</a:t>
            </a:r>
            <a:r>
              <a:rPr lang="zh-CN" altLang="zh-CN" sz="2250" dirty="0" smtClean="0">
                <a:solidFill>
                  <a:srgbClr val="00B050"/>
                </a:solidFill>
                <a:latin typeface="微软雅黑" panose="020B0503020204020204" pitchFamily="34" charset="-122"/>
                <a:ea typeface="微软雅黑" panose="020B0503020204020204" pitchFamily="34" charset="-122"/>
              </a:rPr>
              <a:t>风险分析</a:t>
            </a:r>
            <a:endParaRPr lang="en-US" altLang="zh-CN" sz="2250" dirty="0" smtClean="0">
              <a:solidFill>
                <a:srgbClr val="00B050"/>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550" dirty="0" smtClean="0">
                <a:solidFill>
                  <a:srgbClr val="7030A0"/>
                </a:solidFill>
                <a:latin typeface="微软雅黑" panose="020B0503020204020204" pitchFamily="34" charset="-122"/>
                <a:ea typeface="微软雅黑" panose="020B0503020204020204" pitchFamily="34" charset="-122"/>
              </a:rPr>
              <a:t>传统的</a:t>
            </a:r>
            <a:r>
              <a:rPr lang="zh-CN" altLang="en-US" sz="2550" dirty="0">
                <a:solidFill>
                  <a:srgbClr val="7030A0"/>
                </a:solidFill>
                <a:latin typeface="微软雅黑" panose="020B0503020204020204" pitchFamily="34" charset="-122"/>
                <a:ea typeface="微软雅黑" panose="020B0503020204020204" pitchFamily="34" charset="-122"/>
              </a:rPr>
              <a:t>方法主要是基于人工或是半自动的重建，人工建立城市模型需要建模者要有一定的经验，并耗费大量时间</a:t>
            </a:r>
            <a:endParaRPr lang="en-US" altLang="zh-CN" sz="2550" dirty="0" smtClean="0">
              <a:solidFill>
                <a:srgbClr val="7030A0"/>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400" dirty="0" smtClean="0">
                <a:solidFill>
                  <a:srgbClr val="FFC000"/>
                </a:solidFill>
                <a:latin typeface="微软雅黑" panose="020B0503020204020204" pitchFamily="34" charset="-122"/>
                <a:ea typeface="微软雅黑" panose="020B0503020204020204" pitchFamily="34" charset="-122"/>
              </a:rPr>
              <a:t>随着</a:t>
            </a:r>
            <a:r>
              <a:rPr lang="zh-CN" altLang="en-US" sz="2400" dirty="0">
                <a:solidFill>
                  <a:srgbClr val="FFC000"/>
                </a:solidFill>
                <a:latin typeface="微软雅黑" panose="020B0503020204020204" pitchFamily="34" charset="-122"/>
                <a:ea typeface="微软雅黑" panose="020B0503020204020204" pitchFamily="34" charset="-122"/>
              </a:rPr>
              <a:t>激光雷达技术的发展</a:t>
            </a:r>
            <a:r>
              <a:rPr lang="zh-CN" altLang="en-US" sz="2400" dirty="0" smtClean="0">
                <a:solidFill>
                  <a:srgbClr val="FFC000"/>
                </a:solidFill>
                <a:latin typeface="微软雅黑" panose="020B0503020204020204" pitchFamily="34" charset="-122"/>
                <a:ea typeface="微软雅黑" panose="020B0503020204020204" pitchFamily="34" charset="-122"/>
              </a:rPr>
              <a:t>，得到城市的点云越来越容易</a:t>
            </a:r>
            <a:endParaRPr lang="zh-CN" sz="2000" dirty="0"/>
          </a:p>
          <a:p>
            <a:endParaRPr lang="zh-CN" sz="2000" dirty="0"/>
          </a:p>
        </p:txBody>
      </p:sp>
      <p:sp>
        <p:nvSpPr>
          <p:cNvPr id="4" name="文本框 3"/>
          <p:cNvSpPr txBox="1"/>
          <p:nvPr/>
        </p:nvSpPr>
        <p:spPr>
          <a:xfrm rot="345385">
            <a:off x="3201958" y="670259"/>
            <a:ext cx="5758372" cy="1077218"/>
          </a:xfrm>
          <a:prstGeom prst="rect">
            <a:avLst/>
          </a:prstGeom>
          <a:solidFill>
            <a:schemeClr val="accent1"/>
          </a:solidFill>
        </p:spPr>
        <p:txBody>
          <a:bodyPr wrap="square" rtlCol="0">
            <a:spAutoFit/>
          </a:bodyPr>
          <a:lstStyle/>
          <a:p>
            <a:r>
              <a:rPr lang="zh-CN" altLang="en-US" sz="3200" b="1" dirty="0">
                <a:ln w="0"/>
                <a:solidFill>
                  <a:srgbClr val="FFFF00"/>
                </a:solidFill>
                <a:effectLst>
                  <a:outerShdw blurRad="38100" dist="19050" dir="2700000" algn="tl" rotWithShape="0">
                    <a:schemeClr val="dk1">
                      <a:alpha val="40000"/>
                    </a:schemeClr>
                  </a:outerShdw>
                </a:effectLst>
              </a:rPr>
              <a:t>如何从建筑立面的激光雷达点云中自动化恢复</a:t>
            </a:r>
            <a:r>
              <a:rPr lang="zh-CN" altLang="en-US" sz="3200" b="1" dirty="0" smtClean="0">
                <a:ln w="0"/>
                <a:solidFill>
                  <a:srgbClr val="FFFF00"/>
                </a:solidFill>
                <a:effectLst>
                  <a:outerShdw blurRad="38100" dist="19050" dir="2700000" algn="tl" rotWithShape="0">
                    <a:schemeClr val="dk1">
                      <a:alpha val="40000"/>
                    </a:schemeClr>
                  </a:outerShdw>
                </a:effectLst>
              </a:rPr>
              <a:t>其三维结构？</a:t>
            </a:r>
            <a:endParaRPr lang="zh-CN" altLang="en-US" sz="3200" b="1" dirty="0">
              <a:ln w="0"/>
              <a:solidFill>
                <a:srgbClr val="FFFF0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09073389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6" presetClass="entr" presetSubtype="21"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inVertical)">
                                      <p:cBhvr>
                                        <p:cTn id="2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建筑立面建模研究现状</a:t>
            </a:r>
            <a:endParaRPr lang="zh-CN" altLang="en-US" dirty="0"/>
          </a:p>
        </p:txBody>
      </p:sp>
      <p:sp>
        <p:nvSpPr>
          <p:cNvPr id="3" name="Content Placeholder 2"/>
          <p:cNvSpPr>
            <a:spLocks noGrp="1"/>
          </p:cNvSpPr>
          <p:nvPr>
            <p:ph idx="1"/>
          </p:nvPr>
        </p:nvSpPr>
        <p:spPr>
          <a:xfrm>
            <a:off x="628651" y="1825625"/>
            <a:ext cx="7625011" cy="4351338"/>
          </a:xfrm>
        </p:spPr>
        <p:txBody>
          <a:bodyPr>
            <a:noAutofit/>
          </a:bodyPr>
          <a:lstStyle/>
          <a:p>
            <a:pPr marL="214313" indent="-214313">
              <a:buClr>
                <a:srgbClr val="00B050"/>
              </a:buClr>
              <a:buFont typeface="Wingdings" panose="05000000000000000000" pitchFamily="2" charset="2"/>
              <a:buChar char="u"/>
            </a:pPr>
            <a:r>
              <a:rPr lang="zh-CN" altLang="en-US" sz="2400" b="1" dirty="0">
                <a:solidFill>
                  <a:srgbClr val="0070C0"/>
                </a:solidFill>
                <a:latin typeface="微软雅黑" panose="020B0503020204020204" pitchFamily="34" charset="-122"/>
                <a:ea typeface="微软雅黑" panose="020B0503020204020204" pitchFamily="34" charset="-122"/>
              </a:rPr>
              <a:t>基</a:t>
            </a:r>
            <a:r>
              <a:rPr lang="zh-CN" altLang="en-US" sz="2400" b="1" dirty="0" smtClean="0">
                <a:solidFill>
                  <a:srgbClr val="0070C0"/>
                </a:solidFill>
                <a:latin typeface="微软雅黑" panose="020B0503020204020204" pitchFamily="34" charset="-122"/>
                <a:ea typeface="微软雅黑" panose="020B0503020204020204" pitchFamily="34" charset="-122"/>
              </a:rPr>
              <a:t>于数据驱动的方法</a:t>
            </a:r>
            <a:endParaRPr lang="en-US" altLang="zh-CN" sz="2400" b="1" dirty="0" smtClean="0">
              <a:solidFill>
                <a:srgbClr val="0070C0"/>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a:solidFill>
                  <a:schemeClr val="tx1"/>
                </a:solidFill>
                <a:latin typeface="微软雅黑" panose="020B0503020204020204" pitchFamily="34" charset="-122"/>
                <a:ea typeface="微软雅黑" panose="020B0503020204020204" pitchFamily="34" charset="-122"/>
              </a:rPr>
              <a:t>无</a:t>
            </a:r>
            <a:r>
              <a:rPr lang="zh-CN" altLang="en-US" sz="2000" dirty="0" smtClean="0">
                <a:solidFill>
                  <a:schemeClr val="tx1"/>
                </a:solidFill>
                <a:latin typeface="微软雅黑" panose="020B0503020204020204" pitchFamily="34" charset="-122"/>
                <a:ea typeface="微软雅黑" panose="020B0503020204020204" pitchFamily="34" charset="-122"/>
              </a:rPr>
              <a:t>法很好地揭示建筑的语义特征（如门、窗、阳台等）</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a:solidFill>
                  <a:schemeClr val="tx1"/>
                </a:solidFill>
                <a:latin typeface="微软雅黑" panose="020B0503020204020204" pitchFamily="34" charset="-122"/>
                <a:ea typeface="微软雅黑" panose="020B0503020204020204" pitchFamily="34" charset="-122"/>
              </a:rPr>
              <a:t>建</a:t>
            </a:r>
            <a:r>
              <a:rPr lang="zh-CN" altLang="en-US" sz="2000" dirty="0" smtClean="0">
                <a:solidFill>
                  <a:schemeClr val="tx1"/>
                </a:solidFill>
                <a:latin typeface="微软雅黑" panose="020B0503020204020204" pitchFamily="34" charset="-122"/>
                <a:ea typeface="微软雅黑" panose="020B0503020204020204" pitchFamily="34" charset="-122"/>
              </a:rPr>
              <a:t>模受点云数据缺失的影响较大</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400" b="1" dirty="0">
                <a:solidFill>
                  <a:srgbClr val="0070C0"/>
                </a:solidFill>
                <a:latin typeface="微软雅黑" panose="020B0503020204020204" pitchFamily="34" charset="-122"/>
                <a:ea typeface="微软雅黑" panose="020B0503020204020204" pitchFamily="34" charset="-122"/>
              </a:rPr>
              <a:t>基</a:t>
            </a:r>
            <a:r>
              <a:rPr lang="zh-CN" altLang="en-US" sz="2400" b="1" dirty="0" smtClean="0">
                <a:solidFill>
                  <a:srgbClr val="0070C0"/>
                </a:solidFill>
                <a:latin typeface="微软雅黑" panose="020B0503020204020204" pitchFamily="34" charset="-122"/>
                <a:ea typeface="微软雅黑" panose="020B0503020204020204" pitchFamily="34" charset="-122"/>
              </a:rPr>
              <a:t>于</a:t>
            </a:r>
            <a:r>
              <a:rPr lang="zh-CN" altLang="en-US" sz="2400" b="1" dirty="0">
                <a:solidFill>
                  <a:srgbClr val="0070C0"/>
                </a:solidFill>
                <a:latin typeface="微软雅黑" panose="020B0503020204020204" pitchFamily="34" charset="-122"/>
                <a:ea typeface="微软雅黑" panose="020B0503020204020204" pitchFamily="34" charset="-122"/>
              </a:rPr>
              <a:t>模型</a:t>
            </a:r>
            <a:r>
              <a:rPr lang="zh-CN" altLang="en-US" sz="2400" b="1" dirty="0" smtClean="0">
                <a:solidFill>
                  <a:srgbClr val="0070C0"/>
                </a:solidFill>
                <a:latin typeface="微软雅黑" panose="020B0503020204020204" pitchFamily="34" charset="-122"/>
                <a:ea typeface="微软雅黑" panose="020B0503020204020204" pitchFamily="34" charset="-122"/>
              </a:rPr>
              <a:t>驱</a:t>
            </a:r>
            <a:r>
              <a:rPr lang="zh-CN" altLang="en-US" sz="2400" b="1" dirty="0">
                <a:solidFill>
                  <a:srgbClr val="0070C0"/>
                </a:solidFill>
                <a:latin typeface="微软雅黑" panose="020B0503020204020204" pitchFamily="34" charset="-122"/>
                <a:ea typeface="微软雅黑" panose="020B0503020204020204" pitchFamily="34" charset="-122"/>
              </a:rPr>
              <a:t>动的方法</a:t>
            </a:r>
            <a:endParaRPr lang="en-US" altLang="zh-CN" sz="2400" b="1" dirty="0">
              <a:solidFill>
                <a:srgbClr val="0070C0"/>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smtClean="0">
                <a:solidFill>
                  <a:schemeClr val="tx1"/>
                </a:solidFill>
                <a:latin typeface="微软雅黑" panose="020B0503020204020204" pitchFamily="34" charset="-122"/>
                <a:ea typeface="微软雅黑" panose="020B0503020204020204" pitchFamily="34" charset="-122"/>
              </a:rPr>
              <a:t>如何设计一个统一的模型来描述现实世界中复杂多样的建筑</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smtClean="0">
                <a:solidFill>
                  <a:schemeClr val="tx1"/>
                </a:solidFill>
                <a:latin typeface="微软雅黑" panose="020B0503020204020204" pitchFamily="34" charset="-122"/>
                <a:ea typeface="微软雅黑" panose="020B0503020204020204" pitchFamily="34" charset="-122"/>
              </a:rPr>
              <a:t>如何高效地求解建筑的立面模型</a:t>
            </a:r>
            <a:endParaRPr lang="zh-CN" altLang="en-US" sz="2000"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2369462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 calcmode="lin" valueType="num">
                                      <p:cBhvr additive="base">
                                        <p:cTn id="1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anim calcmode="lin" valueType="num">
                                      <p:cBhvr additive="base">
                                        <p:cTn id="19"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 calcmode="lin" valueType="num">
                                      <p:cBhvr additive="base">
                                        <p:cTn id="2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圆角矩形 17"/>
          <p:cNvSpPr/>
          <p:nvPr/>
        </p:nvSpPr>
        <p:spPr>
          <a:xfrm>
            <a:off x="3500901" y="2251080"/>
            <a:ext cx="1469378"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2" name="标题 1"/>
          <p:cNvSpPr>
            <a:spLocks noGrp="1"/>
          </p:cNvSpPr>
          <p:nvPr>
            <p:ph type="title"/>
          </p:nvPr>
        </p:nvSpPr>
        <p:spPr/>
        <p:txBody>
          <a:bodyPr/>
          <a:lstStyle/>
          <a:p>
            <a:r>
              <a:rPr lang="zh-CN" altLang="en-US" dirty="0" smtClean="0"/>
              <a:t>算法概述</a:t>
            </a:r>
            <a:endParaRPr lang="zh-CN" altLang="en-US" dirty="0"/>
          </a:p>
        </p:txBody>
      </p:sp>
      <p:sp>
        <p:nvSpPr>
          <p:cNvPr id="5" name="圆角矩形 4"/>
          <p:cNvSpPr/>
          <p:nvPr/>
        </p:nvSpPr>
        <p:spPr>
          <a:xfrm>
            <a:off x="7758316" y="4450393"/>
            <a:ext cx="1353816" cy="715090"/>
          </a:xfrm>
          <a:prstGeom prst="roundRect">
            <a:avLst/>
          </a:prstGeom>
          <a:solidFill>
            <a:schemeClr val="lt1">
              <a:alpha val="0"/>
            </a:schemeClr>
          </a:solidFill>
          <a:ln>
            <a:solidFill>
              <a:schemeClr val="accent6">
                <a:alpha val="50000"/>
              </a:schemeClr>
            </a:solidFill>
          </a:ln>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chemeClr val="accent2"/>
                </a:solidFill>
              </a:rPr>
              <a:t>建筑立面三维模型</a:t>
            </a:r>
          </a:p>
        </p:txBody>
      </p:sp>
      <p:sp>
        <p:nvSpPr>
          <p:cNvPr id="6" name="圆角矩形 5"/>
          <p:cNvSpPr/>
          <p:nvPr/>
        </p:nvSpPr>
        <p:spPr>
          <a:xfrm>
            <a:off x="1074677" y="2251080"/>
            <a:ext cx="1419413"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7" name="圆角矩形 6"/>
          <p:cNvSpPr/>
          <p:nvPr/>
        </p:nvSpPr>
        <p:spPr>
          <a:xfrm>
            <a:off x="5086341" y="4170407"/>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2"/>
                </a:solidFill>
              </a:rPr>
              <a:t>最优语义解译</a:t>
            </a:r>
            <a:endParaRPr lang="zh-CN" altLang="en-US" b="1" dirty="0">
              <a:solidFill>
                <a:schemeClr val="accent2"/>
              </a:solidFill>
            </a:endParaRPr>
          </a:p>
        </p:txBody>
      </p:sp>
      <p:sp>
        <p:nvSpPr>
          <p:cNvPr id="8" name="圆角矩形 7"/>
          <p:cNvSpPr/>
          <p:nvPr/>
        </p:nvSpPr>
        <p:spPr>
          <a:xfrm>
            <a:off x="112132" y="2495914"/>
            <a:ext cx="927250" cy="715090"/>
          </a:xfrm>
          <a:prstGeom prst="roundRect">
            <a:avLst/>
          </a:prstGeom>
          <a:solidFill>
            <a:srgbClr val="FF6699">
              <a:alpha val="0"/>
            </a:srgb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2"/>
                </a:solidFill>
              </a:rPr>
              <a:t>原始点云</a:t>
            </a:r>
            <a:endParaRPr lang="zh-CN" altLang="en-US" b="1" dirty="0">
              <a:solidFill>
                <a:schemeClr val="accent2"/>
              </a:solidFill>
            </a:endParaRPr>
          </a:p>
        </p:txBody>
      </p:sp>
      <p:sp>
        <p:nvSpPr>
          <p:cNvPr id="9" name="圆角矩形 8"/>
          <p:cNvSpPr/>
          <p:nvPr/>
        </p:nvSpPr>
        <p:spPr>
          <a:xfrm>
            <a:off x="112132" y="3721710"/>
            <a:ext cx="92725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5"/>
                </a:solidFill>
              </a:rPr>
              <a:t>预处理</a:t>
            </a:r>
            <a:endParaRPr lang="zh-CN" altLang="en-US" b="1" dirty="0">
              <a:solidFill>
                <a:schemeClr val="accent5"/>
              </a:solidFill>
            </a:endParaRPr>
          </a:p>
        </p:txBody>
      </p:sp>
      <p:sp>
        <p:nvSpPr>
          <p:cNvPr id="10" name="圆角矩形 9"/>
          <p:cNvSpPr/>
          <p:nvPr/>
        </p:nvSpPr>
        <p:spPr>
          <a:xfrm>
            <a:off x="1231978" y="4751583"/>
            <a:ext cx="1106354"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7030A0"/>
                </a:solidFill>
              </a:rPr>
              <a:t>点云</a:t>
            </a:r>
            <a:r>
              <a:rPr lang="zh-CN" altLang="en-US" b="1" dirty="0" smtClean="0">
                <a:solidFill>
                  <a:srgbClr val="7030A0"/>
                </a:solidFill>
              </a:rPr>
              <a:t>特征提取</a:t>
            </a:r>
            <a:endParaRPr lang="zh-CN" altLang="en-US" b="1" dirty="0">
              <a:solidFill>
                <a:srgbClr val="7030A0"/>
              </a:solidFill>
            </a:endParaRPr>
          </a:p>
        </p:txBody>
      </p:sp>
      <p:sp>
        <p:nvSpPr>
          <p:cNvPr id="11" name="圆角矩形 10"/>
          <p:cNvSpPr/>
          <p:nvPr/>
        </p:nvSpPr>
        <p:spPr>
          <a:xfrm>
            <a:off x="1215082" y="3606289"/>
            <a:ext cx="1140144" cy="408623"/>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none" rtlCol="0" anchor="ctr">
            <a:spAutoFit/>
          </a:bodyPr>
          <a:lstStyle/>
          <a:p>
            <a:pPr lvl="0" algn="ctr"/>
            <a:r>
              <a:rPr lang="zh-CN" altLang="en-US" b="1" dirty="0" smtClean="0">
                <a:solidFill>
                  <a:srgbClr val="7030A0"/>
                </a:solidFill>
              </a:rPr>
              <a:t>点云分类</a:t>
            </a:r>
            <a:endParaRPr lang="zh-CN" altLang="en-US" b="1" dirty="0">
              <a:solidFill>
                <a:srgbClr val="7030A0"/>
              </a:solidFill>
            </a:endParaRPr>
          </a:p>
        </p:txBody>
      </p:sp>
      <p:cxnSp>
        <p:nvCxnSpPr>
          <p:cNvPr id="12" name="直接箭头连接符 11"/>
          <p:cNvCxnSpPr>
            <a:stCxn id="8" idx="2"/>
            <a:endCxn id="9" idx="0"/>
          </p:cNvCxnSpPr>
          <p:nvPr/>
        </p:nvCxnSpPr>
        <p:spPr>
          <a:xfrm>
            <a:off x="575757" y="3211004"/>
            <a:ext cx="0" cy="510706"/>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cxnSp>
        <p:nvCxnSpPr>
          <p:cNvPr id="13" name="形状 51"/>
          <p:cNvCxnSpPr/>
          <p:nvPr/>
        </p:nvCxnSpPr>
        <p:spPr>
          <a:xfrm rot="16200000" flipH="1">
            <a:off x="562225" y="4521925"/>
            <a:ext cx="678352" cy="596089"/>
          </a:xfrm>
          <a:prstGeom prst="bentConnector2">
            <a:avLst/>
          </a:prstGeom>
          <a:ln>
            <a:tailEnd type="arrow"/>
          </a:ln>
        </p:spPr>
        <p:style>
          <a:lnRef idx="2">
            <a:schemeClr val="accent5"/>
          </a:lnRef>
          <a:fillRef idx="0">
            <a:schemeClr val="accent5"/>
          </a:fillRef>
          <a:effectRef idx="1">
            <a:schemeClr val="accent5"/>
          </a:effectRef>
          <a:fontRef idx="minor">
            <a:schemeClr val="tx1"/>
          </a:fontRef>
        </p:style>
      </p:cxnSp>
      <p:cxnSp>
        <p:nvCxnSpPr>
          <p:cNvPr id="14" name="直接箭头连接符 13"/>
          <p:cNvCxnSpPr/>
          <p:nvPr/>
        </p:nvCxnSpPr>
        <p:spPr>
          <a:xfrm rot="10800000">
            <a:off x="1795841" y="4181141"/>
            <a:ext cx="0" cy="546622"/>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15" name="TextBox 58"/>
          <p:cNvSpPr txBox="1"/>
          <p:nvPr/>
        </p:nvSpPr>
        <p:spPr>
          <a:xfrm>
            <a:off x="1126157" y="2396303"/>
            <a:ext cx="1324642" cy="589829"/>
          </a:xfrm>
          <a:prstGeom prst="rect">
            <a:avLst/>
          </a:prstGeom>
          <a:noFill/>
        </p:spPr>
        <p:txBody>
          <a:bodyPr wrap="square" rtlCol="0">
            <a:spAutoFit/>
          </a:bodyPr>
          <a:lstStyle/>
          <a:p>
            <a:pPr algn="ctr"/>
            <a:r>
              <a:rPr lang="zh-CN" altLang="en-US" sz="2000" b="1" i="1" dirty="0" smtClean="0">
                <a:solidFill>
                  <a:srgbClr val="00B0F0"/>
                </a:solidFill>
              </a:rPr>
              <a:t>数据驱动</a:t>
            </a:r>
            <a:r>
              <a:rPr lang="zh-CN" altLang="en-US" sz="2000" b="1" i="1" dirty="0">
                <a:solidFill>
                  <a:srgbClr val="00B0F0"/>
                </a:solidFill>
              </a:rPr>
              <a:t>分类</a:t>
            </a:r>
          </a:p>
        </p:txBody>
      </p:sp>
      <p:cxnSp>
        <p:nvCxnSpPr>
          <p:cNvPr id="16" name="直接箭头连接符 15"/>
          <p:cNvCxnSpPr/>
          <p:nvPr/>
        </p:nvCxnSpPr>
        <p:spPr>
          <a:xfrm>
            <a:off x="2759778" y="3920760"/>
            <a:ext cx="526453" cy="0"/>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17" name="TextBox 41"/>
          <p:cNvSpPr txBox="1"/>
          <p:nvPr/>
        </p:nvSpPr>
        <p:spPr>
          <a:xfrm>
            <a:off x="3603987" y="2392366"/>
            <a:ext cx="1324642" cy="589829"/>
          </a:xfrm>
          <a:prstGeom prst="rect">
            <a:avLst/>
          </a:prstGeom>
          <a:noFill/>
        </p:spPr>
        <p:txBody>
          <a:bodyPr wrap="square" rtlCol="0">
            <a:spAutoFit/>
          </a:bodyPr>
          <a:lstStyle/>
          <a:p>
            <a:pPr algn="ctr"/>
            <a:r>
              <a:rPr lang="zh-CN" altLang="en-US" sz="2000" b="1" i="1" dirty="0" smtClean="0">
                <a:solidFill>
                  <a:srgbClr val="00B0F0"/>
                </a:solidFill>
              </a:rPr>
              <a:t>模型驱动</a:t>
            </a:r>
            <a:r>
              <a:rPr lang="zh-CN" altLang="en-US" sz="2000" b="1" i="1" dirty="0">
                <a:solidFill>
                  <a:srgbClr val="00B0F0"/>
                </a:solidFill>
              </a:rPr>
              <a:t>解译</a:t>
            </a:r>
          </a:p>
        </p:txBody>
      </p:sp>
      <p:sp>
        <p:nvSpPr>
          <p:cNvPr id="19" name="圆角矩形 18"/>
          <p:cNvSpPr/>
          <p:nvPr/>
        </p:nvSpPr>
        <p:spPr>
          <a:xfrm>
            <a:off x="3708202" y="4751583"/>
            <a:ext cx="105175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square" rtlCol="0" anchor="ctr">
            <a:spAutoFit/>
          </a:bodyPr>
          <a:lstStyle/>
          <a:p>
            <a:pPr algn="ctr"/>
            <a:r>
              <a:rPr lang="zh-CN" altLang="en-US" b="1" dirty="0">
                <a:solidFill>
                  <a:srgbClr val="FFC000"/>
                </a:solidFill>
              </a:rPr>
              <a:t>增强</a:t>
            </a:r>
            <a:r>
              <a:rPr lang="zh-CN" altLang="en-US" b="1" dirty="0" smtClean="0">
                <a:solidFill>
                  <a:srgbClr val="FFC000"/>
                </a:solidFill>
              </a:rPr>
              <a:t>学习</a:t>
            </a:r>
            <a:endParaRPr lang="zh-CN" altLang="en-US" b="1" dirty="0">
              <a:solidFill>
                <a:srgbClr val="FFC000"/>
              </a:solidFill>
            </a:endParaRPr>
          </a:p>
        </p:txBody>
      </p:sp>
      <p:sp>
        <p:nvSpPr>
          <p:cNvPr id="20" name="圆角矩形 19"/>
          <p:cNvSpPr/>
          <p:nvPr/>
        </p:nvSpPr>
        <p:spPr>
          <a:xfrm>
            <a:off x="3710397" y="3443872"/>
            <a:ext cx="1049555"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rgbClr val="FFC000"/>
                </a:solidFill>
              </a:rPr>
              <a:t>定义形状语义</a:t>
            </a:r>
            <a:endParaRPr lang="zh-CN" altLang="en-US" b="1" dirty="0">
              <a:solidFill>
                <a:srgbClr val="FFC000"/>
              </a:solidFill>
            </a:endParaRPr>
          </a:p>
        </p:txBody>
      </p:sp>
      <p:cxnSp>
        <p:nvCxnSpPr>
          <p:cNvPr id="21" name="直接箭头连接符 20"/>
          <p:cNvCxnSpPr/>
          <p:nvPr/>
        </p:nvCxnSpPr>
        <p:spPr>
          <a:xfrm rot="10800000" flipV="1">
            <a:off x="4209889" y="4166104"/>
            <a:ext cx="0" cy="530701"/>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22" name="圆角矩形 21"/>
          <p:cNvSpPr/>
          <p:nvPr/>
        </p:nvSpPr>
        <p:spPr>
          <a:xfrm>
            <a:off x="2556544" y="2929778"/>
            <a:ext cx="875356"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square" rtlCol="0" anchor="ctr">
            <a:spAutoFit/>
          </a:bodyPr>
          <a:lstStyle/>
          <a:p>
            <a:pPr algn="ctr"/>
            <a:r>
              <a:rPr lang="zh-CN" altLang="en-US" b="1" dirty="0" smtClean="0">
                <a:solidFill>
                  <a:schemeClr val="accent2"/>
                </a:solidFill>
              </a:rPr>
              <a:t>分类结果</a:t>
            </a:r>
            <a:endParaRPr lang="zh-CN" altLang="en-US" b="1" dirty="0">
              <a:solidFill>
                <a:schemeClr val="accent2"/>
              </a:solidFill>
            </a:endParaRPr>
          </a:p>
        </p:txBody>
      </p:sp>
      <p:sp>
        <p:nvSpPr>
          <p:cNvPr id="23" name="圆角矩形 22"/>
          <p:cNvSpPr/>
          <p:nvPr/>
        </p:nvSpPr>
        <p:spPr>
          <a:xfrm>
            <a:off x="6267366" y="2251081"/>
            <a:ext cx="1323239"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24" name="TextBox 58"/>
          <p:cNvSpPr txBox="1"/>
          <p:nvPr/>
        </p:nvSpPr>
        <p:spPr>
          <a:xfrm>
            <a:off x="6265963" y="2381946"/>
            <a:ext cx="1324642" cy="589829"/>
          </a:xfrm>
          <a:prstGeom prst="rect">
            <a:avLst/>
          </a:prstGeom>
          <a:noFill/>
        </p:spPr>
        <p:txBody>
          <a:bodyPr wrap="square" rtlCol="0">
            <a:spAutoFit/>
          </a:bodyPr>
          <a:lstStyle/>
          <a:p>
            <a:pPr algn="ctr"/>
            <a:r>
              <a:rPr lang="zh-CN" altLang="en-US" sz="2000" b="1" i="1" dirty="0" smtClean="0">
                <a:solidFill>
                  <a:srgbClr val="00B0F0"/>
                </a:solidFill>
              </a:rPr>
              <a:t>三维建模</a:t>
            </a:r>
            <a:endParaRPr lang="zh-CN" altLang="en-US" sz="2000" b="1" i="1" dirty="0">
              <a:solidFill>
                <a:srgbClr val="00B0F0"/>
              </a:solidFill>
            </a:endParaRPr>
          </a:p>
        </p:txBody>
      </p:sp>
      <p:sp>
        <p:nvSpPr>
          <p:cNvPr id="25" name="圆角矩形 24"/>
          <p:cNvSpPr/>
          <p:nvPr/>
        </p:nvSpPr>
        <p:spPr>
          <a:xfrm>
            <a:off x="6435077" y="4663965"/>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00B050"/>
                </a:solidFill>
              </a:rPr>
              <a:t>立</a:t>
            </a:r>
            <a:r>
              <a:rPr lang="zh-CN" altLang="en-US" b="1" dirty="0" smtClean="0">
                <a:solidFill>
                  <a:srgbClr val="00B050"/>
                </a:solidFill>
              </a:rPr>
              <a:t>面平面构造</a:t>
            </a:r>
            <a:endParaRPr lang="zh-CN" altLang="en-US" b="1" dirty="0">
              <a:solidFill>
                <a:srgbClr val="00B050"/>
              </a:solidFill>
            </a:endParaRPr>
          </a:p>
        </p:txBody>
      </p:sp>
      <p:sp>
        <p:nvSpPr>
          <p:cNvPr id="26" name="圆角矩形 25"/>
          <p:cNvSpPr/>
          <p:nvPr/>
        </p:nvSpPr>
        <p:spPr>
          <a:xfrm>
            <a:off x="6403908" y="3454219"/>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00B050"/>
                </a:solidFill>
              </a:rPr>
              <a:t>立</a:t>
            </a:r>
            <a:r>
              <a:rPr lang="zh-CN" altLang="en-US" b="1" dirty="0" smtClean="0">
                <a:solidFill>
                  <a:srgbClr val="00B050"/>
                </a:solidFill>
              </a:rPr>
              <a:t>面深度提取</a:t>
            </a:r>
            <a:endParaRPr lang="zh-CN" altLang="en-US" b="1" dirty="0">
              <a:solidFill>
                <a:srgbClr val="00B050"/>
              </a:solidFill>
            </a:endParaRPr>
          </a:p>
        </p:txBody>
      </p:sp>
      <p:cxnSp>
        <p:nvCxnSpPr>
          <p:cNvPr id="27" name="形状 63"/>
          <p:cNvCxnSpPr/>
          <p:nvPr/>
        </p:nvCxnSpPr>
        <p:spPr>
          <a:xfrm>
            <a:off x="7673254" y="3716778"/>
            <a:ext cx="777658" cy="666522"/>
          </a:xfrm>
          <a:prstGeom prst="bentConnector2">
            <a:avLst/>
          </a:prstGeom>
          <a:ln>
            <a:solidFill>
              <a:schemeClr val="accent5">
                <a:alpha val="50000"/>
              </a:schemeClr>
            </a:solidFill>
            <a:tailEnd type="arrow"/>
          </a:ln>
        </p:spPr>
        <p:style>
          <a:lnRef idx="2">
            <a:schemeClr val="accent5"/>
          </a:lnRef>
          <a:fillRef idx="0">
            <a:schemeClr val="accent5"/>
          </a:fillRef>
          <a:effectRef idx="1">
            <a:schemeClr val="accent5"/>
          </a:effectRef>
          <a:fontRef idx="minor">
            <a:schemeClr val="tx1"/>
          </a:fontRef>
        </p:style>
      </p:cxnSp>
      <p:cxnSp>
        <p:nvCxnSpPr>
          <p:cNvPr id="28" name="直接箭头连接符 27"/>
          <p:cNvCxnSpPr/>
          <p:nvPr/>
        </p:nvCxnSpPr>
        <p:spPr>
          <a:xfrm>
            <a:off x="5342967" y="5147113"/>
            <a:ext cx="526453" cy="0"/>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cxnSp>
        <p:nvCxnSpPr>
          <p:cNvPr id="29" name="直接箭头连接符 28"/>
          <p:cNvCxnSpPr/>
          <p:nvPr/>
        </p:nvCxnSpPr>
        <p:spPr>
          <a:xfrm rot="10800000">
            <a:off x="6883577" y="4151286"/>
            <a:ext cx="0" cy="530701"/>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4274521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形状语义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04585" y="1696455"/>
            <a:ext cx="6060909" cy="3015716"/>
          </a:xfrm>
        </p:spPr>
        <p:txBody>
          <a:bodyPr>
            <a:normAutofit fontScale="77500" lnSpcReduction="20000"/>
          </a:bodyPr>
          <a:lstStyle/>
          <a:p>
            <a:pPr marL="128588" indent="-128588">
              <a:buClr>
                <a:srgbClr val="00B050"/>
              </a:buClr>
              <a:buFont typeface="Wingdings" panose="05000000000000000000" pitchFamily="2" charset="2"/>
              <a:buChar char="u"/>
            </a:pPr>
            <a:r>
              <a:rPr lang="zh-CN" altLang="en-US" sz="2800" b="1" dirty="0" smtClean="0">
                <a:solidFill>
                  <a:srgbClr val="0070C0"/>
                </a:solidFill>
                <a:latin typeface="微软雅黑" panose="020B0503020204020204" pitchFamily="34" charset="-122"/>
                <a:ea typeface="微软雅黑" panose="020B0503020204020204" pitchFamily="34" charset="-122"/>
              </a:rPr>
              <a:t>动态地描述复杂的结构化几何体的方法</a:t>
            </a:r>
            <a:endParaRPr lang="en-US" altLang="zh-CN" sz="2800" b="1" dirty="0" smtClean="0">
              <a:solidFill>
                <a:srgbClr val="0070C0"/>
              </a:solidFill>
              <a:latin typeface="微软雅黑" panose="020B0503020204020204" pitchFamily="34" charset="-122"/>
              <a:ea typeface="微软雅黑" panose="020B0503020204020204" pitchFamily="34" charset="-122"/>
            </a:endParaRPr>
          </a:p>
          <a:p>
            <a:pPr marL="128588" indent="-128588">
              <a:buClr>
                <a:srgbClr val="00B050"/>
              </a:buClr>
              <a:buFont typeface="Wingdings" panose="05000000000000000000" pitchFamily="2" charset="2"/>
              <a:buChar char="u"/>
            </a:pPr>
            <a:r>
              <a:rPr lang="zh-CN" altLang="en-US" sz="2800" b="1" dirty="0">
                <a:solidFill>
                  <a:srgbClr val="0070C0"/>
                </a:solidFill>
                <a:latin typeface="微软雅黑" panose="020B0503020204020204" pitchFamily="34" charset="-122"/>
                <a:ea typeface="微软雅黑" panose="020B0503020204020204" pitchFamily="34" charset="-122"/>
              </a:rPr>
              <a:t>分</a:t>
            </a:r>
            <a:r>
              <a:rPr lang="zh-CN" altLang="en-US" sz="2800" b="1" dirty="0" smtClean="0">
                <a:solidFill>
                  <a:srgbClr val="0070C0"/>
                </a:solidFill>
                <a:latin typeface="微软雅黑" panose="020B0503020204020204" pitchFamily="34" charset="-122"/>
                <a:ea typeface="微软雅黑" panose="020B0503020204020204" pitchFamily="34" charset="-122"/>
              </a:rPr>
              <a:t>形、植物、建筑可以通过一些基本的操作一步步递归地以一种简单的方式生成</a:t>
            </a:r>
            <a:endParaRPr lang="en-US" altLang="zh-CN" sz="2800" b="1" dirty="0" smtClean="0">
              <a:solidFill>
                <a:srgbClr val="0070C0"/>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en-US" altLang="zh-CN" sz="2400" dirty="0" smtClean="0">
                <a:solidFill>
                  <a:schemeClr val="tx1"/>
                </a:solidFill>
                <a:latin typeface="微软雅黑" panose="020B0503020204020204" pitchFamily="34" charset="-122"/>
                <a:ea typeface="微软雅黑" panose="020B0503020204020204" pitchFamily="34" charset="-122"/>
              </a:rPr>
              <a:t>L</a:t>
            </a:r>
            <a:r>
              <a:rPr lang="zh-CN" altLang="en-US" sz="2400" dirty="0" smtClean="0">
                <a:solidFill>
                  <a:schemeClr val="tx1"/>
                </a:solidFill>
                <a:latin typeface="微软雅黑" panose="020B0503020204020204" pitchFamily="34" charset="-122"/>
                <a:ea typeface="微软雅黑" panose="020B0503020204020204" pitchFamily="34" charset="-122"/>
              </a:rPr>
              <a:t>系统</a:t>
            </a:r>
            <a:endParaRPr lang="en-US" altLang="zh-CN" sz="24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2400" dirty="0">
                <a:solidFill>
                  <a:schemeClr val="tx1"/>
                </a:solidFill>
                <a:latin typeface="微软雅黑" panose="020B0503020204020204" pitchFamily="34" charset="-122"/>
                <a:ea typeface="微软雅黑" panose="020B0503020204020204" pitchFamily="34" charset="-122"/>
              </a:rPr>
              <a:t>二</a:t>
            </a:r>
            <a:r>
              <a:rPr lang="zh-CN" altLang="en-US" sz="2400" dirty="0" smtClean="0">
                <a:solidFill>
                  <a:schemeClr val="tx1"/>
                </a:solidFill>
                <a:latin typeface="微软雅黑" panose="020B0503020204020204" pitchFamily="34" charset="-122"/>
                <a:ea typeface="微软雅黑" panose="020B0503020204020204" pitchFamily="34" charset="-122"/>
              </a:rPr>
              <a:t>分形状语义</a:t>
            </a:r>
            <a:endParaRPr lang="en-US" altLang="zh-CN" sz="24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endParaRPr lang="zh-CN" dirty="0">
              <a:latin typeface="Microsoft YaHei UI" panose="020B0503020204020204" pitchFamily="34" charset="-122"/>
              <a:ea typeface="Microsoft YaHei UI" panose="020B0503020204020204" pitchFamily="34" charset="-122"/>
            </a:endParaRPr>
          </a:p>
        </p:txBody>
      </p:sp>
      <p:pic>
        <p:nvPicPr>
          <p:cNvPr id="1026" name="Picture 2" descr="C:\Users\drifters\Downloads\cvpr2010\images\monge_119bis.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558" y="2498919"/>
            <a:ext cx="2257425" cy="3964781"/>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D:\Xu Xiang\new_workspace\graduation-thesis-defenses\images\486px-Serpinski_Lsystem.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1258" y="4736234"/>
            <a:ext cx="1892597" cy="162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Xu Xiang\new_workspace\graduation-thesis-defenses\images\320px-Fractal_weeds.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53752" y="4589598"/>
            <a:ext cx="3048000" cy="1790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867600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down)">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down)">
                                      <p:cBhvr>
                                        <p:cTn id="12" dur="500"/>
                                        <p:tgtEl>
                                          <p:spTgt spid="3">
                                            <p:txEl>
                                              <p:pRg st="1" end="1"/>
                                            </p:txEl>
                                          </p:spTgt>
                                        </p:tgtEl>
                                      </p:cBhvr>
                                    </p:animEffect>
                                  </p:childTnLst>
                                </p:cTn>
                              </p:par>
                              <p:par>
                                <p:cTn id="13" presetID="22" presetClass="entr" presetSubtype="4" fill="hold" nodeType="withEffect">
                                  <p:stCondLst>
                                    <p:cond delay="0"/>
                                  </p:stCondLst>
                                  <p:childTnLst>
                                    <p:set>
                                      <p:cBhvr>
                                        <p:cTn id="14" dur="1" fill="hold">
                                          <p:stCondLst>
                                            <p:cond delay="0"/>
                                          </p:stCondLst>
                                        </p:cTn>
                                        <p:tgtEl>
                                          <p:spTgt spid="1026"/>
                                        </p:tgtEl>
                                        <p:attrNameLst>
                                          <p:attrName>style.visibility</p:attrName>
                                        </p:attrNameLst>
                                      </p:cBhvr>
                                      <p:to>
                                        <p:strVal val="visible"/>
                                      </p:to>
                                    </p:set>
                                    <p:animEffect transition="in" filter="wipe(down)">
                                      <p:cBhvr>
                                        <p:cTn id="15" dur="500"/>
                                        <p:tgtEl>
                                          <p:spTgt spid="1026"/>
                                        </p:tgtEl>
                                      </p:cBhvr>
                                    </p:animEffect>
                                  </p:childTnLst>
                                </p:cTn>
                              </p:par>
                              <p:par>
                                <p:cTn id="16" presetID="22" presetClass="entr" presetSubtype="4" fill="hold" nodeType="withEffect">
                                  <p:stCondLst>
                                    <p:cond delay="0"/>
                                  </p:stCondLst>
                                  <p:childTnLst>
                                    <p:set>
                                      <p:cBhvr>
                                        <p:cTn id="17" dur="1" fill="hold">
                                          <p:stCondLst>
                                            <p:cond delay="0"/>
                                          </p:stCondLst>
                                        </p:cTn>
                                        <p:tgtEl>
                                          <p:spTgt spid="1028"/>
                                        </p:tgtEl>
                                        <p:attrNameLst>
                                          <p:attrName>style.visibility</p:attrName>
                                        </p:attrNameLst>
                                      </p:cBhvr>
                                      <p:to>
                                        <p:strVal val="visible"/>
                                      </p:to>
                                    </p:set>
                                    <p:animEffect transition="in" filter="wipe(down)">
                                      <p:cBhvr>
                                        <p:cTn id="18" dur="500"/>
                                        <p:tgtEl>
                                          <p:spTgt spid="1028"/>
                                        </p:tgtEl>
                                      </p:cBhvr>
                                    </p:animEffect>
                                  </p:childTnLst>
                                </p:cTn>
                              </p:par>
                              <p:par>
                                <p:cTn id="19" presetID="22" presetClass="entr" presetSubtype="4" fill="hold" nodeType="withEffect">
                                  <p:stCondLst>
                                    <p:cond delay="0"/>
                                  </p:stCondLst>
                                  <p:childTnLst>
                                    <p:set>
                                      <p:cBhvr>
                                        <p:cTn id="20" dur="1" fill="hold">
                                          <p:stCondLst>
                                            <p:cond delay="0"/>
                                          </p:stCondLst>
                                        </p:cTn>
                                        <p:tgtEl>
                                          <p:spTgt spid="1027"/>
                                        </p:tgtEl>
                                        <p:attrNameLst>
                                          <p:attrName>style.visibility</p:attrName>
                                        </p:attrNameLst>
                                      </p:cBhvr>
                                      <p:to>
                                        <p:strVal val="visible"/>
                                      </p:to>
                                    </p:set>
                                    <p:animEffect transition="in" filter="wipe(down)">
                                      <p:cBhvr>
                                        <p:cTn id="21" dur="500"/>
                                        <p:tgtEl>
                                          <p:spTgt spid="102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3">
                                            <p:txEl>
                                              <p:pRg st="2" end="2"/>
                                            </p:txEl>
                                          </p:spTgt>
                                        </p:tgtEl>
                                        <p:attrNameLst>
                                          <p:attrName>style.visibility</p:attrName>
                                        </p:attrNameLst>
                                      </p:cBhvr>
                                      <p:to>
                                        <p:strVal val="visible"/>
                                      </p:to>
                                    </p:set>
                                    <p:animEffect transition="in" filter="wipe(down)">
                                      <p:cBhvr>
                                        <p:cTn id="26" dur="500"/>
                                        <p:tgtEl>
                                          <p:spTgt spid="3">
                                            <p:txEl>
                                              <p:pRg st="2" end="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grpId="0"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wipe(down)">
                                      <p:cBhvr>
                                        <p:cTn id="31"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二分形状语义</a:t>
            </a:r>
            <a:endParaRPr lang="zh-CN" altLang="en-US" dirty="0"/>
          </a:p>
        </p:txBody>
      </p:sp>
      <p:sp>
        <p:nvSpPr>
          <p:cNvPr id="3" name="Content Placeholder 2"/>
          <p:cNvSpPr>
            <a:spLocks noGrp="1"/>
          </p:cNvSpPr>
          <p:nvPr>
            <p:ph idx="1"/>
          </p:nvPr>
        </p:nvSpPr>
        <p:spPr>
          <a:xfrm>
            <a:off x="453327" y="1885782"/>
            <a:ext cx="5117295" cy="5068469"/>
          </a:xfrm>
        </p:spPr>
        <p:txBody>
          <a:bodyPr>
            <a:normAutofit fontScale="70000" lnSpcReduction="20000"/>
          </a:bodyPr>
          <a:lstStyle/>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基本形状 </a:t>
            </a:r>
            <a:r>
              <a:rPr lang="en-US" altLang="zh-CN" sz="3100" dirty="0" smtClean="0">
                <a:solidFill>
                  <a:schemeClr val="tx1"/>
                </a:solidFill>
                <a:latin typeface="微软雅黑" panose="020B0503020204020204" pitchFamily="34" charset="-122"/>
                <a:ea typeface="微软雅黑" panose="020B0503020204020204" pitchFamily="34" charset="-122"/>
              </a:rPr>
              <a:t>S(x, y, w, h, label)</a:t>
            </a:r>
            <a:endParaRPr lang="en-US" altLang="zh-CN" sz="3100" dirty="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语义规则</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a:solidFill>
                  <a:schemeClr val="tx1"/>
                </a:solidFill>
                <a:latin typeface="微软雅黑" panose="020B0503020204020204" pitchFamily="34" charset="-122"/>
                <a:ea typeface="微软雅黑" panose="020B0503020204020204" pitchFamily="34" charset="-122"/>
              </a:rPr>
              <a:t>一</a:t>
            </a:r>
            <a:r>
              <a:rPr lang="zh-CN" altLang="en-US" sz="2600" dirty="0" smtClean="0">
                <a:solidFill>
                  <a:schemeClr val="tx1"/>
                </a:solidFill>
                <a:latin typeface="微软雅黑" panose="020B0503020204020204" pitchFamily="34" charset="-122"/>
                <a:ea typeface="微软雅黑" panose="020B0503020204020204" pitchFamily="34" charset="-122"/>
              </a:rPr>
              <a:t>个形状只能沿着水平或竖直方向剖分为两个</a:t>
            </a:r>
            <a:r>
              <a:rPr lang="zh-CN" altLang="en-US" sz="2600" dirty="0">
                <a:solidFill>
                  <a:schemeClr val="tx1"/>
                </a:solidFill>
                <a:latin typeface="微软雅黑" panose="020B0503020204020204" pitchFamily="34" charset="-122"/>
                <a:ea typeface="微软雅黑" panose="020B0503020204020204" pitchFamily="34" charset="-122"/>
              </a:rPr>
              <a:t>子</a:t>
            </a:r>
            <a:r>
              <a:rPr lang="zh-CN" altLang="en-US" sz="2600" dirty="0" smtClean="0">
                <a:solidFill>
                  <a:schemeClr val="tx1"/>
                </a:solidFill>
                <a:latin typeface="微软雅黑" panose="020B0503020204020204" pitchFamily="34" charset="-122"/>
                <a:ea typeface="微软雅黑" panose="020B0503020204020204" pitchFamily="34" charset="-122"/>
              </a:rPr>
              <a:t>形状</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smtClean="0">
                <a:solidFill>
                  <a:schemeClr val="tx1"/>
                </a:solidFill>
                <a:latin typeface="微软雅黑" panose="020B0503020204020204" pitchFamily="34" charset="-122"/>
                <a:ea typeface="微软雅黑" panose="020B0503020204020204" pitchFamily="34" charset="-122"/>
              </a:rPr>
              <a:t>可以被剖分的基本形状称为非终端形状</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smtClean="0">
                <a:solidFill>
                  <a:schemeClr val="tx1"/>
                </a:solidFill>
                <a:latin typeface="微软雅黑" panose="020B0503020204020204" pitchFamily="34" charset="-122"/>
                <a:ea typeface="微软雅黑" panose="020B0503020204020204" pitchFamily="34" charset="-122"/>
              </a:rPr>
              <a:t>不可以被继续剖分的形状称为终端形状</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二分形状语义生成形状的过程</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900" dirty="0" smtClean="0">
                <a:solidFill>
                  <a:schemeClr val="tx1"/>
                </a:solidFill>
                <a:latin typeface="微软雅黑" panose="020B0503020204020204" pitchFamily="34" charset="-122"/>
                <a:ea typeface="微软雅黑" panose="020B0503020204020204" pitchFamily="34" charset="-122"/>
              </a:rPr>
              <a:t>对初始形状不断应用语义规则，</a:t>
            </a:r>
            <a:r>
              <a:rPr lang="zh-CN" altLang="en-US" sz="2900" dirty="0">
                <a:solidFill>
                  <a:schemeClr val="tx1"/>
                </a:solidFill>
                <a:latin typeface="微软雅黑" panose="020B0503020204020204" pitchFamily="34" charset="-122"/>
                <a:ea typeface="微软雅黑" panose="020B0503020204020204" pitchFamily="34" charset="-122"/>
              </a:rPr>
              <a:t>直到</a:t>
            </a:r>
            <a:r>
              <a:rPr lang="zh-CN" altLang="en-US" sz="2900" dirty="0" smtClean="0">
                <a:solidFill>
                  <a:schemeClr val="tx1"/>
                </a:solidFill>
                <a:latin typeface="微软雅黑" panose="020B0503020204020204" pitchFamily="34" charset="-122"/>
                <a:ea typeface="微软雅黑" panose="020B0503020204020204" pitchFamily="34" charset="-122"/>
              </a:rPr>
              <a:t>所有的形状都是终端形状为止</a:t>
            </a:r>
            <a:endParaRPr lang="en-US" altLang="zh-CN" sz="2900" dirty="0" smtClean="0">
              <a:solidFill>
                <a:schemeClr val="tx1"/>
              </a:solidFill>
              <a:latin typeface="微软雅黑" panose="020B0503020204020204" pitchFamily="34" charset="-122"/>
              <a:ea typeface="微软雅黑" panose="020B0503020204020204" pitchFamily="34" charset="-122"/>
            </a:endParaRPr>
          </a:p>
          <a:p>
            <a:pPr lvl="1" indent="0">
              <a:buClr>
                <a:srgbClr val="00B050"/>
              </a:buClr>
              <a:buNone/>
            </a:pPr>
            <a:endParaRPr lang="en-US" altLang="zh-CN" dirty="0" smtClean="0"/>
          </a:p>
        </p:txBody>
      </p:sp>
      <p:graphicFrame>
        <p:nvGraphicFramePr>
          <p:cNvPr id="5" name="图示 4"/>
          <p:cNvGraphicFramePr/>
          <p:nvPr>
            <p:extLst>
              <p:ext uri="{D42A27DB-BD31-4B8C-83A1-F6EECF244321}">
                <p14:modId xmlns:p14="http://schemas.microsoft.com/office/powerpoint/2010/main" val="3407892635"/>
              </p:ext>
            </p:extLst>
          </p:nvPr>
        </p:nvGraphicFramePr>
        <p:xfrm>
          <a:off x="4729416" y="1726226"/>
          <a:ext cx="4320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内容占位符 2"/>
          <p:cNvSpPr txBox="1">
            <a:spLocks/>
          </p:cNvSpPr>
          <p:nvPr/>
        </p:nvSpPr>
        <p:spPr>
          <a:xfrm rot="320518">
            <a:off x="1626320" y="1544649"/>
            <a:ext cx="7264031" cy="1086017"/>
          </a:xfrm>
          <a:prstGeom prst="rect">
            <a:avLst/>
          </a:prstGeom>
          <a:solidFill>
            <a:srgbClr val="00B050"/>
          </a:solidFill>
        </p:spPr>
        <p:txBody>
          <a:bodyPr vert="horz" lIns="91440" tIns="45720" rIns="91440" bIns="45720" rtlCol="0">
            <a:noAutofit/>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r>
              <a:rPr lang="zh-CN" altLang="en-US" sz="2400" b="1" dirty="0" smtClean="0">
                <a:ln w="0"/>
                <a:solidFill>
                  <a:srgbClr val="FFFF00"/>
                </a:solidFill>
                <a:effectLst>
                  <a:outerShdw blurRad="38100" dist="19050" dir="2700000" algn="tl" rotWithShape="0">
                    <a:schemeClr val="dk1">
                      <a:alpha val="40000"/>
                    </a:schemeClr>
                  </a:outerShdw>
                </a:effectLst>
                <a:latin typeface="微软雅黑" panose="020B0503020204020204" pitchFamily="34" charset="-122"/>
                <a:ea typeface="微软雅黑" panose="020B0503020204020204" pitchFamily="34" charset="-122"/>
              </a:rPr>
              <a:t>给定一个建筑立面的点云，如何得到可以描述它的最佳的剖分树（语义规则的应用序列）？</a:t>
            </a:r>
          </a:p>
          <a:p>
            <a:endParaRPr lang="zh-CN" altLang="en-US" sz="1800" dirty="0">
              <a:ln w="0"/>
              <a:solidFill>
                <a:srgbClr val="00B0F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39789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 calcmode="lin" valueType="num">
                                      <p:cBhvr additive="base">
                                        <p:cTn id="33" dur="500" fill="hold"/>
                                        <p:tgtEl>
                                          <p:spTgt spid="5"/>
                                        </p:tgtEl>
                                        <p:attrNameLst>
                                          <p:attrName>ppt_x</p:attrName>
                                        </p:attrNameLst>
                                      </p:cBhvr>
                                      <p:tavLst>
                                        <p:tav tm="0">
                                          <p:val>
                                            <p:strVal val="#ppt_x"/>
                                          </p:val>
                                        </p:tav>
                                        <p:tav tm="100000">
                                          <p:val>
                                            <p:strVal val="#ppt_x"/>
                                          </p:val>
                                        </p:tav>
                                      </p:tavLst>
                                    </p:anim>
                                    <p:anim calcmode="lin" valueType="num">
                                      <p:cBhvr additive="base">
                                        <p:cTn id="3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animEffect transition="in" filter="fade">
                                      <p:cBhvr>
                                        <p:cTn id="39" dur="1000"/>
                                        <p:tgtEl>
                                          <p:spTgt spid="6"/>
                                        </p:tgtEl>
                                      </p:cBhvr>
                                    </p:animEffect>
                                    <p:anim calcmode="lin" valueType="num">
                                      <p:cBhvr>
                                        <p:cTn id="40" dur="1000" fill="hold"/>
                                        <p:tgtEl>
                                          <p:spTgt spid="6"/>
                                        </p:tgtEl>
                                        <p:attrNameLst>
                                          <p:attrName>ppt_x</p:attrName>
                                        </p:attrNameLst>
                                      </p:cBhvr>
                                      <p:tavLst>
                                        <p:tav tm="0">
                                          <p:val>
                                            <p:strVal val="#ppt_x"/>
                                          </p:val>
                                        </p:tav>
                                        <p:tav tm="100000">
                                          <p:val>
                                            <p:strVal val="#ppt_x"/>
                                          </p:val>
                                        </p:tav>
                                      </p:tavLst>
                                    </p:anim>
                                    <p:anim calcmode="lin" valueType="num">
                                      <p:cBhvr>
                                        <p:cTn id="41"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Graphic spid="5" grpId="0">
        <p:bldAsOne/>
      </p:bldGraphic>
      <p:bldP spid="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马尔科夫决策过程</a:t>
            </a:r>
            <a:endParaRPr lang="zh-CN" altLang="en-US" dirty="0"/>
          </a:p>
        </p:txBody>
      </p:sp>
      <p:sp>
        <p:nvSpPr>
          <p:cNvPr id="3" name="内容占位符 2"/>
          <p:cNvSpPr>
            <a:spLocks noGrp="1"/>
          </p:cNvSpPr>
          <p:nvPr>
            <p:ph idx="1"/>
          </p:nvPr>
        </p:nvSpPr>
        <p:spPr>
          <a:xfrm>
            <a:off x="628651" y="1825624"/>
            <a:ext cx="8024030" cy="4930017"/>
          </a:xfrm>
        </p:spPr>
        <p:txBody>
          <a:bodyPr>
            <a:normAutofit/>
          </a:bodyPr>
          <a:lstStyle/>
          <a:p>
            <a:pPr marL="171450" indent="-171450">
              <a:lnSpc>
                <a:spcPct val="100000"/>
              </a:lnSpc>
              <a:buClr>
                <a:srgbClr val="00B050"/>
              </a:buClr>
              <a:buFont typeface="Wingdings" panose="05000000000000000000" pitchFamily="2" charset="2"/>
              <a:buChar char="u"/>
            </a:pPr>
            <a:r>
              <a:rPr lang="en-US" altLang="zh-CN" sz="2200" dirty="0" smtClean="0">
                <a:solidFill>
                  <a:srgbClr val="0070C0"/>
                </a:solidFill>
              </a:rPr>
              <a:t>Agent</a:t>
            </a:r>
            <a:r>
              <a:rPr lang="zh-CN" altLang="en-US" sz="2200" dirty="0" smtClean="0">
                <a:solidFill>
                  <a:schemeClr val="tx1"/>
                </a:solidFill>
              </a:rPr>
              <a:t>和</a:t>
            </a:r>
            <a:r>
              <a:rPr lang="en-US" altLang="zh-CN" sz="2200" dirty="0" smtClean="0">
                <a:solidFill>
                  <a:srgbClr val="0070C0"/>
                </a:solidFill>
              </a:rPr>
              <a:t>Environment</a:t>
            </a:r>
            <a:r>
              <a:rPr lang="zh-CN" altLang="en-US" sz="2200" dirty="0" smtClean="0">
                <a:solidFill>
                  <a:schemeClr val="tx1"/>
                </a:solidFill>
              </a:rPr>
              <a:t>的</a:t>
            </a:r>
            <a:r>
              <a:rPr lang="zh-CN" altLang="en-US" sz="2200" dirty="0" smtClean="0">
                <a:solidFill>
                  <a:srgbClr val="0070C0"/>
                </a:solidFill>
              </a:rPr>
              <a:t>交互</a:t>
            </a:r>
            <a:endParaRPr lang="en-US" altLang="zh-CN" sz="2200" dirty="0" smtClean="0">
              <a:solidFill>
                <a:srgbClr val="0070C0"/>
              </a:solidFill>
            </a:endParaRPr>
          </a:p>
          <a:p>
            <a:pPr marL="171450" indent="-171450">
              <a:lnSpc>
                <a:spcPct val="100000"/>
              </a:lnSpc>
              <a:buClr>
                <a:srgbClr val="00B050"/>
              </a:buClr>
              <a:buFont typeface="Wingdings" panose="05000000000000000000" pitchFamily="2" charset="2"/>
              <a:buChar char="u"/>
            </a:pPr>
            <a:r>
              <a:rPr lang="en-US" altLang="zh-CN" sz="2200" dirty="0" smtClean="0">
                <a:solidFill>
                  <a:srgbClr val="0070C0"/>
                </a:solidFill>
              </a:rPr>
              <a:t>Agent</a:t>
            </a:r>
            <a:r>
              <a:rPr lang="zh-CN" altLang="en-US" sz="2200" dirty="0" smtClean="0">
                <a:solidFill>
                  <a:srgbClr val="0070C0"/>
                </a:solidFill>
              </a:rPr>
              <a:t>的目标</a:t>
            </a:r>
            <a:r>
              <a:rPr lang="zh-CN" altLang="en-US" sz="2200" dirty="0" smtClean="0">
                <a:solidFill>
                  <a:schemeClr val="tx1"/>
                </a:solidFill>
              </a:rPr>
              <a:t>：最大化长期回报值</a:t>
            </a:r>
            <a:endParaRPr lang="en-US" altLang="zh-CN" sz="2200" dirty="0" smtClean="0">
              <a:solidFill>
                <a:schemeClr val="tx1"/>
              </a:solidFill>
            </a:endParaRPr>
          </a:p>
          <a:p>
            <a:pPr>
              <a:lnSpc>
                <a:spcPct val="100000"/>
              </a:lnSpc>
              <a:buClr>
                <a:srgbClr val="00B050"/>
              </a:buClr>
            </a:pP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r>
              <a:rPr lang="zh-CN" altLang="en-US" sz="2200" dirty="0" smtClean="0">
                <a:solidFill>
                  <a:srgbClr val="0070C0"/>
                </a:solidFill>
              </a:rPr>
              <a:t>策略</a:t>
            </a:r>
            <a:r>
              <a:rPr lang="el-GR" altLang="zh-CN" sz="2200" dirty="0" smtClean="0">
                <a:solidFill>
                  <a:srgbClr val="0070C0"/>
                </a:solidFill>
              </a:rPr>
              <a:t>π</a:t>
            </a:r>
            <a:r>
              <a:rPr lang="zh-CN" altLang="en-US" sz="2200" dirty="0" smtClean="0">
                <a:solidFill>
                  <a:schemeClr val="tx1"/>
                </a:solidFill>
              </a:rPr>
              <a:t>描述了在某个状态下选择某个行为的概率，用</a:t>
            </a:r>
            <a:r>
              <a:rPr lang="en-US" altLang="zh-CN" sz="2200" dirty="0" smtClean="0">
                <a:solidFill>
                  <a:srgbClr val="0070C0"/>
                </a:solidFill>
              </a:rPr>
              <a:t>V</a:t>
            </a:r>
            <a:r>
              <a:rPr lang="zh-CN" altLang="en-US" sz="2200" dirty="0" smtClean="0">
                <a:solidFill>
                  <a:srgbClr val="0070C0"/>
                </a:solidFill>
              </a:rPr>
              <a:t>函数</a:t>
            </a:r>
            <a:r>
              <a:rPr lang="zh-CN" altLang="en-US" sz="2200" dirty="0" smtClean="0">
                <a:solidFill>
                  <a:schemeClr val="tx1"/>
                </a:solidFill>
              </a:rPr>
              <a:t>描述策略的好坏</a:t>
            </a:r>
            <a:r>
              <a:rPr lang="zh-CN" altLang="en-US" sz="2200" dirty="0">
                <a:solidFill>
                  <a:schemeClr val="tx1"/>
                </a:solidFill>
              </a:rPr>
              <a:t>。</a:t>
            </a:r>
            <a:r>
              <a:rPr lang="en-US" altLang="zh-CN" sz="2200" dirty="0" smtClean="0">
                <a:solidFill>
                  <a:schemeClr val="tx1"/>
                </a:solidFill>
              </a:rPr>
              <a:t>V</a:t>
            </a:r>
            <a:r>
              <a:rPr lang="zh-CN" altLang="en-US" sz="2200" dirty="0" smtClean="0">
                <a:solidFill>
                  <a:schemeClr val="tx1"/>
                </a:solidFill>
              </a:rPr>
              <a:t>函数表示在某个状态下按照策略</a:t>
            </a:r>
            <a:r>
              <a:rPr lang="el-GR" altLang="zh-CN" sz="2200" dirty="0" smtClean="0">
                <a:solidFill>
                  <a:schemeClr val="tx1"/>
                </a:solidFill>
              </a:rPr>
              <a:t>π</a:t>
            </a:r>
            <a:r>
              <a:rPr lang="zh-CN" altLang="en-US" sz="2200" dirty="0" smtClean="0">
                <a:solidFill>
                  <a:schemeClr val="tx1"/>
                </a:solidFill>
              </a:rPr>
              <a:t>决策，</a:t>
            </a:r>
            <a:r>
              <a:rPr lang="en-US" altLang="zh-CN" sz="2200" dirty="0" smtClean="0">
                <a:solidFill>
                  <a:schemeClr val="tx1"/>
                </a:solidFill>
              </a:rPr>
              <a:t>agent</a:t>
            </a:r>
            <a:r>
              <a:rPr lang="zh-CN" altLang="en-US" sz="2200" dirty="0" smtClean="0">
                <a:solidFill>
                  <a:schemeClr val="tx1"/>
                </a:solidFill>
              </a:rPr>
              <a:t>能得到的长期回报值：</a:t>
            </a: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r>
              <a:rPr lang="zh-CN" altLang="en-US" sz="2200" dirty="0" smtClean="0">
                <a:solidFill>
                  <a:schemeClr val="tx1"/>
                </a:solidFill>
              </a:rPr>
              <a:t>增强学习</a:t>
            </a:r>
            <a:r>
              <a:rPr lang="zh-CN" altLang="en-US" sz="2200" dirty="0" smtClean="0">
                <a:solidFill>
                  <a:srgbClr val="0070C0"/>
                </a:solidFill>
              </a:rPr>
              <a:t>改进策略的</a:t>
            </a:r>
            <a:r>
              <a:rPr lang="zh-CN" altLang="en-US" sz="2200" dirty="0" smtClean="0">
                <a:solidFill>
                  <a:schemeClr val="tx1"/>
                </a:solidFill>
              </a:rPr>
              <a:t>公式</a:t>
            </a:r>
            <a:r>
              <a:rPr lang="en-US" altLang="zh-CN" sz="2200" dirty="0" smtClean="0">
                <a:solidFill>
                  <a:schemeClr val="tx1"/>
                </a:solidFill>
              </a:rPr>
              <a:t>:</a:t>
            </a:r>
          </a:p>
          <a:p>
            <a:pPr marL="171450" indent="-171450">
              <a:buClr>
                <a:srgbClr val="00B050"/>
              </a:buClr>
              <a:buFont typeface="Wingdings" panose="05000000000000000000" pitchFamily="2" charset="2"/>
              <a:buChar char="u"/>
            </a:pPr>
            <a:endParaRPr lang="en-US" altLang="zh-CN" dirty="0" smtClean="0"/>
          </a:p>
          <a:p>
            <a:pPr>
              <a:buClr>
                <a:srgbClr val="00B050"/>
              </a:buClr>
            </a:pPr>
            <a:endParaRPr lang="zh-CN" altLang="en-US" dirty="0"/>
          </a:p>
        </p:txBody>
      </p:sp>
      <p:pic>
        <p:nvPicPr>
          <p:cNvPr id="1026" name="Picture 2" descr="rl"/>
          <p:cNvPicPr>
            <a:picLocks noChangeAspect="1" noChangeArrowheads="1"/>
          </p:cNvPicPr>
          <p:nvPr/>
        </p:nvPicPr>
        <p:blipFill rotWithShape="1">
          <a:blip r:embed="rId4">
            <a:extLst>
              <a:ext uri="{28A0092B-C50C-407E-A947-70E740481C1C}">
                <a14:useLocalDpi xmlns:a14="http://schemas.microsoft.com/office/drawing/2010/main" val="0"/>
              </a:ext>
            </a:extLst>
          </a:blip>
          <a:srcRect l="9151" r="5908"/>
          <a:stretch/>
        </p:blipFill>
        <p:spPr bwMode="auto">
          <a:xfrm>
            <a:off x="5158852" y="1423720"/>
            <a:ext cx="4053387"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5" name="对象 4"/>
          <p:cNvGraphicFramePr>
            <a:graphicFrameLocks noChangeAspect="1"/>
          </p:cNvGraphicFramePr>
          <p:nvPr>
            <p:extLst>
              <p:ext uri="{D42A27DB-BD31-4B8C-83A1-F6EECF244321}">
                <p14:modId xmlns:p14="http://schemas.microsoft.com/office/powerpoint/2010/main" val="4033360307"/>
              </p:ext>
            </p:extLst>
          </p:nvPr>
        </p:nvGraphicFramePr>
        <p:xfrm>
          <a:off x="1959866" y="2643226"/>
          <a:ext cx="2298411" cy="895820"/>
        </p:xfrm>
        <a:graphic>
          <a:graphicData uri="http://schemas.openxmlformats.org/presentationml/2006/ole">
            <mc:AlternateContent xmlns:mc="http://schemas.openxmlformats.org/markup-compatibility/2006">
              <mc:Choice xmlns:v="urn:schemas-microsoft-com:vml" Requires="v">
                <p:oleObj spid="_x0000_s1307" r:id="rId5" imgW="940617" imgH="432175" progId="Equation.DSMT4">
                  <p:embed/>
                </p:oleObj>
              </mc:Choice>
              <mc:Fallback>
                <p:oleObj r:id="rId5" imgW="940617" imgH="432175"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59866" y="2643226"/>
                        <a:ext cx="2298411" cy="895820"/>
                      </a:xfrm>
                      <a:prstGeom prst="rect">
                        <a:avLst/>
                      </a:prstGeom>
                      <a:noFill/>
                    </p:spPr>
                  </p:pic>
                </p:oleObj>
              </mc:Fallback>
            </mc:AlternateContent>
          </a:graphicData>
        </a:graphic>
      </p:graphicFrame>
      <p:sp>
        <p:nvSpPr>
          <p:cNvPr id="6" name="Rectangle 7"/>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7" name="对象 6"/>
          <p:cNvGraphicFramePr>
            <a:graphicFrameLocks noChangeAspect="1"/>
          </p:cNvGraphicFramePr>
          <p:nvPr>
            <p:extLst>
              <p:ext uri="{D42A27DB-BD31-4B8C-83A1-F6EECF244321}">
                <p14:modId xmlns:p14="http://schemas.microsoft.com/office/powerpoint/2010/main" val="624833020"/>
              </p:ext>
            </p:extLst>
          </p:nvPr>
        </p:nvGraphicFramePr>
        <p:xfrm>
          <a:off x="1063215" y="4450925"/>
          <a:ext cx="7154901" cy="928814"/>
        </p:xfrm>
        <a:graphic>
          <a:graphicData uri="http://schemas.openxmlformats.org/presentationml/2006/ole">
            <mc:AlternateContent xmlns:mc="http://schemas.openxmlformats.org/markup-compatibility/2006">
              <mc:Choice xmlns:v="urn:schemas-microsoft-com:vml" Requires="v">
                <p:oleObj spid="_x0000_s1308" r:id="rId7" imgW="2780093" imgH="431613" progId="Equation.DSMT4">
                  <p:embed/>
                </p:oleObj>
              </mc:Choice>
              <mc:Fallback>
                <p:oleObj r:id="rId7" imgW="2780093" imgH="431613" progId="Equation.DSMT4">
                  <p:embed/>
                  <p:pic>
                    <p:nvPicPr>
                      <p:cNvPr id="0"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63215" y="4450925"/>
                        <a:ext cx="7154901" cy="928814"/>
                      </a:xfrm>
                      <a:prstGeom prst="rect">
                        <a:avLst/>
                      </a:prstGeom>
                      <a:noFill/>
                    </p:spPr>
                  </p:pic>
                </p:oleObj>
              </mc:Fallback>
            </mc:AlternateContent>
          </a:graphicData>
        </a:graphic>
      </p:graphicFrame>
      <p:sp>
        <p:nvSpPr>
          <p:cNvPr id="8" name="Rectangle 9"/>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ext uri="{D42A27DB-BD31-4B8C-83A1-F6EECF244321}">
                <p14:modId xmlns:p14="http://schemas.microsoft.com/office/powerpoint/2010/main" val="2973598236"/>
              </p:ext>
            </p:extLst>
          </p:nvPr>
        </p:nvGraphicFramePr>
        <p:xfrm>
          <a:off x="1101540" y="5790850"/>
          <a:ext cx="6604076" cy="631466"/>
        </p:xfrm>
        <a:graphic>
          <a:graphicData uri="http://schemas.openxmlformats.org/presentationml/2006/ole">
            <mc:AlternateContent xmlns:mc="http://schemas.openxmlformats.org/markup-compatibility/2006">
              <mc:Choice xmlns:v="urn:schemas-microsoft-com:vml" Requires="v">
                <p:oleObj spid="_x0000_s1309" r:id="rId9" imgW="2388637" imgH="228699" progId="Equation.DSMT4">
                  <p:embed/>
                </p:oleObj>
              </mc:Choice>
              <mc:Fallback>
                <p:oleObj r:id="rId9" imgW="2388637" imgH="228699" progId="Equation.DSMT4">
                  <p:embed/>
                  <p:pic>
                    <p:nvPicPr>
                      <p:cNvPr id="0" name="Object 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101540" y="5790850"/>
                        <a:ext cx="6604076" cy="631466"/>
                      </a:xfrm>
                      <a:prstGeom prst="rect">
                        <a:avLst/>
                      </a:prstGeom>
                      <a:noFill/>
                    </p:spPr>
                  </p:pic>
                </p:oleObj>
              </mc:Fallback>
            </mc:AlternateContent>
          </a:graphicData>
        </a:graphic>
      </p:graphicFrame>
    </p:spTree>
    <p:extLst>
      <p:ext uri="{BB962C8B-B14F-4D97-AF65-F5344CB8AC3E}">
        <p14:creationId xmlns:p14="http://schemas.microsoft.com/office/powerpoint/2010/main" val="163052642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最佳形状语义求解</a:t>
            </a:r>
            <a:endParaRPr lang="zh-CN" dirty="0">
              <a:latin typeface="Microsoft YaHei UI" panose="020B0503020204020204" pitchFamily="34" charset="-122"/>
              <a:ea typeface="Microsoft YaHei UI" panose="020B0503020204020204" pitchFamily="34" charset="-122"/>
            </a:endParaRPr>
          </a:p>
        </p:txBody>
      </p:sp>
      <mc:AlternateContent xmlns:mc="http://schemas.openxmlformats.org/markup-compatibility/2006" xmlns:a14="http://schemas.microsoft.com/office/drawing/2010/main">
        <mc:Choice Requires="a14">
          <p:sp>
            <p:nvSpPr>
              <p:cNvPr id="4" name="内容占位符 3"/>
              <p:cNvSpPr>
                <a:spLocks noGrp="1"/>
              </p:cNvSpPr>
              <p:nvPr>
                <p:ph idx="1"/>
              </p:nvPr>
            </p:nvSpPr>
            <p:spPr>
              <a:xfrm>
                <a:off x="628652" y="1825625"/>
                <a:ext cx="7281634" cy="4734832"/>
              </a:xfrm>
            </p:spPr>
            <p:txBody>
              <a:bodyPr>
                <a:noAutofit/>
              </a:bodyPr>
              <a:lstStyle/>
              <a:p>
                <a:pPr marL="171450" indent="-171450">
                  <a:lnSpc>
                    <a:spcPct val="100000"/>
                  </a:lnSpc>
                  <a:buClr>
                    <a:srgbClr val="00B050"/>
                  </a:buClr>
                  <a:buFont typeface="Wingdings" panose="05000000000000000000" pitchFamily="2" charset="2"/>
                  <a:buChar char="u"/>
                </a:pPr>
                <a:r>
                  <a:rPr lang="zh-CN" altLang="en-US" sz="2000" dirty="0" smtClean="0">
                    <a:solidFill>
                      <a:schemeClr val="tx1"/>
                    </a:solidFill>
                    <a:latin typeface="微软雅黑" panose="020B0503020204020204" pitchFamily="34" charset="-122"/>
                    <a:ea typeface="微软雅黑" panose="020B0503020204020204" pitchFamily="34" charset="-122"/>
                  </a:rPr>
                  <a:t>剖分的过程可以用马尔科夫决策过程来描述</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en-US" altLang="zh-CN" sz="2000" dirty="0" smtClean="0">
                    <a:solidFill>
                      <a:srgbClr val="FFC000"/>
                    </a:solidFill>
                    <a:latin typeface="微软雅黑" panose="020B0503020204020204" pitchFamily="34" charset="-122"/>
                    <a:ea typeface="微软雅黑" panose="020B0503020204020204" pitchFamily="34" charset="-122"/>
                  </a:rPr>
                  <a:t>Agent</a:t>
                </a:r>
                <a:r>
                  <a:rPr lang="en-US" altLang="zh-CN" sz="2000" dirty="0" smtClean="0">
                    <a:solidFill>
                      <a:schemeClr val="tx1"/>
                    </a:solidFill>
                    <a:latin typeface="微软雅黑" panose="020B0503020204020204" pitchFamily="34" charset="-122"/>
                    <a:ea typeface="微软雅黑" panose="020B0503020204020204" pitchFamily="34" charset="-122"/>
                  </a:rPr>
                  <a:t> = </a:t>
                </a:r>
                <a:r>
                  <a:rPr lang="zh-CN" altLang="en-US" sz="2000" dirty="0">
                    <a:solidFill>
                      <a:srgbClr val="0070C0"/>
                    </a:solidFill>
                    <a:latin typeface="微软雅黑" panose="020B0503020204020204" pitchFamily="34" charset="-122"/>
                    <a:ea typeface="微软雅黑" panose="020B0503020204020204" pitchFamily="34" charset="-122"/>
                  </a:rPr>
                  <a:t>立</a:t>
                </a:r>
                <a:r>
                  <a:rPr lang="zh-CN" altLang="en-US" sz="2000" dirty="0" smtClean="0">
                    <a:solidFill>
                      <a:srgbClr val="0070C0"/>
                    </a:solidFill>
                    <a:latin typeface="微软雅黑" panose="020B0503020204020204" pitchFamily="34" charset="-122"/>
                    <a:ea typeface="微软雅黑" panose="020B0503020204020204" pitchFamily="34" charset="-122"/>
                  </a:rPr>
                  <a:t>面剖分的过程</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en-US" altLang="zh-CN" sz="2000" dirty="0" smtClean="0">
                    <a:solidFill>
                      <a:srgbClr val="FFC000"/>
                    </a:solidFill>
                    <a:latin typeface="微软雅黑" panose="020B0503020204020204" pitchFamily="34" charset="-122"/>
                    <a:ea typeface="微软雅黑" panose="020B0503020204020204" pitchFamily="34" charset="-122"/>
                  </a:rPr>
                  <a:t>Environment</a:t>
                </a:r>
                <a:r>
                  <a:rPr lang="en-US" altLang="zh-CN" sz="2000" dirty="0" smtClean="0">
                    <a:solidFill>
                      <a:schemeClr val="tx1"/>
                    </a:solidFill>
                    <a:latin typeface="微软雅黑" panose="020B0503020204020204" pitchFamily="34" charset="-122"/>
                    <a:ea typeface="微软雅黑" panose="020B0503020204020204" pitchFamily="34" charset="-122"/>
                  </a:rPr>
                  <a:t> = </a:t>
                </a:r>
                <a:r>
                  <a:rPr lang="zh-CN" altLang="en-US" sz="2000" dirty="0" smtClean="0">
                    <a:solidFill>
                      <a:srgbClr val="0070C0"/>
                    </a:solidFill>
                    <a:latin typeface="微软雅黑" panose="020B0503020204020204" pitchFamily="34" charset="-122"/>
                    <a:ea typeface="微软雅黑" panose="020B0503020204020204" pitchFamily="34" charset="-122"/>
                  </a:rPr>
                  <a:t>剖分树</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状态</a:t>
                </a:r>
                <a:r>
                  <a:rPr lang="zh-CN" altLang="en-US" sz="2000" dirty="0" smtClean="0">
                    <a:solidFill>
                      <a:schemeClr val="tx1"/>
                    </a:solidFill>
                    <a:latin typeface="微软雅黑" panose="020B0503020204020204" pitchFamily="34" charset="-122"/>
                    <a:ea typeface="微软雅黑" panose="020B0503020204020204" pitchFamily="34" charset="-122"/>
                  </a:rPr>
                  <a:t> </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smtClean="0">
                    <a:solidFill>
                      <a:schemeClr val="tx1"/>
                    </a:solidFill>
                    <a:latin typeface="微软雅黑" panose="020B0503020204020204" pitchFamily="34" charset="-122"/>
                    <a:ea typeface="微软雅黑" panose="020B0503020204020204" pitchFamily="34" charset="-122"/>
                  </a:rPr>
                  <a:t> </a:t>
                </a:r>
                <a:r>
                  <a:rPr lang="zh-CN" altLang="en-US" sz="2000" dirty="0" smtClean="0">
                    <a:solidFill>
                      <a:srgbClr val="0070C0"/>
                    </a:solidFill>
                    <a:latin typeface="微软雅黑" panose="020B0503020204020204" pitchFamily="34" charset="-122"/>
                    <a:ea typeface="微软雅黑" panose="020B0503020204020204" pitchFamily="34" charset="-122"/>
                  </a:rPr>
                  <a:t>剖分树中的节点</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2000" dirty="0" smtClean="0">
                    <a:solidFill>
                      <a:schemeClr val="tx1"/>
                    </a:solidFill>
                    <a:latin typeface="微软雅黑" panose="020B0503020204020204" pitchFamily="34" charset="-122"/>
                    <a:ea typeface="微软雅黑" panose="020B0503020204020204" pitchFamily="34" charset="-122"/>
                  </a:rPr>
                  <a:t>在剖分的每一步，</a:t>
                </a:r>
                <a:r>
                  <a:rPr lang="en-US" altLang="zh-CN" sz="2000" dirty="0" smtClean="0">
                    <a:solidFill>
                      <a:schemeClr val="tx1"/>
                    </a:solidFill>
                    <a:latin typeface="微软雅黑" panose="020B0503020204020204" pitchFamily="34" charset="-122"/>
                    <a:ea typeface="微软雅黑" panose="020B0503020204020204" pitchFamily="34" charset="-122"/>
                  </a:rPr>
                  <a:t>Agent</a:t>
                </a:r>
                <a:r>
                  <a:rPr lang="zh-CN" altLang="en-US" sz="2000" dirty="0" smtClean="0">
                    <a:solidFill>
                      <a:schemeClr val="tx1"/>
                    </a:solidFill>
                    <a:latin typeface="微软雅黑" panose="020B0503020204020204" pitchFamily="34" charset="-122"/>
                    <a:ea typeface="微软雅黑" panose="020B0503020204020204" pitchFamily="34" charset="-122"/>
                  </a:rPr>
                  <a:t>都位于剖分树的某个结点上</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行为</a:t>
                </a:r>
                <a:r>
                  <a:rPr lang="en-US" altLang="zh-CN" sz="2000" dirty="0" smtClean="0">
                    <a:solidFill>
                      <a:schemeClr val="tx1"/>
                    </a:solidFill>
                    <a:latin typeface="微软雅黑" panose="020B0503020204020204" pitchFamily="34" charset="-122"/>
                    <a:ea typeface="微软雅黑" panose="020B0503020204020204" pitchFamily="34" charset="-122"/>
                  </a:rPr>
                  <a:t>= </a:t>
                </a:r>
                <a:r>
                  <a:rPr lang="zh-CN" altLang="en-US" sz="2000" dirty="0" smtClean="0">
                    <a:solidFill>
                      <a:srgbClr val="0070C0"/>
                    </a:solidFill>
                    <a:latin typeface="微软雅黑" panose="020B0503020204020204" pitchFamily="34" charset="-122"/>
                    <a:ea typeface="微软雅黑" panose="020B0503020204020204" pitchFamily="34" charset="-122"/>
                  </a:rPr>
                  <a:t>语法规则</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285750" indent="-2857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长期回报值</a:t>
                </a:r>
                <a:r>
                  <a:rPr lang="en-US" altLang="zh-CN" sz="2000" dirty="0" smtClean="0">
                    <a:solidFill>
                      <a:srgbClr val="0070C0"/>
                    </a:solidFill>
                    <a:latin typeface="微软雅黑" panose="020B0503020204020204" pitchFamily="34" charset="-122"/>
                    <a:ea typeface="微软雅黑" panose="020B0503020204020204" pitchFamily="34" charset="-122"/>
                  </a:rPr>
                  <a:t>= </a:t>
                </a:r>
                <a14:m>
                  <m:oMath xmlns:m="http://schemas.openxmlformats.org/officeDocument/2006/math">
                    <m:nary>
                      <m:naryPr>
                        <m:chr m:val="∑"/>
                        <m:supHide m:val="on"/>
                        <m:ctrlPr>
                          <a:rPr lang="en-US" altLang="zh-CN" sz="2000" i="1" dirty="0" smtClean="0">
                            <a:solidFill>
                              <a:srgbClr val="0070C0"/>
                            </a:solidFill>
                            <a:latin typeface="Cambria Math" panose="02040503050406030204" pitchFamily="18" charset="0"/>
                          </a:rPr>
                        </m:ctrlPr>
                      </m:naryPr>
                      <m:sub>
                        <m:r>
                          <m:rPr>
                            <m:brk m:alnAt="7"/>
                          </m:rPr>
                          <a:rPr lang="en-US" altLang="zh-CN" sz="2000" b="0" i="1" dirty="0" smtClean="0">
                            <a:solidFill>
                              <a:srgbClr val="0070C0"/>
                            </a:solidFill>
                            <a:latin typeface="Cambria Math" panose="02040503050406030204" pitchFamily="18" charset="0"/>
                          </a:rPr>
                          <m:t>𝑥</m:t>
                        </m:r>
                        <m:r>
                          <a:rPr lang="en-US" altLang="zh-CN" sz="2000" b="0" i="1" dirty="0" smtClean="0">
                            <a:solidFill>
                              <a:srgbClr val="0070C0"/>
                            </a:solidFill>
                            <a:latin typeface="Cambria Math" panose="02040503050406030204" pitchFamily="18" charset="0"/>
                          </a:rPr>
                          <m:t>,</m:t>
                        </m:r>
                        <m:r>
                          <a:rPr lang="en-US" altLang="zh-CN" sz="2000" b="0" i="1" dirty="0" smtClean="0">
                            <a:solidFill>
                              <a:srgbClr val="0070C0"/>
                            </a:solidFill>
                            <a:latin typeface="Cambria Math" panose="02040503050406030204" pitchFamily="18" charset="0"/>
                          </a:rPr>
                          <m:t>𝑦</m:t>
                        </m:r>
                        <m:r>
                          <a:rPr lang="en-US" altLang="zh-CN" sz="2000" b="0" i="1" dirty="0" smtClean="0">
                            <a:solidFill>
                              <a:srgbClr val="0070C0"/>
                            </a:solidFill>
                            <a:latin typeface="Cambria Math" panose="02040503050406030204" pitchFamily="18" charset="0"/>
                            <a:ea typeface="Cambria Math" panose="02040503050406030204" pitchFamily="18" charset="0"/>
                          </a:rPr>
                          <m:t>∈</m:t>
                        </m:r>
                        <m:r>
                          <a:rPr lang="en-US" altLang="zh-CN" sz="2000" b="0" i="1" dirty="0" smtClean="0">
                            <a:solidFill>
                              <a:srgbClr val="0070C0"/>
                            </a:solidFill>
                            <a:latin typeface="Cambria Math" panose="02040503050406030204" pitchFamily="18" charset="0"/>
                            <a:ea typeface="Cambria Math" panose="02040503050406030204" pitchFamily="18" charset="0"/>
                          </a:rPr>
                          <m:t>𝑓𝑎𝑐𝑎𝑑𝑒</m:t>
                        </m:r>
                      </m:sub>
                      <m:sup/>
                      <m:e>
                        <m:r>
                          <m:rPr>
                            <m:sty m:val="p"/>
                          </m:rPr>
                          <a:rPr lang="en-US" altLang="zh-CN" sz="2000" dirty="0">
                            <a:solidFill>
                              <a:srgbClr val="0070C0"/>
                            </a:solidFill>
                            <a:latin typeface="Cambria Math" panose="02040503050406030204" pitchFamily="18" charset="0"/>
                          </a:rPr>
                          <m:t>p</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s</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x</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y</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x</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y</m:t>
                        </m:r>
                        <m:r>
                          <a:rPr lang="en-US" altLang="zh-CN" sz="2000" dirty="0">
                            <a:solidFill>
                              <a:srgbClr val="0070C0"/>
                            </a:solidFill>
                            <a:latin typeface="Cambria Math" panose="02040503050406030204" pitchFamily="18" charset="0"/>
                          </a:rPr>
                          <m:t>)</m:t>
                        </m:r>
                        <m:r>
                          <m:rPr>
                            <m:nor/>
                          </m:rPr>
                          <a:rPr lang="zh-CN" altLang="en-US" sz="2000" dirty="0">
                            <a:solidFill>
                              <a:srgbClr val="0070C0"/>
                            </a:solidFill>
                            <a:latin typeface="微软雅黑" panose="020B0503020204020204" pitchFamily="34" charset="-122"/>
                            <a:ea typeface="微软雅黑" panose="020B0503020204020204" pitchFamily="34" charset="-122"/>
                          </a:rPr>
                          <m:t> </m:t>
                        </m:r>
                      </m:e>
                    </m:nary>
                  </m:oMath>
                </a14:m>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u"/>
                </a:pPr>
                <a:r>
                  <a:rPr lang="en-US" altLang="zh-CN" sz="2000" dirty="0" smtClean="0">
                    <a:solidFill>
                      <a:schemeClr val="tx1"/>
                    </a:solidFill>
                    <a:latin typeface="微软雅黑" panose="020B0503020204020204" pitchFamily="34" charset="-122"/>
                    <a:ea typeface="微软雅黑" panose="020B0503020204020204" pitchFamily="34" charset="-122"/>
                  </a:rPr>
                  <a:t>s(x, y)</a:t>
                </a:r>
                <a:r>
                  <a:rPr lang="zh-CN" altLang="en-US" sz="2000" dirty="0" smtClean="0">
                    <a:solidFill>
                      <a:schemeClr val="tx1"/>
                    </a:solidFill>
                    <a:latin typeface="微软雅黑" panose="020B0503020204020204" pitchFamily="34" charset="-122"/>
                    <a:ea typeface="微软雅黑" panose="020B0503020204020204" pitchFamily="34" charset="-122"/>
                  </a:rPr>
                  <a:t>根据策略</a:t>
                </a:r>
                <a:r>
                  <a:rPr lang="en-US" altLang="zh-CN" sz="2000" dirty="0" smtClean="0">
                    <a:solidFill>
                      <a:schemeClr val="tx1"/>
                    </a:solidFill>
                    <a:latin typeface="微软雅黑" panose="020B0503020204020204" pitchFamily="34" charset="-122"/>
                    <a:ea typeface="微软雅黑" panose="020B0503020204020204" pitchFamily="34" charset="-122"/>
                  </a:rPr>
                  <a:t>s</a:t>
                </a:r>
                <a:r>
                  <a:rPr lang="zh-CN" altLang="en-US" sz="2000" dirty="0" smtClean="0">
                    <a:solidFill>
                      <a:schemeClr val="tx1"/>
                    </a:solidFill>
                    <a:latin typeface="微软雅黑" panose="020B0503020204020204" pitchFamily="34" charset="-122"/>
                    <a:ea typeface="微软雅黑" panose="020B0503020204020204" pitchFamily="34" charset="-122"/>
                  </a:rPr>
                  <a:t>得到的点</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en-US" altLang="zh-CN" sz="2000" dirty="0" err="1" smtClean="0">
                    <a:solidFill>
                      <a:schemeClr val="tx1"/>
                    </a:solidFill>
                    <a:latin typeface="微软雅黑" panose="020B0503020204020204" pitchFamily="34" charset="-122"/>
                    <a:ea typeface="微软雅黑" panose="020B0503020204020204" pitchFamily="34" charset="-122"/>
                  </a:rPr>
                  <a:t>x,y</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smtClean="0">
                    <a:solidFill>
                      <a:schemeClr val="tx1"/>
                    </a:solidFill>
                    <a:latin typeface="微软雅黑" panose="020B0503020204020204" pitchFamily="34" charset="-122"/>
                    <a:ea typeface="微软雅黑" panose="020B0503020204020204" pitchFamily="34" charset="-122"/>
                  </a:rPr>
                  <a:t>的建筑结构类别</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u"/>
                </a:pPr>
                <a:r>
                  <a:rPr lang="en-US" altLang="zh-CN" sz="2000" dirty="0" smtClean="0">
                    <a:solidFill>
                      <a:schemeClr val="tx1"/>
                    </a:solidFill>
                    <a:latin typeface="微软雅黑" panose="020B0503020204020204" pitchFamily="34" charset="-122"/>
                    <a:ea typeface="微软雅黑" panose="020B0503020204020204" pitchFamily="34" charset="-122"/>
                  </a:rPr>
                  <a:t>P(s(x, y)|x, y) </a:t>
                </a:r>
                <a:r>
                  <a:rPr lang="zh-CN" altLang="en-US" sz="2000" dirty="0" smtClean="0">
                    <a:solidFill>
                      <a:schemeClr val="tx1"/>
                    </a:solidFill>
                    <a:latin typeface="微软雅黑" panose="020B0503020204020204" pitchFamily="34" charset="-122"/>
                    <a:ea typeface="微软雅黑" panose="020B0503020204020204" pitchFamily="34" charset="-122"/>
                  </a:rPr>
                  <a:t>真实情况下点</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en-US" altLang="zh-CN" sz="2000" dirty="0" err="1" smtClean="0">
                    <a:solidFill>
                      <a:schemeClr val="tx1"/>
                    </a:solidFill>
                    <a:latin typeface="微软雅黑" panose="020B0503020204020204" pitchFamily="34" charset="-122"/>
                    <a:ea typeface="微软雅黑" panose="020B0503020204020204" pitchFamily="34" charset="-122"/>
                  </a:rPr>
                  <a:t>x,y</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a:solidFill>
                      <a:schemeClr val="tx1"/>
                    </a:solidFill>
                    <a:latin typeface="微软雅黑" panose="020B0503020204020204" pitchFamily="34" charset="-122"/>
                    <a:ea typeface="微软雅黑" panose="020B0503020204020204" pitchFamily="34" charset="-122"/>
                  </a:rPr>
                  <a:t>是</a:t>
                </a:r>
                <a:r>
                  <a:rPr lang="zh-CN" altLang="en-US" sz="2000" dirty="0" smtClean="0">
                    <a:solidFill>
                      <a:schemeClr val="tx1"/>
                    </a:solidFill>
                    <a:latin typeface="微软雅黑" panose="020B0503020204020204" pitchFamily="34" charset="-122"/>
                    <a:ea typeface="微软雅黑" panose="020B0503020204020204" pitchFamily="34" charset="-122"/>
                  </a:rPr>
                  <a:t>建筑类别</a:t>
                </a:r>
                <a:r>
                  <a:rPr lang="en-US" altLang="zh-CN" sz="2000" dirty="0">
                    <a:solidFill>
                      <a:schemeClr val="tx1"/>
                    </a:solidFill>
                    <a:latin typeface="微软雅黑" panose="020B0503020204020204" pitchFamily="34" charset="-122"/>
                    <a:ea typeface="微软雅黑" panose="020B0503020204020204" pitchFamily="34" charset="-122"/>
                  </a:rPr>
                  <a:t>s(x, </a:t>
                </a:r>
                <a:r>
                  <a:rPr lang="en-US" altLang="zh-CN" sz="2000" dirty="0" smtClean="0">
                    <a:solidFill>
                      <a:schemeClr val="tx1"/>
                    </a:solidFill>
                    <a:latin typeface="微软雅黑" panose="020B0503020204020204" pitchFamily="34" charset="-122"/>
                    <a:ea typeface="微软雅黑" panose="020B0503020204020204" pitchFamily="34" charset="-122"/>
                  </a:rPr>
                  <a:t>y)</a:t>
                </a:r>
                <a:r>
                  <a:rPr lang="zh-CN" altLang="en-US" sz="2000" dirty="0" smtClean="0">
                    <a:solidFill>
                      <a:schemeClr val="tx1"/>
                    </a:solidFill>
                    <a:latin typeface="微软雅黑" panose="020B0503020204020204" pitchFamily="34" charset="-122"/>
                    <a:ea typeface="微软雅黑" panose="020B0503020204020204" pitchFamily="34" charset="-122"/>
                  </a:rPr>
                  <a:t>的概率</a:t>
                </a:r>
                <a:endParaRPr lang="zh-CN" altLang="en-US" sz="2000" dirty="0">
                  <a:solidFill>
                    <a:schemeClr val="tx1"/>
                  </a:solidFill>
                  <a:latin typeface="微软雅黑" panose="020B0503020204020204" pitchFamily="34" charset="-122"/>
                  <a:ea typeface="微软雅黑" panose="020B0503020204020204" pitchFamily="34" charset="-122"/>
                </a:endParaRPr>
              </a:p>
            </p:txBody>
          </p:sp>
        </mc:Choice>
        <mc:Fallback xmlns="">
          <p:sp>
            <p:nvSpPr>
              <p:cNvPr id="4" name="内容占位符 3"/>
              <p:cNvSpPr>
                <a:spLocks noGrp="1" noRot="1" noChangeAspect="1" noMove="1" noResize="1" noEditPoints="1" noAdjustHandles="1" noChangeArrowheads="1" noChangeShapeType="1" noTextEdit="1"/>
              </p:cNvSpPr>
              <p:nvPr>
                <p:ph idx="1"/>
              </p:nvPr>
            </p:nvSpPr>
            <p:spPr>
              <a:xfrm>
                <a:off x="628652" y="1825625"/>
                <a:ext cx="7281634" cy="4734832"/>
              </a:xfrm>
              <a:blipFill rotWithShape="0">
                <a:blip r:embed="rId3"/>
                <a:stretch>
                  <a:fillRect l="-753" t="-644" r="-837"/>
                </a:stretch>
              </a:blipFill>
            </p:spPr>
            <p:txBody>
              <a:bodyPr/>
              <a:lstStyle/>
              <a:p>
                <a:r>
                  <a:rPr lang="zh-CN" altLang="en-US">
                    <a:noFill/>
                  </a:rPr>
                  <a:t> </a:t>
                </a:r>
              </a:p>
            </p:txBody>
          </p:sp>
        </mc:Fallback>
      </mc:AlternateContent>
      <p:sp>
        <p:nvSpPr>
          <p:cNvPr id="5"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8" name="Rectangle 5"/>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0" name="文本框 9"/>
          <p:cNvSpPr txBox="1"/>
          <p:nvPr/>
        </p:nvSpPr>
        <p:spPr>
          <a:xfrm>
            <a:off x="4122057" y="2609396"/>
            <a:ext cx="4393295" cy="1384995"/>
          </a:xfrm>
          <a:prstGeom prst="rect">
            <a:avLst/>
          </a:prstGeom>
          <a:solidFill>
            <a:schemeClr val="accent5"/>
          </a:solidFill>
        </p:spPr>
        <p:txBody>
          <a:bodyPr wrap="square" rtlCol="0">
            <a:spAutoFit/>
          </a:bodyPr>
          <a:lstStyle/>
          <a:p>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如何得到点（</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x</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）真实情况下为建筑类别</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的概率</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p(</a:t>
            </a:r>
            <a:r>
              <a:rPr lang="en-US" altLang="zh-CN" sz="2800" b="1" dirty="0" err="1"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a|x</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 ?</a:t>
            </a:r>
            <a:endParaRPr lang="zh-CN" altLang="en-US" sz="2800" b="1" dirty="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5315322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2"/>
          <p:cNvSpPr>
            <a:spLocks noGrp="1"/>
          </p:cNvSpPr>
          <p:nvPr>
            <p:ph idx="1"/>
          </p:nvPr>
        </p:nvSpPr>
        <p:spPr>
          <a:xfrm>
            <a:off x="544427" y="1825625"/>
            <a:ext cx="6457951" cy="4551112"/>
          </a:xfrm>
        </p:spPr>
        <p:txBody>
          <a:bodyPr>
            <a:noAutofit/>
          </a:bodyPr>
          <a:lstStyle/>
          <a:p>
            <a:pPr marL="214313" indent="-214313">
              <a:lnSpc>
                <a:spcPct val="100000"/>
              </a:lnSpc>
              <a:buClr>
                <a:srgbClr val="00B050"/>
              </a:buClr>
              <a:buFont typeface="Wingdings" panose="05000000000000000000" pitchFamily="2" charset="2"/>
              <a:buChar char="u"/>
            </a:pPr>
            <a:r>
              <a:rPr lang="zh-CN" altLang="en-US" sz="2000" b="1" dirty="0" smtClean="0">
                <a:solidFill>
                  <a:srgbClr val="0070C0"/>
                </a:solidFill>
                <a:latin typeface="微软雅黑" panose="020B0503020204020204" pitchFamily="34" charset="-122"/>
                <a:ea typeface="微软雅黑" panose="020B0503020204020204" pitchFamily="34" charset="-122"/>
              </a:rPr>
              <a:t>预处理</a:t>
            </a:r>
            <a:endParaRPr lang="en-US" altLang="zh-CN" sz="2000" b="1" dirty="0" smtClean="0">
              <a:solidFill>
                <a:srgbClr val="0070C0"/>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去除</a:t>
            </a:r>
            <a:r>
              <a:rPr lang="zh-CN" altLang="en-US" sz="1800" dirty="0" smtClean="0">
                <a:solidFill>
                  <a:schemeClr val="tx1"/>
                </a:solidFill>
                <a:latin typeface="微软雅黑" panose="020B0503020204020204" pitchFamily="34" charset="-122"/>
                <a:ea typeface="微软雅黑" panose="020B0503020204020204" pitchFamily="34" charset="-122"/>
              </a:rPr>
              <a:t>噪声</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转换坐标系，将建筑立面对其到</a:t>
            </a:r>
            <a:r>
              <a:rPr lang="en-US" altLang="zh-CN" sz="1800" dirty="0">
                <a:solidFill>
                  <a:schemeClr val="tx1"/>
                </a:solidFill>
                <a:latin typeface="微软雅黑" panose="020B0503020204020204" pitchFamily="34" charset="-122"/>
                <a:ea typeface="微软雅黑" panose="020B0503020204020204" pitchFamily="34" charset="-122"/>
              </a:rPr>
              <a:t>X-Y</a:t>
            </a:r>
            <a:r>
              <a:rPr lang="zh-CN" altLang="en-US" sz="1800" dirty="0">
                <a:solidFill>
                  <a:schemeClr val="tx1"/>
                </a:solidFill>
                <a:latin typeface="微软雅黑" panose="020B0503020204020204" pitchFamily="34" charset="-122"/>
                <a:ea typeface="微软雅黑" panose="020B0503020204020204" pitchFamily="34" charset="-122"/>
              </a:rPr>
              <a:t>平面</a:t>
            </a:r>
            <a:endParaRPr lang="en-US" altLang="zh-CN" sz="1800" dirty="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立面的网格分割，合并</a:t>
            </a:r>
            <a:r>
              <a:rPr lang="en-US" altLang="zh-CN" sz="1800" dirty="0">
                <a:solidFill>
                  <a:schemeClr val="tx1"/>
                </a:solidFill>
                <a:latin typeface="微软雅黑" panose="020B0503020204020204" pitchFamily="34" charset="-122"/>
                <a:ea typeface="微软雅黑" panose="020B0503020204020204" pitchFamily="34" charset="-122"/>
              </a:rPr>
              <a:t>x</a:t>
            </a:r>
            <a:r>
              <a:rPr lang="zh-CN" altLang="en-US" sz="1800" dirty="0">
                <a:solidFill>
                  <a:schemeClr val="tx1"/>
                </a:solidFill>
                <a:latin typeface="微软雅黑" panose="020B0503020204020204" pitchFamily="34" charset="-122"/>
                <a:ea typeface="微软雅黑" panose="020B0503020204020204" pitchFamily="34" charset="-122"/>
              </a:rPr>
              <a:t>，</a:t>
            </a:r>
            <a:r>
              <a:rPr lang="en-US" altLang="zh-CN" sz="1800" dirty="0">
                <a:solidFill>
                  <a:schemeClr val="tx1"/>
                </a:solidFill>
                <a:latin typeface="微软雅黑" panose="020B0503020204020204" pitchFamily="34" charset="-122"/>
                <a:ea typeface="微软雅黑" panose="020B0503020204020204" pitchFamily="34" charset="-122"/>
              </a:rPr>
              <a:t>y</a:t>
            </a:r>
            <a:r>
              <a:rPr lang="zh-CN" altLang="en-US" sz="1800" dirty="0">
                <a:solidFill>
                  <a:schemeClr val="tx1"/>
                </a:solidFill>
                <a:latin typeface="微软雅黑" panose="020B0503020204020204" pitchFamily="34" charset="-122"/>
                <a:ea typeface="微软雅黑" panose="020B0503020204020204" pitchFamily="34" charset="-122"/>
              </a:rPr>
              <a:t>相同，</a:t>
            </a:r>
            <a:r>
              <a:rPr lang="en-US" altLang="zh-CN" sz="1800" dirty="0">
                <a:solidFill>
                  <a:schemeClr val="tx1"/>
                </a:solidFill>
                <a:latin typeface="微软雅黑" panose="020B0503020204020204" pitchFamily="34" charset="-122"/>
                <a:ea typeface="微软雅黑" panose="020B0503020204020204" pitchFamily="34" charset="-122"/>
              </a:rPr>
              <a:t>z</a:t>
            </a:r>
            <a:r>
              <a:rPr lang="zh-CN" altLang="en-US" sz="1800" dirty="0">
                <a:solidFill>
                  <a:schemeClr val="tx1"/>
                </a:solidFill>
                <a:latin typeface="微软雅黑" panose="020B0503020204020204" pitchFamily="34" charset="-122"/>
                <a:ea typeface="微软雅黑" panose="020B0503020204020204" pitchFamily="34" charset="-122"/>
              </a:rPr>
              <a:t>不同的</a:t>
            </a:r>
            <a:r>
              <a:rPr lang="zh-CN" altLang="en-US" sz="1800" dirty="0" smtClean="0">
                <a:solidFill>
                  <a:schemeClr val="tx1"/>
                </a:solidFill>
                <a:latin typeface="微软雅黑" panose="020B0503020204020204" pitchFamily="34" charset="-122"/>
                <a:ea typeface="微软雅黑" panose="020B0503020204020204" pitchFamily="34" charset="-122"/>
              </a:rPr>
              <a:t>网格</a:t>
            </a:r>
            <a:endParaRPr lang="zh-CN" altLang="en-US" sz="1800" dirty="0">
              <a:solidFill>
                <a:schemeClr val="tx1"/>
              </a:solidFill>
              <a:latin typeface="微软雅黑" panose="020B0503020204020204" pitchFamily="34" charset="-122"/>
              <a:ea typeface="微软雅黑" panose="020B0503020204020204" pitchFamily="34" charset="-122"/>
            </a:endParaRPr>
          </a:p>
          <a:p>
            <a:pPr marL="214313" indent="-214313">
              <a:lnSpc>
                <a:spcPct val="100000"/>
              </a:lnSpc>
              <a:buClr>
                <a:srgbClr val="00B050"/>
              </a:buClr>
              <a:buFont typeface="Wingdings" panose="05000000000000000000" pitchFamily="2" charset="2"/>
              <a:buChar char="u"/>
            </a:pPr>
            <a:r>
              <a:rPr lang="zh-CN" altLang="en-US" sz="2000" b="1" dirty="0">
                <a:solidFill>
                  <a:srgbClr val="0070C0"/>
                </a:solidFill>
                <a:latin typeface="微软雅黑" panose="020B0503020204020204" pitchFamily="34" charset="-122"/>
                <a:ea typeface="微软雅黑" panose="020B0503020204020204" pitchFamily="34" charset="-122"/>
              </a:rPr>
              <a:t>网格特征提取</a:t>
            </a:r>
          </a:p>
          <a:p>
            <a:pPr marL="728663" lvl="1" indent="-214313">
              <a:lnSpc>
                <a:spcPct val="100000"/>
              </a:lnSpc>
              <a:buClr>
                <a:srgbClr val="00B050"/>
              </a:buClr>
              <a:buFont typeface="Wingdings" panose="05000000000000000000" pitchFamily="2" charset="2"/>
              <a:buChar char="ü"/>
            </a:pPr>
            <a:r>
              <a:rPr lang="zh-CN" altLang="en-US" sz="1800" dirty="0" smtClean="0">
                <a:solidFill>
                  <a:schemeClr val="tx1"/>
                </a:solidFill>
                <a:latin typeface="微软雅黑" panose="020B0503020204020204" pitchFamily="34" charset="-122"/>
                <a:ea typeface="微软雅黑" panose="020B0503020204020204" pitchFamily="34" charset="-122"/>
              </a:rPr>
              <a:t>曲度</a:t>
            </a:r>
            <a:r>
              <a:rPr lang="zh-CN" altLang="en-US" sz="1800" dirty="0">
                <a:solidFill>
                  <a:schemeClr val="tx1"/>
                </a:solidFill>
                <a:latin typeface="微软雅黑" panose="020B0503020204020204" pitchFamily="34" charset="-122"/>
                <a:ea typeface="微软雅黑" panose="020B0503020204020204" pitchFamily="34" charset="-122"/>
              </a:rPr>
              <a:t>、</a:t>
            </a:r>
            <a:r>
              <a:rPr lang="zh-CN" altLang="en-US" sz="1800" dirty="0" smtClean="0">
                <a:solidFill>
                  <a:schemeClr val="tx1"/>
                </a:solidFill>
                <a:latin typeface="微软雅黑" panose="020B0503020204020204" pitchFamily="34" charset="-122"/>
                <a:ea typeface="微软雅黑" panose="020B0503020204020204" pitchFamily="34" charset="-122"/>
              </a:rPr>
              <a:t>深度</a:t>
            </a:r>
            <a:r>
              <a:rPr lang="zh-CN" altLang="en-US" sz="1800" dirty="0">
                <a:solidFill>
                  <a:schemeClr val="tx1"/>
                </a:solidFill>
                <a:latin typeface="微软雅黑" panose="020B0503020204020204" pitchFamily="34" charset="-122"/>
                <a:ea typeface="微软雅黑" panose="020B0503020204020204" pitchFamily="34" charset="-122"/>
              </a:rPr>
              <a:t>、</a:t>
            </a:r>
            <a:r>
              <a:rPr lang="zh-CN" altLang="en-US" sz="1800" dirty="0" smtClean="0">
                <a:solidFill>
                  <a:schemeClr val="tx1"/>
                </a:solidFill>
                <a:latin typeface="微软雅黑" panose="020B0503020204020204" pitchFamily="34" charset="-122"/>
                <a:ea typeface="微软雅黑" panose="020B0503020204020204" pitchFamily="34" charset="-122"/>
              </a:rPr>
              <a:t>密度</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00000"/>
              </a:lnSpc>
              <a:buClr>
                <a:srgbClr val="00B050"/>
              </a:buClr>
              <a:buFont typeface="Wingdings" panose="05000000000000000000" pitchFamily="2" charset="2"/>
              <a:buChar char="u"/>
            </a:pPr>
            <a:r>
              <a:rPr lang="zh-CN" altLang="en-US" sz="2000" b="1" dirty="0" smtClean="0">
                <a:solidFill>
                  <a:srgbClr val="0070C0"/>
                </a:solidFill>
                <a:latin typeface="微软雅黑" panose="020B0503020204020204" pitchFamily="34" charset="-122"/>
                <a:ea typeface="微软雅黑" panose="020B0503020204020204" pitchFamily="34" charset="-122"/>
              </a:rPr>
              <a:t>支持</a:t>
            </a:r>
            <a:r>
              <a:rPr lang="zh-CN" altLang="en-US" sz="2000" b="1" dirty="0">
                <a:solidFill>
                  <a:srgbClr val="0070C0"/>
                </a:solidFill>
                <a:latin typeface="微软雅黑" panose="020B0503020204020204" pitchFamily="34" charset="-122"/>
                <a:ea typeface="微软雅黑" panose="020B0503020204020204" pitchFamily="34" charset="-122"/>
              </a:rPr>
              <a:t>向量机分类</a:t>
            </a:r>
          </a:p>
          <a:p>
            <a:pPr marL="857250" lvl="1" indent="-34290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交互选取</a:t>
            </a:r>
            <a:r>
              <a:rPr lang="zh-CN" altLang="en-US" sz="1800" dirty="0" smtClean="0">
                <a:solidFill>
                  <a:schemeClr val="tx1"/>
                </a:solidFill>
                <a:latin typeface="微软雅黑" panose="020B0503020204020204" pitchFamily="34" charset="-122"/>
                <a:ea typeface="微软雅黑" panose="020B0503020204020204" pitchFamily="34" charset="-122"/>
              </a:rPr>
              <a:t>样本</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857250" lvl="1" indent="-34290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训练、</a:t>
            </a:r>
            <a:r>
              <a:rPr lang="zh-CN" altLang="en-US" sz="1800" dirty="0" smtClean="0">
                <a:solidFill>
                  <a:schemeClr val="tx1"/>
                </a:solidFill>
                <a:latin typeface="微软雅黑" panose="020B0503020204020204" pitchFamily="34" charset="-122"/>
                <a:ea typeface="微软雅黑" panose="020B0503020204020204" pitchFamily="34" charset="-122"/>
              </a:rPr>
              <a:t>预测</a:t>
            </a:r>
            <a:endParaRPr lang="en-US" altLang="zh-CN" sz="1800" dirty="0">
              <a:solidFill>
                <a:schemeClr val="tx1"/>
              </a:solidFill>
              <a:latin typeface="微软雅黑" panose="020B0503020204020204" pitchFamily="34" charset="-122"/>
              <a:ea typeface="微软雅黑" panose="020B0503020204020204" pitchFamily="34" charset="-122"/>
            </a:endParaRPr>
          </a:p>
        </p:txBody>
      </p:sp>
      <p:grpSp>
        <p:nvGrpSpPr>
          <p:cNvPr id="11" name="Group 5"/>
          <p:cNvGrpSpPr>
            <a:grpSpLocks noChangeAspect="1"/>
          </p:cNvGrpSpPr>
          <p:nvPr/>
        </p:nvGrpSpPr>
        <p:grpSpPr bwMode="auto">
          <a:xfrm>
            <a:off x="3897279" y="1376271"/>
            <a:ext cx="5038725" cy="2893060"/>
            <a:chOff x="0" y="0"/>
            <a:chExt cx="7286" cy="4184"/>
          </a:xfrm>
        </p:grpSpPr>
        <p:pic>
          <p:nvPicPr>
            <p:cNvPr id="3078" name="Picture 6" descr="screenshot-1399008939"/>
            <p:cNvPicPr>
              <a:picLocks noChangeAspect="1" noChangeArrowheads="1"/>
            </p:cNvPicPr>
            <p:nvPr/>
          </p:nvPicPr>
          <p:blipFill>
            <a:blip r:embed="rId3">
              <a:extLst>
                <a:ext uri="{28A0092B-C50C-407E-A947-70E740481C1C}">
                  <a14:useLocalDpi xmlns:a14="http://schemas.microsoft.com/office/drawing/2010/main" val="0"/>
                </a:ext>
              </a:extLst>
            </a:blip>
            <a:srcRect l="32788" t="14627" r="32626" b="7164"/>
            <a:stretch>
              <a:fillRect/>
            </a:stretch>
          </p:blipFill>
          <p:spPr bwMode="auto">
            <a:xfrm>
              <a:off x="0" y="0"/>
              <a:ext cx="3232" cy="4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9" name="Picture 7" descr="grid_label_colo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52" y="0"/>
              <a:ext cx="3334" cy="4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 name="标题 1"/>
          <p:cNvSpPr>
            <a:spLocks noGrp="1"/>
          </p:cNvSpPr>
          <p:nvPr>
            <p:ph type="title"/>
          </p:nvPr>
        </p:nvSpPr>
        <p:spPr/>
        <p:txBody>
          <a:bodyPr/>
          <a:lstStyle/>
          <a:p>
            <a:r>
              <a:rPr lang="zh-CN" altLang="en-US" dirty="0" smtClean="0"/>
              <a:t>用预分类的结果近似表示建筑结构的概率分布</a:t>
            </a:r>
            <a:endParaRPr lang="zh-CN" altLang="en-US" dirty="0"/>
          </a:p>
        </p:txBody>
      </p:sp>
      <p:grpSp>
        <p:nvGrpSpPr>
          <p:cNvPr id="16" name="Group 12"/>
          <p:cNvGrpSpPr>
            <a:grpSpLocks noChangeAspect="1"/>
          </p:cNvGrpSpPr>
          <p:nvPr/>
        </p:nvGrpSpPr>
        <p:grpSpPr bwMode="auto">
          <a:xfrm>
            <a:off x="3939494" y="2746234"/>
            <a:ext cx="5038725" cy="2176427"/>
            <a:chOff x="0" y="0"/>
            <a:chExt cx="9111" cy="3934"/>
          </a:xfrm>
        </p:grpSpPr>
        <p:pic>
          <p:nvPicPr>
            <p:cNvPr id="3085" name="Picture 54" descr="C:\Users\Xu Xiang\workspace\facade-parsing\Experiments3\cathedral\grid_label_color.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9" y="30"/>
              <a:ext cx="4422" cy="3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86" name="Picture 57" descr="C:\Users\Xu Xiang\workspace\facade-parsing\PassThroughFilter\screenshot-1398578080.png"/>
            <p:cNvPicPr>
              <a:picLocks noChangeAspect="1" noChangeArrowheads="1"/>
            </p:cNvPicPr>
            <p:nvPr/>
          </p:nvPicPr>
          <p:blipFill>
            <a:blip r:embed="rId6">
              <a:extLst>
                <a:ext uri="{28A0092B-C50C-407E-A947-70E740481C1C}">
                  <a14:useLocalDpi xmlns:a14="http://schemas.microsoft.com/office/drawing/2010/main" val="0"/>
                </a:ext>
              </a:extLst>
            </a:blip>
            <a:srcRect l="28410" t="16246" r="29375" b="18207"/>
            <a:stretch>
              <a:fillRect/>
            </a:stretch>
          </p:blipFill>
          <p:spPr bwMode="auto">
            <a:xfrm>
              <a:off x="0" y="0"/>
              <a:ext cx="4422" cy="39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 name="Group 21"/>
          <p:cNvGrpSpPr>
            <a:grpSpLocks noChangeAspect="1"/>
          </p:cNvGrpSpPr>
          <p:nvPr/>
        </p:nvGrpSpPr>
        <p:grpSpPr bwMode="auto">
          <a:xfrm>
            <a:off x="3897279" y="4765273"/>
            <a:ext cx="5038725" cy="1444361"/>
            <a:chOff x="0" y="0"/>
            <a:chExt cx="9495" cy="2722"/>
          </a:xfrm>
        </p:grpSpPr>
        <p:pic>
          <p:nvPicPr>
            <p:cNvPr id="3094" name="Picture 22" descr="grid_label_colo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680" y="0"/>
              <a:ext cx="4815" cy="27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95" name="Picture 23" descr="screenshot-1398909768"/>
            <p:cNvPicPr>
              <a:picLocks noChangeAspect="1" noChangeArrowheads="1"/>
            </p:cNvPicPr>
            <p:nvPr/>
          </p:nvPicPr>
          <p:blipFill>
            <a:blip r:embed="rId8" cstate="print">
              <a:extLst>
                <a:ext uri="{28A0092B-C50C-407E-A947-70E740481C1C}">
                  <a14:useLocalDpi xmlns:a14="http://schemas.microsoft.com/office/drawing/2010/main" val="0"/>
                </a:ext>
              </a:extLst>
            </a:blip>
            <a:srcRect l="15248" t="11205" r="13965" b="13446"/>
            <a:stretch>
              <a:fillRect/>
            </a:stretch>
          </p:blipFill>
          <p:spPr bwMode="auto">
            <a:xfrm>
              <a:off x="0" y="1"/>
              <a:ext cx="4462" cy="2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050946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additive="base">
                                        <p:cTn id="49" dur="500" fill="hold"/>
                                        <p:tgtEl>
                                          <p:spTgt spid="16"/>
                                        </p:tgtEl>
                                        <p:attrNameLst>
                                          <p:attrName>ppt_x</p:attrName>
                                        </p:attrNameLst>
                                      </p:cBhvr>
                                      <p:tavLst>
                                        <p:tav tm="0">
                                          <p:val>
                                            <p:strVal val="#ppt_x"/>
                                          </p:val>
                                        </p:tav>
                                        <p:tav tm="100000">
                                          <p:val>
                                            <p:strVal val="#ppt_x"/>
                                          </p:val>
                                        </p:tav>
                                      </p:tavLst>
                                    </p:anim>
                                    <p:anim calcmode="lin" valueType="num">
                                      <p:cBhvr additive="base">
                                        <p:cTn id="5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23"/>
                                        </p:tgtEl>
                                        <p:attrNameLst>
                                          <p:attrName>style.visibility</p:attrName>
                                        </p:attrNameLst>
                                      </p:cBhvr>
                                      <p:to>
                                        <p:strVal val="visible"/>
                                      </p:to>
                                    </p:set>
                                    <p:anim calcmode="lin" valueType="num">
                                      <p:cBhvr additive="base">
                                        <p:cTn id="55" dur="500" fill="hold"/>
                                        <p:tgtEl>
                                          <p:spTgt spid="23"/>
                                        </p:tgtEl>
                                        <p:attrNameLst>
                                          <p:attrName>ppt_x</p:attrName>
                                        </p:attrNameLst>
                                      </p:cBhvr>
                                      <p:tavLst>
                                        <p:tav tm="0">
                                          <p:val>
                                            <p:strVal val="#ppt_x"/>
                                          </p:val>
                                        </p:tav>
                                        <p:tav tm="100000">
                                          <p:val>
                                            <p:strVal val="#ppt_x"/>
                                          </p:val>
                                        </p:tav>
                                      </p:tavLst>
                                    </p:anim>
                                    <p:anim calcmode="lin" valueType="num">
                                      <p:cBhvr additive="base">
                                        <p:cTn id="5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实验结果：实验</a:t>
            </a:r>
            <a:r>
              <a:rPr lang="en-US" altLang="zh-CN" dirty="0" smtClean="0"/>
              <a:t>1</a:t>
            </a:r>
            <a:endParaRPr lang="zh-CN" altLang="en-US" dirty="0"/>
          </a:p>
        </p:txBody>
      </p:sp>
      <p:pic>
        <p:nvPicPr>
          <p:cNvPr id="29" name="图片 2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3710" y="2283903"/>
            <a:ext cx="7200000" cy="3816000"/>
          </a:xfrm>
          <a:prstGeom prst="rect">
            <a:avLst/>
          </a:prstGeom>
        </p:spPr>
      </p:pic>
      <p:pic>
        <p:nvPicPr>
          <p:cNvPr id="30" name="图片 2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8421" y="2259195"/>
            <a:ext cx="7200000" cy="3816000"/>
          </a:xfrm>
          <a:prstGeom prst="rect">
            <a:avLst/>
          </a:prstGeom>
        </p:spPr>
      </p:pic>
      <p:pic>
        <p:nvPicPr>
          <p:cNvPr id="31" name="图片 30"/>
          <p:cNvPicPr>
            <a:picLocks noChangeAspect="1"/>
          </p:cNvPicPr>
          <p:nvPr/>
        </p:nvPicPr>
        <p:blipFill rotWithShape="1">
          <a:blip r:embed="rId5">
            <a:extLst>
              <a:ext uri="{28A0092B-C50C-407E-A947-70E740481C1C}">
                <a14:useLocalDpi xmlns:a14="http://schemas.microsoft.com/office/drawing/2010/main" val="0"/>
              </a:ext>
            </a:extLst>
          </a:blip>
          <a:srcRect l="20904" r="20916"/>
          <a:stretch/>
        </p:blipFill>
        <p:spPr>
          <a:xfrm>
            <a:off x="4955060" y="2370400"/>
            <a:ext cx="4188940" cy="3816000"/>
          </a:xfrm>
          <a:prstGeom prst="rect">
            <a:avLst/>
          </a:prstGeom>
        </p:spPr>
      </p:pic>
    </p:spTree>
    <p:extLst>
      <p:ext uri="{BB962C8B-B14F-4D97-AF65-F5344CB8AC3E}">
        <p14:creationId xmlns:p14="http://schemas.microsoft.com/office/powerpoint/2010/main" val="151673858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down)">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5680" y="2155018"/>
            <a:ext cx="7200000" cy="3816000"/>
          </a:xfrm>
          <a:prstGeom prst="rect">
            <a:avLst/>
          </a:prstGeom>
        </p:spPr>
      </p:pic>
      <p:sp>
        <p:nvSpPr>
          <p:cNvPr id="2" name="标题 1"/>
          <p:cNvSpPr>
            <a:spLocks noGrp="1"/>
          </p:cNvSpPr>
          <p:nvPr>
            <p:ph type="title"/>
          </p:nvPr>
        </p:nvSpPr>
        <p:spPr/>
        <p:txBody>
          <a:bodyPr/>
          <a:lstStyle/>
          <a:p>
            <a:r>
              <a:rPr lang="zh-CN" altLang="en-US" dirty="0"/>
              <a:t>实验结果：</a:t>
            </a:r>
            <a:r>
              <a:rPr lang="zh-CN" altLang="en-US" dirty="0" smtClean="0"/>
              <a:t>实验</a:t>
            </a:r>
            <a:r>
              <a:rPr lang="en-US" altLang="zh-CN" dirty="0" smtClean="0"/>
              <a:t>2</a:t>
            </a:r>
            <a:endParaRPr lang="zh-CN" altLang="en-US" dirty="0"/>
          </a:p>
        </p:txBody>
      </p:sp>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0966" y="2147729"/>
            <a:ext cx="7200000" cy="3816000"/>
          </a:xfrm>
          <a:prstGeom prst="rect">
            <a:avLst/>
          </a:prstGeom>
        </p:spPr>
      </p:pic>
      <p:pic>
        <p:nvPicPr>
          <p:cNvPr id="8" name="图片 7"/>
          <p:cNvPicPr>
            <a:picLocks noChangeAspect="1"/>
          </p:cNvPicPr>
          <p:nvPr/>
        </p:nvPicPr>
        <p:blipFill rotWithShape="1">
          <a:blip r:embed="rId5">
            <a:extLst>
              <a:ext uri="{28A0092B-C50C-407E-A947-70E740481C1C}">
                <a14:useLocalDpi xmlns:a14="http://schemas.microsoft.com/office/drawing/2010/main" val="0"/>
              </a:ext>
            </a:extLst>
          </a:blip>
          <a:srcRect l="25520" t="-246" r="27048" b="246"/>
          <a:stretch/>
        </p:blipFill>
        <p:spPr>
          <a:xfrm>
            <a:off x="4596714" y="1554133"/>
            <a:ext cx="4337222" cy="5017770"/>
          </a:xfrm>
          <a:prstGeom prst="rect">
            <a:avLst/>
          </a:prstGeom>
        </p:spPr>
      </p:pic>
    </p:spTree>
    <p:extLst>
      <p:ext uri="{BB962C8B-B14F-4D97-AF65-F5344CB8AC3E}">
        <p14:creationId xmlns:p14="http://schemas.microsoft.com/office/powerpoint/2010/main" val="146324587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barn(inVertical)">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3</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85102" y="1982024"/>
            <a:ext cx="7200000" cy="381600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85102" y="1969669"/>
            <a:ext cx="7200000" cy="381600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9730" r="26316"/>
          <a:stretch/>
        </p:blipFill>
        <p:spPr>
          <a:xfrm>
            <a:off x="4942707" y="1788144"/>
            <a:ext cx="4019198" cy="4846320"/>
          </a:xfrm>
          <a:prstGeom prst="rect">
            <a:avLst/>
          </a:prstGeom>
        </p:spPr>
      </p:pic>
    </p:spTree>
    <p:extLst>
      <p:ext uri="{BB962C8B-B14F-4D97-AF65-F5344CB8AC3E}">
        <p14:creationId xmlns:p14="http://schemas.microsoft.com/office/powerpoint/2010/main" val="410018207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4</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45491" y="1747245"/>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33127" y="1752185"/>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6486" r="29459"/>
          <a:stretch/>
        </p:blipFill>
        <p:spPr>
          <a:xfrm>
            <a:off x="4250724" y="1920240"/>
            <a:ext cx="4028303" cy="4846320"/>
          </a:xfrm>
          <a:prstGeom prst="rect">
            <a:avLst/>
          </a:prstGeom>
        </p:spPr>
      </p:pic>
    </p:spTree>
    <p:extLst>
      <p:ext uri="{BB962C8B-B14F-4D97-AF65-F5344CB8AC3E}">
        <p14:creationId xmlns:p14="http://schemas.microsoft.com/office/powerpoint/2010/main" val="37440550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5</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270" y="1682210"/>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38557" y="1690398"/>
            <a:ext cx="9144000" cy="4846320"/>
          </a:xfrm>
          <a:prstGeom prst="rect">
            <a:avLst/>
          </a:prstGeom>
        </p:spPr>
      </p:pic>
      <p:pic>
        <p:nvPicPr>
          <p:cNvPr id="3" name="图片 2"/>
          <p:cNvPicPr>
            <a:picLocks noChangeAspect="1"/>
          </p:cNvPicPr>
          <p:nvPr/>
        </p:nvPicPr>
        <p:blipFill rotWithShape="1">
          <a:blip r:embed="rId5">
            <a:extLst>
              <a:ext uri="{28A0092B-C50C-407E-A947-70E740481C1C}">
                <a14:useLocalDpi xmlns:a14="http://schemas.microsoft.com/office/drawing/2010/main" val="0"/>
              </a:ext>
            </a:extLst>
          </a:blip>
          <a:srcRect l="33421" r="33684"/>
          <a:stretch/>
        </p:blipFill>
        <p:spPr>
          <a:xfrm>
            <a:off x="4620126" y="1414914"/>
            <a:ext cx="3007895" cy="4846320"/>
          </a:xfrm>
          <a:prstGeom prst="rect">
            <a:avLst/>
          </a:prstGeom>
        </p:spPr>
      </p:pic>
    </p:spTree>
    <p:extLst>
      <p:ext uri="{BB962C8B-B14F-4D97-AF65-F5344CB8AC3E}">
        <p14:creationId xmlns:p14="http://schemas.microsoft.com/office/powerpoint/2010/main" val="193789823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6</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548" y="1619451"/>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32548" y="1616646"/>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31622" r="26081"/>
          <a:stretch/>
        </p:blipFill>
        <p:spPr>
          <a:xfrm>
            <a:off x="5276334" y="1613841"/>
            <a:ext cx="3867666" cy="4846320"/>
          </a:xfrm>
          <a:prstGeom prst="rect">
            <a:avLst/>
          </a:prstGeom>
        </p:spPr>
      </p:pic>
    </p:spTree>
    <p:extLst>
      <p:ext uri="{BB962C8B-B14F-4D97-AF65-F5344CB8AC3E}">
        <p14:creationId xmlns:p14="http://schemas.microsoft.com/office/powerpoint/2010/main" val="23101642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7</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58189" y="1523286"/>
            <a:ext cx="9144000" cy="5231153"/>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8189" y="1542471"/>
            <a:ext cx="9144000" cy="5231153"/>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8108" r="31081"/>
          <a:stretch/>
        </p:blipFill>
        <p:spPr>
          <a:xfrm>
            <a:off x="4361935" y="1406548"/>
            <a:ext cx="3731741" cy="5231153"/>
          </a:xfrm>
          <a:prstGeom prst="rect">
            <a:avLst/>
          </a:prstGeom>
        </p:spPr>
      </p:pic>
    </p:spTree>
    <p:extLst>
      <p:ext uri="{BB962C8B-B14F-4D97-AF65-F5344CB8AC3E}">
        <p14:creationId xmlns:p14="http://schemas.microsoft.com/office/powerpoint/2010/main" val="243016540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算法效率</a:t>
            </a:r>
            <a:endParaRPr lang="zh-CN" altLang="en-US" dirty="0"/>
          </a:p>
        </p:txBody>
      </p:sp>
      <p:sp>
        <p:nvSpPr>
          <p:cNvPr id="3" name="内容占位符 2"/>
          <p:cNvSpPr>
            <a:spLocks noGrp="1"/>
          </p:cNvSpPr>
          <p:nvPr>
            <p:ph idx="1"/>
          </p:nvPr>
        </p:nvSpPr>
        <p:spPr>
          <a:xfrm>
            <a:off x="276963" y="1825625"/>
            <a:ext cx="3125815" cy="4351338"/>
          </a:xfrm>
        </p:spPr>
        <p:txBody>
          <a:bodyPr>
            <a:noAutofit/>
          </a:bodyPr>
          <a:lstStyle/>
          <a:p>
            <a:pPr marL="17145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实验环境</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685800" lvl="1">
              <a:lnSpc>
                <a:spcPct val="100000"/>
              </a:lnSpc>
              <a:buClr>
                <a:srgbClr val="00B050"/>
              </a:buClr>
              <a:buFont typeface="Wingdings" panose="05000000000000000000" pitchFamily="2" charset="2"/>
              <a:buChar char="ü"/>
            </a:pPr>
            <a:r>
              <a:rPr lang="en-US" altLang="zh-CN" sz="2000" dirty="0" smtClean="0">
                <a:solidFill>
                  <a:schemeClr val="tx1"/>
                </a:solidFill>
                <a:latin typeface="微软雅黑" panose="020B0503020204020204" pitchFamily="34" charset="-122"/>
                <a:ea typeface="微软雅黑" panose="020B0503020204020204" pitchFamily="34" charset="-122"/>
              </a:rPr>
              <a:t>C++</a:t>
            </a:r>
            <a:r>
              <a:rPr lang="zh-CN" altLang="en-US" sz="2000" dirty="0" smtClean="0">
                <a:solidFill>
                  <a:schemeClr val="tx1"/>
                </a:solidFill>
                <a:latin typeface="微软雅黑" panose="020B0503020204020204" pitchFamily="34" charset="-122"/>
                <a:ea typeface="微软雅黑" panose="020B0503020204020204" pitchFamily="34" charset="-122"/>
              </a:rPr>
              <a:t>语言</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685800" lvl="1">
              <a:lnSpc>
                <a:spcPct val="100000"/>
              </a:lnSpc>
              <a:buClr>
                <a:srgbClr val="00B050"/>
              </a:buClr>
              <a:buFont typeface="Wingdings" panose="05000000000000000000" pitchFamily="2" charset="2"/>
              <a:buChar char="ü"/>
            </a:pPr>
            <a:r>
              <a:rPr lang="en-US" altLang="zh-CN" sz="2000" dirty="0" smtClean="0">
                <a:solidFill>
                  <a:schemeClr val="tx1"/>
                </a:solidFill>
                <a:latin typeface="微软雅黑" panose="020B0503020204020204" pitchFamily="34" charset="-122"/>
                <a:ea typeface="微软雅黑" panose="020B0503020204020204" pitchFamily="34" charset="-122"/>
              </a:rPr>
              <a:t>RAM</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smtClean="0">
                <a:solidFill>
                  <a:schemeClr val="tx1"/>
                </a:solidFill>
                <a:latin typeface="微软雅黑" panose="020B0503020204020204" pitchFamily="34" charset="-122"/>
                <a:ea typeface="微软雅黑" panose="020B0503020204020204" pitchFamily="34" charset="-122"/>
              </a:rPr>
              <a:t>6G</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smtClean="0">
                <a:solidFill>
                  <a:schemeClr val="tx1"/>
                </a:solidFill>
                <a:latin typeface="微软雅黑" panose="020B0503020204020204" pitchFamily="34" charset="-122"/>
                <a:ea typeface="微软雅黑" panose="020B0503020204020204" pitchFamily="34" charset="-122"/>
              </a:rPr>
              <a:t>CPU</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Intel</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R</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Xeon</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R</a:t>
            </a:r>
            <a:r>
              <a:rPr lang="zh-CN" altLang="en-US" sz="2000" dirty="0" smtClean="0">
                <a:solidFill>
                  <a:schemeClr val="tx1"/>
                </a:solidFill>
                <a:latin typeface="微软雅黑" panose="020B0503020204020204" pitchFamily="34" charset="-122"/>
                <a:ea typeface="微软雅黑" panose="020B0503020204020204" pitchFamily="34" charset="-122"/>
              </a:rPr>
              <a:t>）；工作站</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34290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网格属性计</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1028700" lvl="1" indent="-342900">
              <a:lnSpc>
                <a:spcPct val="100000"/>
              </a:lnSpc>
              <a:buClr>
                <a:srgbClr val="00B050"/>
              </a:buClr>
              <a:buFont typeface="Wingdings" panose="05000000000000000000" pitchFamily="2" charset="2"/>
              <a:buChar char="Ø"/>
            </a:pPr>
            <a:r>
              <a:rPr lang="en-US" altLang="zh-CN" sz="2250" dirty="0" smtClean="0">
                <a:solidFill>
                  <a:schemeClr val="tx1"/>
                </a:solidFill>
                <a:latin typeface="微软雅黑" panose="020B0503020204020204" pitchFamily="34" charset="-122"/>
                <a:ea typeface="微软雅黑" panose="020B0503020204020204" pitchFamily="34" charset="-122"/>
              </a:rPr>
              <a:t>24</a:t>
            </a:r>
            <a:r>
              <a:rPr lang="zh-CN" altLang="zh-CN" sz="2250" dirty="0">
                <a:solidFill>
                  <a:schemeClr val="tx1"/>
                </a:solidFill>
                <a:latin typeface="微软雅黑" panose="020B0503020204020204" pitchFamily="34" charset="-122"/>
                <a:ea typeface="微软雅黑" panose="020B0503020204020204" pitchFamily="34" charset="-122"/>
              </a:rPr>
              <a:t>～</a:t>
            </a:r>
            <a:r>
              <a:rPr lang="en-US" altLang="zh-CN" sz="2250" dirty="0" smtClean="0">
                <a:solidFill>
                  <a:schemeClr val="tx1"/>
                </a:solidFill>
                <a:latin typeface="微软雅黑" panose="020B0503020204020204" pitchFamily="34" charset="-122"/>
                <a:ea typeface="微软雅黑" panose="020B0503020204020204" pitchFamily="34" charset="-122"/>
              </a:rPr>
              <a:t>161s</a:t>
            </a:r>
          </a:p>
          <a:p>
            <a:pPr marL="34290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增强学习求</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1028700" lvl="1" indent="-342900">
              <a:lnSpc>
                <a:spcPct val="100000"/>
              </a:lnSpc>
              <a:buClr>
                <a:srgbClr val="00B050"/>
              </a:buClr>
              <a:buFont typeface="Wingdings" panose="05000000000000000000" pitchFamily="2" charset="2"/>
              <a:buChar char="Ø"/>
            </a:pPr>
            <a:r>
              <a:rPr lang="en-US" altLang="zh-CN" sz="2250" dirty="0" smtClean="0">
                <a:solidFill>
                  <a:schemeClr val="tx1"/>
                </a:solidFill>
                <a:latin typeface="微软雅黑" panose="020B0503020204020204" pitchFamily="34" charset="-122"/>
                <a:ea typeface="微软雅黑" panose="020B0503020204020204" pitchFamily="34" charset="-122"/>
              </a:rPr>
              <a:t>100</a:t>
            </a:r>
            <a:r>
              <a:rPr lang="zh-CN" altLang="en-US" sz="2250" dirty="0">
                <a:solidFill>
                  <a:schemeClr val="tx1"/>
                </a:solidFill>
                <a:latin typeface="微软雅黑" panose="020B0503020204020204" pitchFamily="34" charset="-122"/>
                <a:ea typeface="微软雅黑" panose="020B0503020204020204" pitchFamily="34" charset="-122"/>
              </a:rPr>
              <a:t>～</a:t>
            </a:r>
            <a:r>
              <a:rPr lang="en-US" altLang="zh-CN" sz="2250" dirty="0">
                <a:solidFill>
                  <a:schemeClr val="tx1"/>
                </a:solidFill>
                <a:latin typeface="微软雅黑" panose="020B0503020204020204" pitchFamily="34" charset="-122"/>
                <a:ea typeface="微软雅黑" panose="020B0503020204020204" pitchFamily="34" charset="-122"/>
              </a:rPr>
              <a:t>1000s</a:t>
            </a:r>
            <a:endParaRPr lang="zh-CN" altLang="en-US" sz="2250" dirty="0">
              <a:solidFill>
                <a:schemeClr val="tx1"/>
              </a:solidFill>
              <a:latin typeface="微软雅黑" panose="020B0503020204020204" pitchFamily="34" charset="-122"/>
              <a:ea typeface="微软雅黑" panose="020B0503020204020204" pitchFamily="34" charset="-122"/>
            </a:endParaRPr>
          </a:p>
        </p:txBody>
      </p:sp>
      <p:graphicFrame>
        <p:nvGraphicFramePr>
          <p:cNvPr id="4" name="表格 3"/>
          <p:cNvGraphicFramePr>
            <a:graphicFrameLocks noGrp="1"/>
          </p:cNvGraphicFramePr>
          <p:nvPr>
            <p:extLst>
              <p:ext uri="{D42A27DB-BD31-4B8C-83A1-F6EECF244321}">
                <p14:modId xmlns:p14="http://schemas.microsoft.com/office/powerpoint/2010/main" val="1116432516"/>
              </p:ext>
            </p:extLst>
          </p:nvPr>
        </p:nvGraphicFramePr>
        <p:xfrm>
          <a:off x="3480179" y="1825624"/>
          <a:ext cx="5622877" cy="4732418"/>
        </p:xfrm>
        <a:graphic>
          <a:graphicData uri="http://schemas.openxmlformats.org/drawingml/2006/table">
            <a:tbl>
              <a:tblPr>
                <a:tableStyleId>{5C22544A-7EE6-4342-B048-85BDC9FD1C3A}</a:tableStyleId>
              </a:tblPr>
              <a:tblGrid>
                <a:gridCol w="500978"/>
                <a:gridCol w="1097280"/>
                <a:gridCol w="1153551"/>
                <a:gridCol w="927358"/>
                <a:gridCol w="1106446"/>
                <a:gridCol w="837264"/>
              </a:tblGrid>
              <a:tr h="494000">
                <a:tc rowSpan="2">
                  <a:txBody>
                    <a:bodyPr/>
                    <a:lstStyle/>
                    <a:p>
                      <a:pPr indent="304800" algn="ctr">
                        <a:lnSpc>
                          <a:spcPct val="125000"/>
                        </a:lnSpc>
                        <a:spcAft>
                          <a:spcPts val="0"/>
                        </a:spcAft>
                      </a:pPr>
                      <a:r>
                        <a:rPr lang="zh-CN" altLang="en-US" sz="1400" b="1" kern="100" dirty="0" smtClean="0">
                          <a:solidFill>
                            <a:srgbClr val="00B050"/>
                          </a:solidFill>
                          <a:effectLst/>
                        </a:rPr>
                        <a:t> 实验</a:t>
                      </a:r>
                      <a:r>
                        <a:rPr lang="en-US" sz="1400" b="1" kern="100" dirty="0">
                          <a:solidFill>
                            <a:srgbClr val="00B050"/>
                          </a:solidFill>
                          <a:effectLst/>
                        </a:rPr>
                        <a:t> </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gridSpan="3">
                  <a:txBody>
                    <a:bodyPr/>
                    <a:lstStyle/>
                    <a:p>
                      <a:pPr indent="304800" algn="ctr">
                        <a:lnSpc>
                          <a:spcPct val="125000"/>
                        </a:lnSpc>
                        <a:spcAft>
                          <a:spcPts val="0"/>
                        </a:spcAft>
                      </a:pPr>
                      <a:r>
                        <a:rPr lang="zh-CN" sz="1400" b="1" kern="100">
                          <a:solidFill>
                            <a:srgbClr val="00B050"/>
                          </a:solidFill>
                          <a:effectLst/>
                        </a:rPr>
                        <a:t>支持向量机分类（训练、预测）</a:t>
                      </a:r>
                      <a:endParaRPr lang="zh-CN" sz="1400" b="1" kern="10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hMerge="1">
                  <a:txBody>
                    <a:bodyPr/>
                    <a:lstStyle/>
                    <a:p>
                      <a:endParaRPr lang="zh-CN" altLang="en-US"/>
                    </a:p>
                  </a:txBody>
                  <a:tcPr/>
                </a:tc>
                <a:tc hMerge="1">
                  <a:txBody>
                    <a:bodyPr/>
                    <a:lstStyle/>
                    <a:p>
                      <a:endParaRPr lang="zh-CN" altLang="en-US"/>
                    </a:p>
                  </a:txBody>
                  <a:tcPr/>
                </a:tc>
                <a:tc rowSpan="2">
                  <a:txBody>
                    <a:bodyPr/>
                    <a:lstStyle/>
                    <a:p>
                      <a:pPr algn="ctr">
                        <a:lnSpc>
                          <a:spcPct val="125000"/>
                        </a:lnSpc>
                        <a:spcAft>
                          <a:spcPts val="0"/>
                        </a:spcAft>
                      </a:pPr>
                      <a:r>
                        <a:rPr lang="zh-CN" sz="1400" b="1" kern="100" dirty="0">
                          <a:solidFill>
                            <a:srgbClr val="00B050"/>
                          </a:solidFill>
                          <a:effectLst/>
                        </a:rPr>
                        <a:t>增强学习</a:t>
                      </a:r>
                      <a:r>
                        <a:rPr lang="zh-CN" sz="1400" b="1" kern="100" dirty="0" smtClean="0">
                          <a:solidFill>
                            <a:srgbClr val="00B050"/>
                          </a:solidFill>
                          <a:effectLst/>
                        </a:rPr>
                        <a:t>求解</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rowSpan="2">
                  <a:txBody>
                    <a:bodyPr/>
                    <a:lstStyle/>
                    <a:p>
                      <a:pPr algn="ctr">
                        <a:lnSpc>
                          <a:spcPct val="125000"/>
                        </a:lnSpc>
                        <a:spcAft>
                          <a:spcPts val="0"/>
                        </a:spcAft>
                      </a:pPr>
                      <a:r>
                        <a:rPr lang="zh-CN" sz="1400" b="1" kern="100" dirty="0">
                          <a:solidFill>
                            <a:srgbClr val="00B050"/>
                          </a:solidFill>
                          <a:effectLst/>
                        </a:rPr>
                        <a:t>精度</a:t>
                      </a:r>
                      <a:r>
                        <a:rPr lang="en-US" sz="1400" b="1" kern="100" dirty="0">
                          <a:solidFill>
                            <a:srgbClr val="00B050"/>
                          </a:solidFill>
                          <a:effectLst/>
                        </a:rPr>
                        <a:t>(R/N</a:t>
                      </a:r>
                      <a:r>
                        <a:rPr lang="en-US" sz="1400" b="1" kern="100" dirty="0" smtClean="0">
                          <a:solidFill>
                            <a:srgbClr val="00B050"/>
                          </a:solidFill>
                          <a:effectLst/>
                        </a:rPr>
                        <a:t>)</a:t>
                      </a:r>
                      <a:r>
                        <a:rPr lang="zh-CN" altLang="en-US" sz="1400" b="1" kern="100" dirty="0" smtClean="0">
                          <a:solidFill>
                            <a:srgbClr val="00B050"/>
                          </a:solidFill>
                          <a:effectLst/>
                        </a:rPr>
                        <a:t>（</a:t>
                      </a:r>
                      <a:r>
                        <a:rPr lang="en-US" altLang="zh-CN" sz="1400" b="1" kern="100" dirty="0" smtClean="0">
                          <a:solidFill>
                            <a:srgbClr val="00B050"/>
                          </a:solidFill>
                          <a:effectLst/>
                        </a:rPr>
                        <a:t>%</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r>
              <a:tr h="1038018">
                <a:tc vMerge="1">
                  <a:txBody>
                    <a:bodyPr/>
                    <a:lstStyle/>
                    <a:p>
                      <a:endParaRPr lang="zh-CN" altLang="en-US"/>
                    </a:p>
                  </a:txBody>
                  <a:tcPr/>
                </a:tc>
                <a:tc>
                  <a:txBody>
                    <a:bodyPr/>
                    <a:lstStyle/>
                    <a:p>
                      <a:pPr algn="ctr">
                        <a:lnSpc>
                          <a:spcPct val="125000"/>
                        </a:lnSpc>
                        <a:spcAft>
                          <a:spcPts val="0"/>
                        </a:spcAft>
                      </a:pPr>
                      <a:r>
                        <a:rPr lang="zh-CN" sz="1400" b="1" kern="100" dirty="0">
                          <a:solidFill>
                            <a:srgbClr val="00B050"/>
                          </a:solidFill>
                          <a:effectLst/>
                        </a:rPr>
                        <a:t>网格属性</a:t>
                      </a:r>
                      <a:r>
                        <a:rPr lang="zh-CN" sz="1400" b="1" kern="100" dirty="0" smtClean="0">
                          <a:solidFill>
                            <a:srgbClr val="00B050"/>
                          </a:solidFill>
                          <a:effectLst/>
                        </a:rPr>
                        <a:t>计算</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zh-CN" sz="1400" b="1" kern="100" dirty="0">
                          <a:solidFill>
                            <a:srgbClr val="00B050"/>
                          </a:solidFill>
                          <a:effectLst/>
                        </a:rPr>
                        <a:t>样本</a:t>
                      </a:r>
                      <a:r>
                        <a:rPr lang="zh-CN" sz="1400" b="1" kern="100" dirty="0" smtClean="0">
                          <a:solidFill>
                            <a:srgbClr val="00B050"/>
                          </a:solidFill>
                          <a:effectLst/>
                        </a:rPr>
                        <a:t>训练</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zh-CN" sz="1400" b="1" kern="100" dirty="0">
                          <a:solidFill>
                            <a:srgbClr val="00B050"/>
                          </a:solidFill>
                          <a:effectLst/>
                        </a:rPr>
                        <a:t>类别</a:t>
                      </a:r>
                      <a:r>
                        <a:rPr lang="zh-CN" sz="1400" b="1" kern="100" dirty="0" smtClean="0">
                          <a:solidFill>
                            <a:srgbClr val="00B050"/>
                          </a:solidFill>
                          <a:effectLst/>
                        </a:rPr>
                        <a:t>预测</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latin typeface="Times New Roman" panose="02020603050405020304" pitchFamily="18" charset="0"/>
                          <a:ea typeface="宋体" panose="02010600030101010101" pitchFamily="2" charset="-122"/>
                        </a:rPr>
                        <a:t>）</a:t>
                      </a:r>
                      <a:endParaRPr lang="en-US" altLang="zh-CN" sz="1400" b="1" kern="100" dirty="0" smtClean="0">
                        <a:solidFill>
                          <a:srgbClr val="00B050"/>
                        </a:solidFill>
                        <a:effectLst/>
                      </a:endParaRPr>
                    </a:p>
                  </a:txBody>
                  <a:tcPr marL="68580" marR="68580" marT="0" marB="0" anchor="ctr"/>
                </a:tc>
                <a:tc vMerge="1">
                  <a:txBody>
                    <a:bodyPr/>
                    <a:lstStyle/>
                    <a:p>
                      <a:endParaRPr lang="zh-CN" altLang="en-US"/>
                    </a:p>
                  </a:txBody>
                  <a:tcPr/>
                </a:tc>
                <a:tc vMerge="1">
                  <a:txBody>
                    <a:bodyPr/>
                    <a:lstStyle/>
                    <a:p>
                      <a:endParaRPr lang="zh-CN" altLang="en-US"/>
                    </a:p>
                  </a:txBody>
                  <a:tcP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1</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24.759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10.609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1.617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106.662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86.252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2</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24.541</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9.573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1.478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271.378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84.802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3</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253.265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59.707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3.414</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950.347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86.748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4</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161.787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47.902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2.759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623.422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84.818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5</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150.444</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185.403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1.537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427.876</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87.648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6</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49.338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249.713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2.315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831.435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89.795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bl>
          </a:graphicData>
        </a:graphic>
      </p:graphicFrame>
    </p:spTree>
    <p:extLst>
      <p:ext uri="{BB962C8B-B14F-4D97-AF65-F5344CB8AC3E}">
        <p14:creationId xmlns:p14="http://schemas.microsoft.com/office/powerpoint/2010/main" val="8360065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结论</a:t>
            </a:r>
            <a:endParaRPr lang="zh-CN" altLang="en-US" dirty="0"/>
          </a:p>
        </p:txBody>
      </p:sp>
      <p:sp>
        <p:nvSpPr>
          <p:cNvPr id="3" name="内容占位符 2"/>
          <p:cNvSpPr>
            <a:spLocks noGrp="1"/>
          </p:cNvSpPr>
          <p:nvPr>
            <p:ph idx="1"/>
          </p:nvPr>
        </p:nvSpPr>
        <p:spPr>
          <a:xfrm>
            <a:off x="628652" y="1825625"/>
            <a:ext cx="7383234" cy="4351338"/>
          </a:xfrm>
        </p:spPr>
        <p:txBody>
          <a:bodyPr>
            <a:noAutofit/>
          </a:bodyPr>
          <a:lstStyle/>
          <a:p>
            <a:pPr marL="171450" indent="-171450">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优势</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smtClean="0">
                <a:solidFill>
                  <a:srgbClr val="0070C0"/>
                </a:solidFill>
                <a:latin typeface="微软雅黑" panose="020B0503020204020204" pitchFamily="34" charset="-122"/>
                <a:ea typeface="微软雅黑" panose="020B0503020204020204" pitchFamily="34" charset="-122"/>
              </a:rPr>
              <a:t>多种风格建筑的建模</a:t>
            </a:r>
            <a:endParaRPr lang="en-US" altLang="zh-CN" sz="2250" dirty="0" smtClean="0">
              <a:solidFill>
                <a:srgbClr val="0070C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smtClean="0">
                <a:solidFill>
                  <a:srgbClr val="0070C0"/>
                </a:solidFill>
                <a:latin typeface="微软雅黑" panose="020B0503020204020204" pitchFamily="34" charset="-122"/>
                <a:ea typeface="微软雅黑" panose="020B0503020204020204" pitchFamily="34" charset="-122"/>
              </a:rPr>
              <a:t>有效地应对对称的建筑立面点云缺失</a:t>
            </a:r>
            <a:endParaRPr lang="en-US" altLang="zh-CN" sz="2250" dirty="0" smtClean="0">
              <a:solidFill>
                <a:srgbClr val="0070C0"/>
              </a:solidFill>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2400" dirty="0" smtClean="0">
                <a:solidFill>
                  <a:srgbClr val="FFC000"/>
                </a:solidFill>
                <a:latin typeface="微软雅黑" panose="020B0503020204020204" pitchFamily="34" charset="-122"/>
                <a:ea typeface="微软雅黑" panose="020B0503020204020204" pitchFamily="34" charset="-122"/>
              </a:rPr>
              <a:t>不足</a:t>
            </a:r>
            <a:endParaRPr lang="en-US" altLang="zh-CN" sz="2400" dirty="0" smtClean="0">
              <a:solidFill>
                <a:srgbClr val="FFC00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smtClean="0">
                <a:solidFill>
                  <a:srgbClr val="FFC000"/>
                </a:solidFill>
                <a:latin typeface="微软雅黑" panose="020B0503020204020204" pitchFamily="34" charset="-122"/>
                <a:ea typeface="微软雅黑" panose="020B0503020204020204" pitchFamily="34" charset="-122"/>
              </a:rPr>
              <a:t>采用表格的方法表示</a:t>
            </a:r>
            <a:r>
              <a:rPr lang="en-US" altLang="zh-CN" sz="2250" dirty="0" smtClean="0">
                <a:solidFill>
                  <a:srgbClr val="FFC000"/>
                </a:solidFill>
                <a:latin typeface="微软雅黑" panose="020B0503020204020204" pitchFamily="34" charset="-122"/>
                <a:ea typeface="微软雅黑" panose="020B0503020204020204" pitchFamily="34" charset="-122"/>
              </a:rPr>
              <a:t>V</a:t>
            </a:r>
            <a:r>
              <a:rPr lang="zh-CN" altLang="en-US" sz="2250" dirty="0" smtClean="0">
                <a:solidFill>
                  <a:srgbClr val="FFC000"/>
                </a:solidFill>
                <a:latin typeface="微软雅黑" panose="020B0503020204020204" pitchFamily="34" charset="-122"/>
                <a:ea typeface="微软雅黑" panose="020B0503020204020204" pitchFamily="34" charset="-122"/>
              </a:rPr>
              <a:t>函数，没有对状态进行简化</a:t>
            </a:r>
            <a:endParaRPr lang="en-US" altLang="zh-CN" sz="2250" dirty="0" smtClean="0">
              <a:solidFill>
                <a:srgbClr val="FFC00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a:solidFill>
                  <a:srgbClr val="FFC000"/>
                </a:solidFill>
                <a:latin typeface="微软雅黑" panose="020B0503020204020204" pitchFamily="34" charset="-122"/>
                <a:ea typeface="微软雅黑" panose="020B0503020204020204" pitchFamily="34" charset="-122"/>
              </a:rPr>
              <a:t>预分</a:t>
            </a:r>
            <a:r>
              <a:rPr lang="zh-CN" altLang="en-US" sz="2250" dirty="0" smtClean="0">
                <a:solidFill>
                  <a:srgbClr val="FFC000"/>
                </a:solidFill>
                <a:latin typeface="微软雅黑" panose="020B0503020204020204" pitchFamily="34" charset="-122"/>
                <a:ea typeface="微软雅黑" panose="020B0503020204020204" pitchFamily="34" charset="-122"/>
              </a:rPr>
              <a:t>类没有自动化</a:t>
            </a:r>
            <a:endParaRPr lang="zh-CN" altLang="en-US" sz="2250" dirty="0">
              <a:solidFill>
                <a:srgbClr val="FFC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6666289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2800" dirty="0"/>
              <a:t>谢谢</a:t>
            </a:r>
            <a:r>
              <a:rPr lang="zh-CN" altLang="en-US" sz="2800" dirty="0" smtClean="0"/>
              <a:t>！请</a:t>
            </a:r>
            <a:r>
              <a:rPr lang="zh-CN" altLang="en-US" sz="2800" dirty="0"/>
              <a:t>老师提问</a:t>
            </a:r>
            <a:endParaRPr lang="zh-CN" altLang="en-US" dirty="0"/>
          </a:p>
        </p:txBody>
      </p:sp>
      <p:pic>
        <p:nvPicPr>
          <p:cNvPr id="11" name="图片 10"/>
          <p:cNvPicPr>
            <a:picLocks noChangeAspect="1"/>
          </p:cNvPicPr>
          <p:nvPr/>
        </p:nvPicPr>
        <p:blipFill>
          <a:blip r:embed="rId3"/>
          <a:stretch>
            <a:fillRect/>
          </a:stretch>
        </p:blipFill>
        <p:spPr>
          <a:xfrm>
            <a:off x="4680000" y="1364051"/>
            <a:ext cx="4320000" cy="3106416"/>
          </a:xfrm>
          <a:prstGeom prst="rect">
            <a:avLst/>
          </a:prstGeom>
        </p:spPr>
      </p:pic>
      <p:pic>
        <p:nvPicPr>
          <p:cNvPr id="15" name="图片 14"/>
          <p:cNvPicPr>
            <a:picLocks noChangeAspect="1"/>
          </p:cNvPicPr>
          <p:nvPr/>
        </p:nvPicPr>
        <p:blipFill>
          <a:blip r:embed="rId4"/>
          <a:stretch>
            <a:fillRect/>
          </a:stretch>
        </p:blipFill>
        <p:spPr>
          <a:xfrm>
            <a:off x="0" y="4998822"/>
            <a:ext cx="4680000" cy="1859178"/>
          </a:xfrm>
          <a:prstGeom prst="rect">
            <a:avLst/>
          </a:prstGeom>
        </p:spPr>
      </p:pic>
      <p:pic>
        <p:nvPicPr>
          <p:cNvPr id="17" name="图片 16"/>
          <p:cNvPicPr>
            <a:picLocks noChangeAspect="1"/>
          </p:cNvPicPr>
          <p:nvPr/>
        </p:nvPicPr>
        <p:blipFill>
          <a:blip r:embed="rId5"/>
          <a:stretch>
            <a:fillRect/>
          </a:stretch>
        </p:blipFill>
        <p:spPr>
          <a:xfrm>
            <a:off x="-60163" y="1555739"/>
            <a:ext cx="4680000" cy="1980872"/>
          </a:xfrm>
          <a:prstGeom prst="rect">
            <a:avLst/>
          </a:prstGeom>
        </p:spPr>
      </p:pic>
      <p:pic>
        <p:nvPicPr>
          <p:cNvPr id="19" name="图片 18"/>
          <p:cNvPicPr>
            <a:picLocks noChangeAspect="1"/>
          </p:cNvPicPr>
          <p:nvPr/>
        </p:nvPicPr>
        <p:blipFill>
          <a:blip r:embed="rId6"/>
          <a:stretch>
            <a:fillRect/>
          </a:stretch>
        </p:blipFill>
        <p:spPr>
          <a:xfrm>
            <a:off x="-36094" y="3264130"/>
            <a:ext cx="4680000" cy="1675842"/>
          </a:xfrm>
          <a:prstGeom prst="rect">
            <a:avLst/>
          </a:prstGeom>
        </p:spPr>
      </p:pic>
      <p:pic>
        <p:nvPicPr>
          <p:cNvPr id="20" name="图片 19"/>
          <p:cNvPicPr>
            <a:picLocks noChangeAspect="1"/>
          </p:cNvPicPr>
          <p:nvPr/>
        </p:nvPicPr>
        <p:blipFill>
          <a:blip r:embed="rId7"/>
          <a:stretch>
            <a:fillRect/>
          </a:stretch>
        </p:blipFill>
        <p:spPr>
          <a:xfrm>
            <a:off x="4500000" y="4468426"/>
            <a:ext cx="4680000" cy="2293663"/>
          </a:xfrm>
          <a:prstGeom prst="rect">
            <a:avLst/>
          </a:prstGeom>
        </p:spPr>
      </p:pic>
    </p:spTree>
    <p:extLst>
      <p:ext uri="{BB962C8B-B14F-4D97-AF65-F5344CB8AC3E}">
        <p14:creationId xmlns:p14="http://schemas.microsoft.com/office/powerpoint/2010/main" val="38251647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3327" y="-40944"/>
            <a:ext cx="8062025" cy="1208868"/>
          </a:xfrm>
        </p:spPr>
        <p:txBody>
          <a:bodyPr/>
          <a:lstStyle/>
          <a:p>
            <a:r>
              <a:rPr lang="zh-CN" altLang="en-US" dirty="0"/>
              <a:t>示例：用二分形状语义表示一个简单的建筑立面</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91987" y="2102352"/>
            <a:ext cx="4652013" cy="39735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Content Placeholder 2"/>
          <p:cNvSpPr txBox="1">
            <a:spLocks/>
          </p:cNvSpPr>
          <p:nvPr/>
        </p:nvSpPr>
        <p:spPr>
          <a:xfrm>
            <a:off x="126526" y="1720357"/>
            <a:ext cx="5117295" cy="5068469"/>
          </a:xfrm>
          <a:prstGeom prst="rect">
            <a:avLst/>
          </a:prstGeom>
        </p:spPr>
        <p:txBody>
          <a:bodyPr vert="horz" lIns="91440" tIns="45720" rIns="91440" bIns="45720" rtlCol="0">
            <a:normAutofit fontScale="62500" lnSpcReduction="20000"/>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初始形状：</a:t>
            </a:r>
            <a:r>
              <a:rPr lang="en-US" altLang="zh-CN" sz="3100" dirty="0" smtClean="0">
                <a:solidFill>
                  <a:schemeClr val="tx1"/>
                </a:solidFill>
                <a:latin typeface="微软雅黑" panose="020B0503020204020204" pitchFamily="34" charset="-122"/>
                <a:ea typeface="微软雅黑" panose="020B0503020204020204" pitchFamily="34" charset="-122"/>
              </a:rPr>
              <a:t>façade</a:t>
            </a: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终端形状：</a:t>
            </a:r>
            <a:r>
              <a:rPr lang="en-US" altLang="zh-CN" sz="3100" dirty="0" smtClean="0">
                <a:solidFill>
                  <a:schemeClr val="tx1"/>
                </a:solidFill>
                <a:latin typeface="微软雅黑" panose="020B0503020204020204" pitchFamily="34" charset="-122"/>
                <a:ea typeface="微软雅黑" panose="020B0503020204020204" pitchFamily="34" charset="-122"/>
              </a:rPr>
              <a:t>window</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smtClean="0">
                <a:solidFill>
                  <a:schemeClr val="tx1"/>
                </a:solidFill>
                <a:latin typeface="微软雅黑" panose="020B0503020204020204" pitchFamily="34" charset="-122"/>
                <a:ea typeface="微软雅黑" panose="020B0503020204020204" pitchFamily="34" charset="-122"/>
              </a:rPr>
              <a:t>wall</a:t>
            </a:r>
          </a:p>
          <a:p>
            <a:pPr marL="214313" indent="-214313">
              <a:lnSpc>
                <a:spcPct val="120000"/>
              </a:lnSpc>
              <a:buClr>
                <a:srgbClr val="00B050"/>
              </a:buClr>
              <a:buFont typeface="Wingdings" panose="05000000000000000000" pitchFamily="2" charset="2"/>
              <a:buChar char="u"/>
            </a:pPr>
            <a:r>
              <a:rPr lang="zh-CN" altLang="en-US" sz="3100" dirty="0">
                <a:solidFill>
                  <a:srgbClr val="0070C0"/>
                </a:solidFill>
                <a:latin typeface="微软雅黑" panose="020B0503020204020204" pitchFamily="34" charset="-122"/>
                <a:ea typeface="微软雅黑" panose="020B0503020204020204" pitchFamily="34" charset="-122"/>
              </a:rPr>
              <a:t>非</a:t>
            </a:r>
            <a:r>
              <a:rPr lang="zh-CN" altLang="en-US" sz="3100" dirty="0" smtClean="0">
                <a:solidFill>
                  <a:srgbClr val="0070C0"/>
                </a:solidFill>
                <a:latin typeface="微软雅黑" panose="020B0503020204020204" pitchFamily="34" charset="-122"/>
                <a:ea typeface="微软雅黑" panose="020B0503020204020204" pitchFamily="34" charset="-122"/>
              </a:rPr>
              <a:t>终端形状：</a:t>
            </a:r>
            <a:r>
              <a:rPr lang="en-US" altLang="zh-CN" sz="3100" dirty="0" smtClean="0">
                <a:solidFill>
                  <a:schemeClr val="tx1"/>
                </a:solidFill>
                <a:latin typeface="微软雅黑" panose="020B0503020204020204" pitchFamily="34" charset="-122"/>
                <a:ea typeface="微软雅黑" panose="020B0503020204020204" pitchFamily="34" charset="-122"/>
              </a:rPr>
              <a:t>floorWall</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floorWindow</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facadeWall</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facadeWindow</a:t>
            </a:r>
            <a:endParaRPr lang="en-US" altLang="zh-CN" sz="31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语义规则</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1</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a:solidFill>
                  <a:schemeClr val="tx1"/>
                </a:solidFill>
                <a:latin typeface="微软雅黑" panose="020B0503020204020204" pitchFamily="34" charset="-122"/>
                <a:ea typeface="微软雅黑" panose="020B0503020204020204" pitchFamily="34" charset="-122"/>
              </a:rPr>
              <a:t>façade → floorWall + </a:t>
            </a:r>
            <a:r>
              <a:rPr lang="en-US" altLang="zh-CN" sz="2600" dirty="0" err="1">
                <a:solidFill>
                  <a:schemeClr val="tx1"/>
                </a:solidFill>
                <a:latin typeface="微软雅黑" panose="020B0503020204020204" pitchFamily="34" charset="-122"/>
                <a:ea typeface="微软雅黑" panose="020B0503020204020204" pitchFamily="34" charset="-122"/>
              </a:rPr>
              <a:t>facadeWall</a:t>
            </a:r>
            <a:endParaRPr lang="zh-CN" altLang="en-US"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smtClean="0">
                <a:solidFill>
                  <a:schemeClr val="tx1"/>
                </a:solidFill>
                <a:latin typeface="微软雅黑" panose="020B0503020204020204" pitchFamily="34" charset="-122"/>
                <a:ea typeface="微软雅黑" panose="020B0503020204020204" pitchFamily="34" charset="-122"/>
              </a:rPr>
              <a:t>Rule </a:t>
            </a:r>
            <a:r>
              <a:rPr lang="en-US" altLang="zh-CN" sz="2600" dirty="0">
                <a:solidFill>
                  <a:schemeClr val="tx1"/>
                </a:solidFill>
                <a:latin typeface="微软雅黑" panose="020B0503020204020204" pitchFamily="34" charset="-122"/>
                <a:ea typeface="微软雅黑" panose="020B0503020204020204" pitchFamily="34" charset="-122"/>
              </a:rPr>
              <a:t>2</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err="1">
                <a:solidFill>
                  <a:schemeClr val="tx1"/>
                </a:solidFill>
                <a:latin typeface="微软雅黑" panose="020B0503020204020204" pitchFamily="34" charset="-122"/>
                <a:ea typeface="微软雅黑" panose="020B0503020204020204" pitchFamily="34" charset="-122"/>
              </a:rPr>
              <a:t>facadeFloor</a:t>
            </a:r>
            <a:r>
              <a:rPr lang="en-US" altLang="zh-CN" sz="2600" dirty="0">
                <a:solidFill>
                  <a:schemeClr val="tx1"/>
                </a:solidFill>
                <a:latin typeface="微软雅黑" panose="020B0503020204020204" pitchFamily="34" charset="-122"/>
                <a:ea typeface="微软雅黑" panose="020B0503020204020204" pitchFamily="34" charset="-122"/>
              </a:rPr>
              <a:t> → floorWall + </a:t>
            </a:r>
            <a:r>
              <a:rPr lang="en-US" altLang="zh-CN" sz="2600" dirty="0" err="1" smtClean="0">
                <a:solidFill>
                  <a:schemeClr val="tx1"/>
                </a:solidFill>
                <a:latin typeface="微软雅黑" panose="020B0503020204020204" pitchFamily="34" charset="-122"/>
                <a:ea typeface="微软雅黑" panose="020B0503020204020204" pitchFamily="34" charset="-122"/>
              </a:rPr>
              <a:t>facadeWall</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3 :  </a:t>
            </a:r>
            <a:r>
              <a:rPr lang="en-US" altLang="zh-CN" sz="2600" dirty="0" err="1">
                <a:solidFill>
                  <a:schemeClr val="tx1"/>
                </a:solidFill>
                <a:latin typeface="微软雅黑" panose="020B0503020204020204" pitchFamily="34" charset="-122"/>
                <a:ea typeface="微软雅黑" panose="020B0503020204020204" pitchFamily="34" charset="-122"/>
              </a:rPr>
              <a:t>facadeWall</a:t>
            </a:r>
            <a:r>
              <a:rPr lang="en-US" altLang="zh-CN" sz="2600" dirty="0">
                <a:solidFill>
                  <a:schemeClr val="tx1"/>
                </a:solidFill>
                <a:latin typeface="微软雅黑" panose="020B0503020204020204" pitchFamily="34" charset="-122"/>
                <a:ea typeface="微软雅黑" panose="020B0503020204020204" pitchFamily="34" charset="-122"/>
              </a:rPr>
              <a:t> → wall+ </a:t>
            </a:r>
            <a:r>
              <a:rPr lang="en-US" altLang="zh-CN" sz="2600" dirty="0" err="1">
                <a:solidFill>
                  <a:schemeClr val="tx1"/>
                </a:solidFill>
                <a:latin typeface="微软雅黑" panose="020B0503020204020204" pitchFamily="34" charset="-122"/>
                <a:ea typeface="微软雅黑" panose="020B0503020204020204" pitchFamily="34" charset="-122"/>
              </a:rPr>
              <a:t>facadeFloor</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4</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a:solidFill>
                  <a:schemeClr val="tx1"/>
                </a:solidFill>
                <a:latin typeface="微软雅黑" panose="020B0503020204020204" pitchFamily="34" charset="-122"/>
                <a:ea typeface="微软雅黑" panose="020B0503020204020204" pitchFamily="34" charset="-122"/>
              </a:rPr>
              <a:t>floorWall ↓ wall+ </a:t>
            </a:r>
            <a:r>
              <a:rPr lang="en-US" altLang="zh-CN" sz="2600" dirty="0" err="1">
                <a:solidFill>
                  <a:schemeClr val="tx1"/>
                </a:solidFill>
                <a:latin typeface="微软雅黑" panose="020B0503020204020204" pitchFamily="34" charset="-122"/>
                <a:ea typeface="微软雅黑" panose="020B0503020204020204" pitchFamily="34" charset="-122"/>
              </a:rPr>
              <a:t>floorWindow</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5</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err="1">
                <a:solidFill>
                  <a:schemeClr val="tx1"/>
                </a:solidFill>
                <a:latin typeface="微软雅黑" panose="020B0503020204020204" pitchFamily="34" charset="-122"/>
                <a:ea typeface="微软雅黑" panose="020B0503020204020204" pitchFamily="34" charset="-122"/>
              </a:rPr>
              <a:t>floorWindow</a:t>
            </a:r>
            <a:r>
              <a:rPr lang="en-US" altLang="zh-CN" sz="2600" dirty="0">
                <a:solidFill>
                  <a:schemeClr val="tx1"/>
                </a:solidFill>
                <a:latin typeface="微软雅黑" panose="020B0503020204020204" pitchFamily="34" charset="-122"/>
                <a:ea typeface="微软雅黑" panose="020B0503020204020204" pitchFamily="34" charset="-122"/>
              </a:rPr>
              <a:t> ↓ window+ floorWall</a:t>
            </a:r>
          </a:p>
          <a:p>
            <a:pPr marL="728663" lvl="1" indent="-214313">
              <a:lnSpc>
                <a:spcPct val="120000"/>
              </a:lnSpc>
              <a:buClr>
                <a:srgbClr val="00B050"/>
              </a:buClr>
              <a:buFont typeface="Wingdings" panose="05000000000000000000" pitchFamily="2" charset="2"/>
              <a:buChar char="ü"/>
            </a:pPr>
            <a:endParaRPr lang="en-US" altLang="zh-CN" sz="2600" dirty="0">
              <a:solidFill>
                <a:schemeClr val="tx1"/>
              </a:solidFill>
              <a:latin typeface="微软雅黑" panose="020B0503020204020204" pitchFamily="34" charset="-122"/>
              <a:ea typeface="微软雅黑" panose="020B0503020204020204" pitchFamily="34" charset="-122"/>
            </a:endParaRPr>
          </a:p>
          <a:p>
            <a:pPr lvl="1" indent="0">
              <a:buClr>
                <a:srgbClr val="00B050"/>
              </a:buClr>
              <a:buFont typeface="Arial" panose="020B0604020202020204" pitchFamily="34" charset="0"/>
              <a:buNone/>
            </a:pPr>
            <a:endParaRPr lang="zh-CN" altLang="en-US" dirty="0" smtClean="0"/>
          </a:p>
        </p:txBody>
      </p:sp>
      <p:sp>
        <p:nvSpPr>
          <p:cNvPr id="20" name="内容占位符 2"/>
          <p:cNvSpPr txBox="1">
            <a:spLocks/>
          </p:cNvSpPr>
          <p:nvPr/>
        </p:nvSpPr>
        <p:spPr>
          <a:xfrm rot="320518">
            <a:off x="1611806" y="1907071"/>
            <a:ext cx="7264031" cy="1086017"/>
          </a:xfrm>
          <a:prstGeom prst="rect">
            <a:avLst/>
          </a:prstGeom>
          <a:solidFill>
            <a:srgbClr val="00B050"/>
          </a:solidFill>
        </p:spPr>
        <p:txBody>
          <a:bodyPr vert="horz" lIns="91440" tIns="45720" rIns="91440" bIns="45720" rtlCol="0">
            <a:noAutofit/>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r>
              <a:rPr lang="zh-CN" altLang="en-US" sz="2400" b="1" dirty="0" smtClean="0">
                <a:ln w="0"/>
                <a:solidFill>
                  <a:srgbClr val="FFFF00"/>
                </a:solidFill>
                <a:effectLst>
                  <a:outerShdw blurRad="38100" dist="19050" dir="2700000" algn="tl" rotWithShape="0">
                    <a:schemeClr val="dk1">
                      <a:alpha val="40000"/>
                    </a:schemeClr>
                  </a:outerShdw>
                </a:effectLst>
                <a:latin typeface="微软雅黑" panose="020B0503020204020204" pitchFamily="34" charset="-122"/>
                <a:ea typeface="微软雅黑" panose="020B0503020204020204" pitchFamily="34" charset="-122"/>
              </a:rPr>
              <a:t>给定一个建筑立面的点云，如何得到可以描述它的最佳的剖分树（语义规则的应用序列）？</a:t>
            </a:r>
          </a:p>
          <a:p>
            <a:endParaRPr lang="zh-CN" altLang="en-US" sz="1800" dirty="0">
              <a:ln w="0"/>
              <a:solidFill>
                <a:srgbClr val="00B0F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223279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2" presetClass="entr" presetSubtype="2" fill="hold" nodeType="clickEffect">
                                  <p:stCondLst>
                                    <p:cond delay="0"/>
                                  </p:stCondLst>
                                  <p:childTnLst>
                                    <p:set>
                                      <p:cBhvr>
                                        <p:cTn id="32" dur="1" fill="hold">
                                          <p:stCondLst>
                                            <p:cond delay="0"/>
                                          </p:stCondLst>
                                        </p:cTn>
                                        <p:tgtEl>
                                          <p:spTgt spid="3074"/>
                                        </p:tgtEl>
                                        <p:attrNameLst>
                                          <p:attrName>style.visibility</p:attrName>
                                        </p:attrNameLst>
                                      </p:cBhvr>
                                      <p:to>
                                        <p:strVal val="visible"/>
                                      </p:to>
                                    </p:set>
                                    <p:anim calcmode="lin" valueType="num">
                                      <p:cBhvr additive="base">
                                        <p:cTn id="33" dur="500" fill="hold"/>
                                        <p:tgtEl>
                                          <p:spTgt spid="3074"/>
                                        </p:tgtEl>
                                        <p:attrNameLst>
                                          <p:attrName>ppt_x</p:attrName>
                                        </p:attrNameLst>
                                      </p:cBhvr>
                                      <p:tavLst>
                                        <p:tav tm="0">
                                          <p:val>
                                            <p:strVal val="1+#ppt_w/2"/>
                                          </p:val>
                                        </p:tav>
                                        <p:tav tm="100000">
                                          <p:val>
                                            <p:strVal val="#ppt_x"/>
                                          </p:val>
                                        </p:tav>
                                      </p:tavLst>
                                    </p:anim>
                                    <p:anim calcmode="lin" valueType="num">
                                      <p:cBhvr additive="base">
                                        <p:cTn id="34" dur="500" fill="hold"/>
                                        <p:tgtEl>
                                          <p:spTgt spid="3074"/>
                                        </p:tgtEl>
                                        <p:attrNameLst>
                                          <p:attrName>ppt_y</p:attrName>
                                        </p:attrNameLst>
                                      </p:cBhvr>
                                      <p:tavLst>
                                        <p:tav tm="0">
                                          <p:val>
                                            <p:strVal val="#ppt_y"/>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20" grpId="0" animBg="1"/>
    </p:bld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WelcomeDoc" id="{E1E7EDF9-8B79-4E5D-B508-2301E35CD219}" vid="{4342E303-0389-44F2-B6F0-C13C203CC59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Props1.xml><?xml version="1.0" encoding="utf-8"?>
<ds:datastoreItem xmlns:ds="http://schemas.openxmlformats.org/officeDocument/2006/customXml" ds:itemID="{D8DBC0A1-66E1-4B9D-88C2-9B3A32A214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欢迎使用 PowerPoint</Template>
  <TotalTime>0</TotalTime>
  <Words>2208</Words>
  <Application>Microsoft Office PowerPoint</Application>
  <PresentationFormat>全屏显示(4:3)</PresentationFormat>
  <Paragraphs>224</Paragraphs>
  <Slides>20</Slides>
  <Notes>20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20</vt:i4>
      </vt:variant>
    </vt:vector>
  </HeadingPairs>
  <TitlesOfParts>
    <vt:vector size="32" baseType="lpstr">
      <vt:lpstr>Microsoft YaHei UI</vt:lpstr>
      <vt:lpstr>宋体</vt:lpstr>
      <vt:lpstr>微软雅黑</vt:lpstr>
      <vt:lpstr>Arial</vt:lpstr>
      <vt:lpstr>Calibri</vt:lpstr>
      <vt:lpstr>Cambria Math</vt:lpstr>
      <vt:lpstr>Segoe UI</vt:lpstr>
      <vt:lpstr>Segoe UI Light</vt:lpstr>
      <vt:lpstr>Times New Roman</vt:lpstr>
      <vt:lpstr>Wingdings</vt:lpstr>
      <vt:lpstr>WelcomeDoc</vt:lpstr>
      <vt:lpstr>Equation.DSMT4</vt:lpstr>
      <vt:lpstr>基于形状语义和增强学习的建筑立面点云解译与重建的方法</vt:lpstr>
      <vt:lpstr>研究背景及意义</vt:lpstr>
      <vt:lpstr>建筑立面建模研究现状</vt:lpstr>
      <vt:lpstr>算法概述</vt:lpstr>
      <vt:lpstr>形状语义</vt:lpstr>
      <vt:lpstr>二分形状语义</vt:lpstr>
      <vt:lpstr>马尔科夫决策过程</vt:lpstr>
      <vt:lpstr>最佳形状语义求解</vt:lpstr>
      <vt:lpstr>用预分类的结果近似表示建筑结构的概率分布</vt:lpstr>
      <vt:lpstr>实验结果：实验1</vt:lpstr>
      <vt:lpstr>实验结果：实验2</vt:lpstr>
      <vt:lpstr>实验结果：实验3</vt:lpstr>
      <vt:lpstr>实验结果：实验4</vt:lpstr>
      <vt:lpstr>实验结果：实验5</vt:lpstr>
      <vt:lpstr>实验结果：实验6</vt:lpstr>
      <vt:lpstr>实验结果：实验7</vt:lpstr>
      <vt:lpstr>算法效率</vt:lpstr>
      <vt:lpstr>结论</vt:lpstr>
      <vt:lpstr>谢谢！请老师提问</vt:lpstr>
      <vt:lpstr>示例：用二分形状语义表示一个简单的建筑立面</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2014-05-08T11:51:39Z</dcterms:created>
  <dcterms:modified xsi:type="dcterms:W3CDTF">2014-05-12T12:38:35Z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TC029239449991</vt:lpwstr>
  </property>
</Properties>
</file>