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3"/>
  </p:notesMasterIdLst>
  <p:sldIdLst>
    <p:sldId id="256" r:id="rId3"/>
    <p:sldId id="262" r:id="rId4"/>
    <p:sldId id="269" r:id="rId5"/>
    <p:sldId id="285" r:id="rId6"/>
    <p:sldId id="257" r:id="rId7"/>
    <p:sldId id="270" r:id="rId8"/>
    <p:sldId id="272" r:id="rId9"/>
    <p:sldId id="274" r:id="rId10"/>
    <p:sldId id="264" r:id="rId11"/>
    <p:sldId id="265" r:id="rId12"/>
    <p:sldId id="266" r:id="rId13"/>
    <p:sldId id="277" r:id="rId14"/>
    <p:sldId id="279" r:id="rId15"/>
    <p:sldId id="278" r:id="rId16"/>
    <p:sldId id="280" r:id="rId17"/>
    <p:sldId id="281" r:id="rId18"/>
    <p:sldId id="282" r:id="rId19"/>
    <p:sldId id="286" r:id="rId20"/>
    <p:sldId id="283" r:id="rId21"/>
    <p:sldId id="284"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85"/>
            <p14:sldId id="257"/>
            <p14:sldId id="270"/>
            <p14:sldId id="272"/>
            <p14:sldId id="274"/>
            <p14:sldId id="264"/>
            <p14:sldId id="265"/>
            <p14:sldId id="266"/>
            <p14:sldId id="277"/>
            <p14:sldId id="279"/>
            <p14:sldId id="278"/>
            <p14:sldId id="280"/>
            <p14:sldId id="281"/>
            <p14:sldId id="282"/>
            <p14:sldId id="286"/>
            <p14:sldId id="283"/>
            <p14:sldId id="284"/>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41" autoAdjust="0"/>
    <p:restoredTop sz="76639" autoAdjust="0"/>
  </p:normalViewPr>
  <p:slideViewPr>
    <p:cSldViewPr snapToGrid="0">
      <p:cViewPr varScale="1">
        <p:scale>
          <a:sx n="61" d="100"/>
          <a:sy n="61" d="100"/>
        </p:scale>
        <p:origin x="834" y="42"/>
      </p:cViewPr>
      <p:guideLst>
        <p:guide orient="horz" pos="2160"/>
        <p:guide pos="2880"/>
      </p:guideLst>
    </p:cSldViewPr>
  </p:slideViewPr>
  <p:notesTextViewPr>
    <p:cViewPr>
      <p:scale>
        <a:sx n="1" d="1"/>
        <a:sy n="1" d="1"/>
      </p:scale>
      <p:origin x="0" y="-16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2014/5/12</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我要感谢张立强教授的不辞辛劳的指导，使我不断地提升自我，收获了许多。</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r>
              <a:rPr lang="zh-CN" altLang="en-US" dirty="0" smtClean="0"/>
              <a:t>。</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我们结合了数据驱动和模型驱动的方法来对建筑立面进行重建。首先对原始的点云数据进行去除奇异点、转换坐标系的预处理；接着对点云进行基于数据驱动的预分类，分类的结果作为输入作为模型解译的基础，在模型解译中，首先定义建筑立面的形状语义，接着采用增强学习算法求解建筑立面的最优解译，最后根据得到的解译构造立面平面，在原始点云中提取立面结构的深度，最终得到建筑立面的三维模型</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103486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为了对建筑立面进行建模，首先介绍形状语义。</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二分形状语义的核心概念是基本形状，在二分形状语义中，基本形状是一个带标签的矩形，其中的（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的目标是最大化其长期的回报值，即所有即时回报的累加值，这里给每个即时回报值乘以了一个折扣因子，对于有限步长的马尔科夫决策过程，折扣因子可以设为</a:t>
            </a:r>
            <a:r>
              <a:rPr lang="en-US" altLang="zh-CN" dirty="0" smtClean="0"/>
              <a:t>1.</a:t>
            </a:r>
          </a:p>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a:t>
            </a:r>
            <a:r>
              <a:rPr lang="zh-CN" altLang="en-US" dirty="0" smtClean="0"/>
              <a:t>环境完全未知并且状态</a:t>
            </a:r>
            <a:r>
              <a:rPr lang="zh-CN" altLang="en-US" sz="1200" dirty="0" smtClean="0"/>
              <a:t>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对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a:t>
            </a:r>
            <a:r>
              <a:rPr lang="zh-CN" altLang="en-US" dirty="0" smtClean="0"/>
              <a:t>点云预分类</a:t>
            </a:r>
            <a:r>
              <a:rPr lang="zh-CN" altLang="en-US" dirty="0" smtClean="0"/>
              <a:t>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这幅图表示了对一个点云缺失严重的立面的分类结果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a:t>
            </a:r>
            <a:r>
              <a:rPr lang="zh-CN" altLang="en-US" dirty="0" smtClean="0"/>
              <a:t>算法可以恢复</a:t>
            </a:r>
            <a:r>
              <a:rPr lang="zh-CN" altLang="en-US" dirty="0" smtClean="0"/>
              <a:t>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我们采用了</a:t>
            </a:r>
            <a:r>
              <a:rPr lang="en-US" altLang="zh-CN" dirty="0" smtClean="0"/>
              <a:t>C++</a:t>
            </a:r>
            <a:r>
              <a:rPr lang="zh-CN" altLang="en-US" dirty="0" smtClean="0"/>
              <a:t>语言在一台工作站上实现了算法，并进行了实验，从表中可以看出，</a:t>
            </a:r>
            <a:r>
              <a:rPr lang="zh-CN" altLang="zh-CN" sz="1200" kern="1200" dirty="0" smtClean="0">
                <a:solidFill>
                  <a:schemeClr val="tx1"/>
                </a:solidFill>
                <a:effectLst/>
                <a:latin typeface="+mn-lt"/>
                <a:ea typeface="+mn-ea"/>
                <a:cs typeface="+mn-cs"/>
              </a:rPr>
              <a:t>网格的属性计算和增强学习的求解耗时最多，</a:t>
            </a:r>
            <a:r>
              <a:rPr lang="zh-CN" altLang="en-US" sz="1200" kern="1200" dirty="0" smtClean="0">
                <a:solidFill>
                  <a:schemeClr val="tx1"/>
                </a:solidFill>
                <a:effectLst/>
                <a:latin typeface="+mn-lt"/>
                <a:ea typeface="+mn-ea"/>
                <a:cs typeface="+mn-cs"/>
              </a:rPr>
              <a:t>但是</a:t>
            </a:r>
            <a:r>
              <a:rPr lang="zh-CN" altLang="zh-CN" sz="1200" kern="1200" dirty="0" smtClean="0">
                <a:solidFill>
                  <a:schemeClr val="tx1"/>
                </a:solidFill>
                <a:effectLst/>
                <a:latin typeface="+mn-lt"/>
                <a:ea typeface="+mn-ea"/>
                <a:cs typeface="+mn-cs"/>
              </a:rPr>
              <a:t>网格属性计算的时间</a:t>
            </a:r>
            <a:r>
              <a:rPr lang="zh-CN" altLang="en-US" sz="1200" kern="1200" dirty="0" smtClean="0">
                <a:solidFill>
                  <a:schemeClr val="tx1"/>
                </a:solidFill>
                <a:effectLst/>
                <a:latin typeface="+mn-lt"/>
                <a:ea typeface="+mn-ea"/>
                <a:cs typeface="+mn-cs"/>
              </a:rPr>
              <a:t>也只有</a:t>
            </a:r>
            <a:r>
              <a:rPr lang="en-US" altLang="zh-CN" sz="1200" kern="1200" dirty="0" smtClean="0">
                <a:solidFill>
                  <a:schemeClr val="tx1"/>
                </a:solidFill>
                <a:effectLst/>
                <a:latin typeface="+mn-lt"/>
                <a:ea typeface="+mn-ea"/>
                <a:cs typeface="+mn-cs"/>
              </a:rPr>
              <a:t>24</a:t>
            </a:r>
            <a:r>
              <a:rPr lang="zh-CN" altLang="zh-CN" sz="1200" kern="1200" dirty="0" smtClean="0">
                <a:solidFill>
                  <a:schemeClr val="tx1"/>
                </a:solidFill>
                <a:effectLst/>
                <a:latin typeface="+mn-lt"/>
                <a:ea typeface="+mn-ea"/>
                <a:cs typeface="+mn-cs"/>
              </a:rPr>
              <a:t>～</a:t>
            </a:r>
            <a:r>
              <a:rPr lang="en-US" altLang="zh-CN" sz="1200" kern="1200" dirty="0" smtClean="0">
                <a:solidFill>
                  <a:schemeClr val="tx1"/>
                </a:solidFill>
                <a:effectLst/>
                <a:latin typeface="+mn-lt"/>
                <a:ea typeface="+mn-ea"/>
                <a:cs typeface="+mn-cs"/>
              </a:rPr>
              <a:t>161s</a:t>
            </a:r>
            <a:r>
              <a:rPr lang="zh-CN" altLang="zh-CN" sz="1200" kern="1200" dirty="0" smtClean="0">
                <a:solidFill>
                  <a:schemeClr val="tx1"/>
                </a:solidFill>
                <a:effectLst/>
                <a:latin typeface="+mn-lt"/>
                <a:ea typeface="+mn-ea"/>
                <a:cs typeface="+mn-cs"/>
              </a:rPr>
              <a:t>，增强学习的求解时间为</a:t>
            </a:r>
            <a:r>
              <a:rPr lang="en-US" altLang="zh-CN" sz="1200" kern="1200" dirty="0" smtClean="0">
                <a:solidFill>
                  <a:schemeClr val="tx1"/>
                </a:solidFill>
                <a:effectLst/>
                <a:latin typeface="+mn-lt"/>
                <a:ea typeface="+mn-ea"/>
                <a:cs typeface="+mn-cs"/>
              </a:rPr>
              <a:t>100</a:t>
            </a:r>
            <a:r>
              <a:rPr lang="zh-CN" altLang="zh-CN" sz="1200" kern="1200" dirty="0" smtClean="0">
                <a:solidFill>
                  <a:schemeClr val="tx1"/>
                </a:solidFill>
                <a:effectLst/>
                <a:latin typeface="+mn-lt"/>
                <a:ea typeface="+mn-ea"/>
                <a:cs typeface="+mn-cs"/>
              </a:rPr>
              <a:t>～</a:t>
            </a:r>
            <a:r>
              <a:rPr lang="en-US" altLang="zh-CN" sz="1200" kern="1200" dirty="0" smtClean="0">
                <a:solidFill>
                  <a:schemeClr val="tx1"/>
                </a:solidFill>
                <a:effectLst/>
                <a:latin typeface="+mn-lt"/>
                <a:ea typeface="+mn-ea"/>
                <a:cs typeface="+mn-cs"/>
              </a:rPr>
              <a:t>1000s</a:t>
            </a:r>
            <a:r>
              <a:rPr lang="zh-CN" altLang="zh-CN" sz="1200" kern="1200" dirty="0" smtClean="0">
                <a:solidFill>
                  <a:schemeClr val="tx1"/>
                </a:solidFill>
                <a:effectLst/>
                <a:latin typeface="+mn-lt"/>
                <a:ea typeface="+mn-ea"/>
                <a:cs typeface="+mn-cs"/>
              </a:rPr>
              <a:t>之间。可以看出，本文提出的算法的效率较高，基本可以应对大规模的城市重建。</a:t>
            </a:r>
          </a:p>
          <a:p>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1583355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上述实验显示了使用形状语义的方法可以</a:t>
            </a:r>
            <a:r>
              <a:rPr lang="en-US" altLang="zh-CN" dirty="0" smtClean="0"/>
              <a:t>……</a:t>
            </a:r>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然而我们提出的方法也有几点不足，</a:t>
            </a:r>
            <a:r>
              <a:rPr lang="zh-CN" altLang="en-US" dirty="0" smtClean="0"/>
              <a:t>首先</a:t>
            </a:r>
            <a:r>
              <a:rPr lang="zh-CN" altLang="en-US" sz="1200" dirty="0" smtClean="0">
                <a:latin typeface="微软雅黑" panose="020B0503020204020204" pitchFamily="34" charset="-122"/>
                <a:ea typeface="微软雅黑" panose="020B0503020204020204" pitchFamily="34" charset="-122"/>
              </a:rPr>
              <a:t>我们采用二维的二分形状语义对立面进行解译，在解译后再添加深度信息，但是这种方法却不是一种直接的处理立面建模的方式。最自然的方式是应用三维的形状语义到立面。</a:t>
            </a:r>
          </a:p>
          <a:p>
            <a:endParaRPr lang="en-US" altLang="zh-CN" dirty="0" smtClean="0"/>
          </a:p>
          <a:p>
            <a:r>
              <a:rPr lang="zh-CN" altLang="en-US" dirty="0" smtClean="0"/>
              <a:t>其次</a:t>
            </a:r>
            <a:r>
              <a:rPr lang="zh-CN" altLang="en-US" sz="1200" dirty="0" smtClean="0">
                <a:latin typeface="微软雅黑" panose="020B0503020204020204" pitchFamily="34" charset="-122"/>
                <a:ea typeface="微软雅黑" panose="020B0503020204020204" pitchFamily="34" charset="-122"/>
              </a:rPr>
              <a:t>强化学习采用表格来表示</a:t>
            </a:r>
            <a:r>
              <a:rPr lang="en-US" altLang="zh-CN" sz="1200" dirty="0" smtClean="0">
                <a:latin typeface="微软雅黑" panose="020B0503020204020204" pitchFamily="34" charset="-122"/>
                <a:ea typeface="微软雅黑" panose="020B0503020204020204" pitchFamily="34" charset="-122"/>
              </a:rPr>
              <a:t>V</a:t>
            </a:r>
            <a:r>
              <a:rPr lang="zh-CN" altLang="en-US" sz="1200" dirty="0" smtClean="0">
                <a:latin typeface="微软雅黑" panose="020B0503020204020204" pitchFamily="34" charset="-122"/>
                <a:ea typeface="微软雅黑" panose="020B0503020204020204" pitchFamily="34" charset="-122"/>
              </a:rPr>
              <a:t>函数，虽然采用了稀疏矩阵来应对极大的状态量，但是对于状态没有简化，最好是采用函数近似的方式</a:t>
            </a:r>
            <a:endParaRPr lang="en-US" altLang="zh-CN"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最后</a:t>
            </a:r>
            <a:r>
              <a:rPr lang="zh-CN" altLang="en-US" sz="1200" dirty="0" smtClean="0">
                <a:latin typeface="微软雅黑" panose="020B0503020204020204" pitchFamily="34" charset="-122"/>
                <a:ea typeface="微软雅黑" panose="020B0503020204020204" pitchFamily="34" charset="-122"/>
              </a:rPr>
              <a:t>在点云的预分类中采用了支持向量机的方法，需要交互式地选取训练样本，使得整个建模过程无法实现完全意义上的自动化，应该在保证效果的情况下采取其它的分类方法自动分类。</a:t>
            </a:r>
          </a:p>
          <a:p>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19</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谢谢各位的聆听！请老师提问～</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20</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2014/5/12</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2014/5/12</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2014/5/12</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2014/5/12</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2014/5/12</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5/12/2014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8.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9.wmf"/><Relationship Id="rId5" Type="http://schemas.openxmlformats.org/officeDocument/2006/relationships/oleObject" Target="../embeddings/oleObject1.bin"/><Relationship Id="rId10" Type="http://schemas.openxmlformats.org/officeDocument/2006/relationships/image" Target="../media/image11.wmf"/><Relationship Id="rId4" Type="http://schemas.openxmlformats.org/officeDocument/2006/relationships/image" Target="../media/image12.png"/><Relationship Id="rId9" Type="http://schemas.openxmlformats.org/officeDocument/2006/relationships/oleObject" Target="../embeddings/oleObject3.bin"/></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8094247" cy="4270583"/>
          </a:xfrm>
        </p:spPr>
        <p:txBody>
          <a:bodyPr>
            <a:normAutofit fontScale="85000" lnSpcReduction="10000"/>
          </a:bodyPr>
          <a:lstStyle/>
          <a:p>
            <a:pPr marL="214313" indent="-214313">
              <a:buClr>
                <a:srgbClr val="00B050"/>
              </a:buClr>
              <a:buFont typeface="Wingdings" panose="05000000000000000000" pitchFamily="2" charset="2"/>
              <a:buChar char="u"/>
            </a:pPr>
            <a:r>
              <a:rPr lang="zh-CN" altLang="zh-CN" sz="2400" dirty="0">
                <a:solidFill>
                  <a:srgbClr val="00B050"/>
                </a:solidFill>
                <a:latin typeface="微软雅黑" panose="020B0503020204020204" pitchFamily="34" charset="-122"/>
                <a:ea typeface="微软雅黑" panose="020B0503020204020204" pitchFamily="34" charset="-122"/>
              </a:rPr>
              <a:t>随着</a:t>
            </a:r>
            <a:r>
              <a:rPr lang="en-US" altLang="zh-CN" sz="2400" dirty="0">
                <a:solidFill>
                  <a:srgbClr val="00B050"/>
                </a:solidFill>
                <a:latin typeface="微软雅黑" panose="020B0503020204020204" pitchFamily="34" charset="-122"/>
                <a:ea typeface="微软雅黑" panose="020B0503020204020204" pitchFamily="34" charset="-122"/>
              </a:rPr>
              <a:t>GIS</a:t>
            </a:r>
            <a:r>
              <a:rPr lang="zh-CN" altLang="zh-CN" sz="2400" dirty="0">
                <a:solidFill>
                  <a:srgbClr val="00B050"/>
                </a:solidFill>
                <a:latin typeface="微软雅黑" panose="020B0503020204020204" pitchFamily="34" charset="-122"/>
                <a:ea typeface="微软雅黑" panose="020B0503020204020204" pitchFamily="34" charset="-122"/>
              </a:rPr>
              <a:t>服务领域的不断</a:t>
            </a:r>
            <a:r>
              <a:rPr lang="zh-CN" altLang="zh-CN" sz="2400" dirty="0" smtClean="0">
                <a:solidFill>
                  <a:srgbClr val="00B050"/>
                </a:solidFill>
                <a:latin typeface="微软雅黑" panose="020B0503020204020204" pitchFamily="34" charset="-122"/>
                <a:ea typeface="微软雅黑" panose="020B0503020204020204" pitchFamily="34" charset="-122"/>
              </a:rPr>
              <a:t>拓展</a:t>
            </a:r>
            <a:r>
              <a:rPr lang="zh-CN" altLang="en-US" sz="2400" dirty="0" smtClean="0">
                <a:solidFill>
                  <a:srgbClr val="00B050"/>
                </a:solidFill>
                <a:latin typeface="微软雅黑" panose="020B0503020204020204" pitchFamily="34" charset="-122"/>
                <a:ea typeface="微软雅黑" panose="020B0503020204020204" pitchFamily="34" charset="-122"/>
              </a:rPr>
              <a:t>，</a:t>
            </a:r>
            <a:r>
              <a:rPr lang="zh-CN" altLang="zh-CN" sz="2400" dirty="0" smtClean="0">
                <a:solidFill>
                  <a:srgbClr val="00B050"/>
                </a:solidFill>
                <a:latin typeface="微软雅黑" panose="020B0503020204020204" pitchFamily="34" charset="-122"/>
                <a:ea typeface="微软雅黑" panose="020B0503020204020204" pitchFamily="34" charset="-122"/>
              </a:rPr>
              <a:t>导航</a:t>
            </a:r>
            <a:r>
              <a:rPr lang="zh-CN" altLang="zh-CN" sz="2400" dirty="0">
                <a:solidFill>
                  <a:srgbClr val="00B050"/>
                </a:solidFill>
                <a:latin typeface="微软雅黑" panose="020B0503020204020204" pitchFamily="34" charset="-122"/>
                <a:ea typeface="微软雅黑" panose="020B0503020204020204" pitchFamily="34" charset="-122"/>
              </a:rPr>
              <a:t>、城市漫游、城乡规划、遗迹保护、风险分析等应用领域迫切需要三维数字城市的建模和自动</a:t>
            </a:r>
            <a:r>
              <a:rPr lang="zh-CN" altLang="zh-CN" sz="2400" dirty="0" smtClean="0">
                <a:solidFill>
                  <a:srgbClr val="00B050"/>
                </a:solidFill>
                <a:latin typeface="微软雅黑" panose="020B0503020204020204" pitchFamily="34" charset="-122"/>
                <a:ea typeface="微软雅黑" panose="020B0503020204020204" pitchFamily="34" charset="-122"/>
              </a:rPr>
              <a:t>重建</a:t>
            </a:r>
            <a:endParaRPr lang="en-US" altLang="zh-CN" sz="2400" dirty="0" smtClean="0">
              <a:solidFill>
                <a:srgbClr val="00B05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a:solidFill>
                  <a:srgbClr val="7030A0"/>
                </a:solidFill>
                <a:latin typeface="微软雅黑" panose="020B0503020204020204" pitchFamily="34" charset="-122"/>
                <a:ea typeface="微软雅黑" panose="020B0503020204020204" pitchFamily="34" charset="-122"/>
              </a:rPr>
              <a:t>传</a:t>
            </a:r>
            <a:r>
              <a:rPr lang="zh-CN" altLang="en-US" sz="2400" dirty="0" smtClean="0">
                <a:solidFill>
                  <a:srgbClr val="7030A0"/>
                </a:solidFill>
                <a:latin typeface="微软雅黑" panose="020B0503020204020204" pitchFamily="34" charset="-122"/>
                <a:ea typeface="微软雅黑" panose="020B0503020204020204" pitchFamily="34" charset="-122"/>
              </a:rPr>
              <a:t>统的</a:t>
            </a:r>
            <a:r>
              <a:rPr lang="zh-CN" altLang="en-US" sz="2400" dirty="0">
                <a:solidFill>
                  <a:srgbClr val="7030A0"/>
                </a:solidFill>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400" dirty="0" smtClean="0">
              <a:solidFill>
                <a:srgbClr val="7030A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随着</a:t>
            </a:r>
            <a:r>
              <a:rPr lang="zh-CN" altLang="en-US" sz="2400" dirty="0">
                <a:solidFill>
                  <a:srgbClr val="FFC000"/>
                </a:solidFill>
                <a:latin typeface="微软雅黑" panose="020B0503020204020204" pitchFamily="34" charset="-122"/>
                <a:ea typeface="微软雅黑" panose="020B0503020204020204" pitchFamily="34" charset="-122"/>
              </a:rPr>
              <a:t>激光雷达技术的发展，人们已经可以通过车载激光雷达或是机载激光雷达对地面进行快速的扫描从而获得城市模型的点云</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smtClean="0">
                <a:solidFill>
                  <a:srgbClr val="FF0000"/>
                </a:solidFill>
                <a:latin typeface="微软雅黑" panose="020B0503020204020204" pitchFamily="34" charset="-122"/>
                <a:ea typeface="微软雅黑" panose="020B0503020204020204" pitchFamily="34" charset="-122"/>
              </a:rPr>
              <a:t>建筑立面建模是城市建模的重要组成部分</a:t>
            </a:r>
            <a:endParaRPr lang="en-US" altLang="zh-CN" sz="2400" dirty="0" smtClean="0">
              <a:solidFill>
                <a:srgbClr val="FF0000"/>
              </a:solidFill>
              <a:latin typeface="微软雅黑" panose="020B0503020204020204" pitchFamily="34" charset="-122"/>
              <a:ea typeface="微软雅黑" panose="020B0503020204020204" pitchFamily="34" charset="-122"/>
            </a:endParaRPr>
          </a:p>
          <a:p>
            <a:endParaRPr lang="zh-CN" sz="2000" dirty="0"/>
          </a:p>
          <a:p>
            <a:endParaRPr lang="zh-CN" sz="2000" dirty="0"/>
          </a:p>
        </p:txBody>
      </p:sp>
      <p:sp>
        <p:nvSpPr>
          <p:cNvPr id="4" name="文本框 3"/>
          <p:cNvSpPr txBox="1"/>
          <p:nvPr/>
        </p:nvSpPr>
        <p:spPr>
          <a:xfrm rot="345385">
            <a:off x="3201958" y="670259"/>
            <a:ext cx="5758372" cy="1077218"/>
          </a:xfrm>
          <a:prstGeom prst="rect">
            <a:avLst/>
          </a:prstGeom>
          <a:solidFill>
            <a:schemeClr val="accent1"/>
          </a:solidFill>
        </p:spPr>
        <p:txBody>
          <a:bodyPr wrap="square" rtlCol="0">
            <a:spAutoFit/>
          </a:bodyPr>
          <a:lstStyle/>
          <a:p>
            <a:r>
              <a:rPr lang="zh-CN" altLang="en-US" sz="3200" b="1" dirty="0">
                <a:ln w="0"/>
                <a:solidFill>
                  <a:srgbClr val="FFFF00"/>
                </a:solidFill>
                <a:effectLst>
                  <a:outerShdw blurRad="38100" dist="19050" dir="2700000" algn="tl" rotWithShape="0">
                    <a:schemeClr val="dk1">
                      <a:alpha val="40000"/>
                    </a:schemeClr>
                  </a:outerShdw>
                </a:effectLst>
              </a:rPr>
              <a:t>如何从建筑立面的激光雷达点云中自动化恢复</a:t>
            </a:r>
            <a:r>
              <a:rPr lang="zh-CN" altLang="en-US" sz="3200" b="1" dirty="0" smtClean="0">
                <a:ln w="0"/>
                <a:solidFill>
                  <a:srgbClr val="FFFF00"/>
                </a:solidFill>
                <a:effectLst>
                  <a:outerShdw blurRad="38100" dist="19050" dir="2700000" algn="tl" rotWithShape="0">
                    <a:schemeClr val="dk1">
                      <a:alpha val="40000"/>
                    </a:schemeClr>
                  </a:outerShdw>
                </a:effectLst>
              </a:rPr>
              <a:t>其三维结构？</a:t>
            </a:r>
            <a:endParaRPr lang="zh-CN" altLang="en-US" sz="3200" b="1" dirty="0">
              <a:ln w="0"/>
              <a:solidFill>
                <a:srgbClr val="FFFF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6" presetClass="entr" presetSubtype="21"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barn(inVertical)">
                                      <p:cBhvr>
                                        <p:cTn id="23"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1" y="1825625"/>
            <a:ext cx="7625011" cy="4351338"/>
          </a:xfrm>
        </p:spPr>
        <p:txBody>
          <a:bodyPr>
            <a:noAutofit/>
          </a:bodyPr>
          <a:lstStyle/>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于数据驱动的方法</a:t>
            </a:r>
            <a:endParaRPr lang="en-US" altLang="zh-CN" sz="24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无</a:t>
            </a:r>
            <a:r>
              <a:rPr lang="zh-CN" altLang="en-US" sz="2000" dirty="0" smtClean="0">
                <a:solidFill>
                  <a:schemeClr val="tx1"/>
                </a:solidFill>
                <a:latin typeface="微软雅黑" panose="020B0503020204020204" pitchFamily="34" charset="-122"/>
                <a:ea typeface="微软雅黑" panose="020B0503020204020204" pitchFamily="34" charset="-122"/>
              </a:rPr>
              <a:t>法很好地揭示建筑的语义特征（如门、窗、阳台等）</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建</a:t>
            </a:r>
            <a:r>
              <a:rPr lang="zh-CN" altLang="en-US" sz="2000" dirty="0" smtClean="0">
                <a:solidFill>
                  <a:schemeClr val="tx1"/>
                </a:solidFill>
                <a:latin typeface="微软雅黑" panose="020B0503020204020204" pitchFamily="34" charset="-122"/>
                <a:ea typeface="微软雅黑" panose="020B0503020204020204" pitchFamily="34" charset="-122"/>
              </a:rPr>
              <a:t>模受点云数据缺失的影响较大</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a:t>
            </a:r>
            <a:r>
              <a:rPr lang="zh-CN" altLang="en-US" sz="2400" b="1" dirty="0">
                <a:solidFill>
                  <a:srgbClr val="0070C0"/>
                </a:solidFill>
                <a:latin typeface="微软雅黑" panose="020B0503020204020204" pitchFamily="34" charset="-122"/>
                <a:ea typeface="微软雅黑" panose="020B0503020204020204" pitchFamily="34" charset="-122"/>
              </a:rPr>
              <a:t>模型</a:t>
            </a:r>
            <a:r>
              <a:rPr lang="zh-CN" altLang="en-US" sz="2400" b="1" dirty="0" smtClean="0">
                <a:solidFill>
                  <a:srgbClr val="0070C0"/>
                </a:solidFill>
                <a:latin typeface="微软雅黑" panose="020B0503020204020204" pitchFamily="34" charset="-122"/>
                <a:ea typeface="微软雅黑" panose="020B0503020204020204" pitchFamily="34" charset="-122"/>
              </a:rPr>
              <a:t>驱</a:t>
            </a:r>
            <a:r>
              <a:rPr lang="zh-CN" altLang="en-US" sz="2400" b="1" dirty="0">
                <a:solidFill>
                  <a:srgbClr val="0070C0"/>
                </a:solidFill>
                <a:latin typeface="微软雅黑" panose="020B0503020204020204" pitchFamily="34" charset="-122"/>
                <a:ea typeface="微软雅黑" panose="020B0503020204020204" pitchFamily="34" charset="-122"/>
              </a:rPr>
              <a:t>动的方法</a:t>
            </a:r>
            <a:endParaRPr lang="en-US" altLang="zh-CN" sz="2400" b="1" dirty="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如何高效地求解建筑的立面模型</a:t>
            </a:r>
            <a:endParaRPr lang="zh-CN" altLang="en-US" sz="2000"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圆角矩形 17"/>
          <p:cNvSpPr/>
          <p:nvPr/>
        </p:nvSpPr>
        <p:spPr>
          <a:xfrm>
            <a:off x="3500901" y="2251080"/>
            <a:ext cx="1469378"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 name="标题 1"/>
          <p:cNvSpPr>
            <a:spLocks noGrp="1"/>
          </p:cNvSpPr>
          <p:nvPr>
            <p:ph type="title"/>
          </p:nvPr>
        </p:nvSpPr>
        <p:spPr/>
        <p:txBody>
          <a:bodyPr/>
          <a:lstStyle/>
          <a:p>
            <a:r>
              <a:rPr lang="zh-CN" altLang="en-US" dirty="0" smtClean="0"/>
              <a:t>算法概述</a:t>
            </a:r>
            <a:endParaRPr lang="zh-CN" altLang="en-US" dirty="0"/>
          </a:p>
        </p:txBody>
      </p:sp>
      <p:sp>
        <p:nvSpPr>
          <p:cNvPr id="5" name="圆角矩形 4"/>
          <p:cNvSpPr/>
          <p:nvPr/>
        </p:nvSpPr>
        <p:spPr>
          <a:xfrm>
            <a:off x="7758316" y="4450393"/>
            <a:ext cx="1353816" cy="715090"/>
          </a:xfrm>
          <a:prstGeom prst="roundRect">
            <a:avLst/>
          </a:prstGeom>
          <a:solidFill>
            <a:schemeClr val="lt1">
              <a:alpha val="0"/>
            </a:schemeClr>
          </a:solidFill>
          <a:ln>
            <a:solidFill>
              <a:schemeClr val="accent6">
                <a:alpha val="50000"/>
              </a:schemeClr>
            </a:solidFill>
          </a:ln>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chemeClr val="accent2"/>
                </a:solidFill>
              </a:rPr>
              <a:t>建筑立面三维模型</a:t>
            </a:r>
          </a:p>
        </p:txBody>
      </p:sp>
      <p:sp>
        <p:nvSpPr>
          <p:cNvPr id="6" name="圆角矩形 5"/>
          <p:cNvSpPr/>
          <p:nvPr/>
        </p:nvSpPr>
        <p:spPr>
          <a:xfrm>
            <a:off x="1074677" y="2251080"/>
            <a:ext cx="1419413"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7" name="圆角矩形 6"/>
          <p:cNvSpPr/>
          <p:nvPr/>
        </p:nvSpPr>
        <p:spPr>
          <a:xfrm>
            <a:off x="5086341" y="4170407"/>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最优语义解译</a:t>
            </a:r>
            <a:endParaRPr lang="zh-CN" altLang="en-US" b="1" dirty="0">
              <a:solidFill>
                <a:schemeClr val="accent2"/>
              </a:solidFill>
            </a:endParaRPr>
          </a:p>
        </p:txBody>
      </p:sp>
      <p:sp>
        <p:nvSpPr>
          <p:cNvPr id="8" name="圆角矩形 7"/>
          <p:cNvSpPr/>
          <p:nvPr/>
        </p:nvSpPr>
        <p:spPr>
          <a:xfrm>
            <a:off x="112132" y="2495914"/>
            <a:ext cx="927250" cy="715090"/>
          </a:xfrm>
          <a:prstGeom prst="roundRect">
            <a:avLst/>
          </a:prstGeom>
          <a:solidFill>
            <a:srgbClr val="FF6699">
              <a:alpha val="0"/>
            </a:srgb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原始点云</a:t>
            </a:r>
            <a:endParaRPr lang="zh-CN" altLang="en-US" b="1" dirty="0">
              <a:solidFill>
                <a:schemeClr val="accent2"/>
              </a:solidFill>
            </a:endParaRPr>
          </a:p>
        </p:txBody>
      </p:sp>
      <p:sp>
        <p:nvSpPr>
          <p:cNvPr id="9" name="圆角矩形 8"/>
          <p:cNvSpPr/>
          <p:nvPr/>
        </p:nvSpPr>
        <p:spPr>
          <a:xfrm>
            <a:off x="112132" y="3721710"/>
            <a:ext cx="9272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5"/>
                </a:solidFill>
              </a:rPr>
              <a:t>预处理</a:t>
            </a:r>
            <a:endParaRPr lang="zh-CN" altLang="en-US" b="1" dirty="0">
              <a:solidFill>
                <a:schemeClr val="accent5"/>
              </a:solidFill>
            </a:endParaRPr>
          </a:p>
        </p:txBody>
      </p:sp>
      <p:sp>
        <p:nvSpPr>
          <p:cNvPr id="10" name="圆角矩形 9"/>
          <p:cNvSpPr/>
          <p:nvPr/>
        </p:nvSpPr>
        <p:spPr>
          <a:xfrm>
            <a:off x="1231978" y="4751583"/>
            <a:ext cx="1106354"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7030A0"/>
                </a:solidFill>
              </a:rPr>
              <a:t>点云</a:t>
            </a:r>
            <a:r>
              <a:rPr lang="zh-CN" altLang="en-US" b="1" dirty="0" smtClean="0">
                <a:solidFill>
                  <a:srgbClr val="7030A0"/>
                </a:solidFill>
              </a:rPr>
              <a:t>特征提取</a:t>
            </a:r>
            <a:endParaRPr lang="zh-CN" altLang="en-US" b="1" dirty="0">
              <a:solidFill>
                <a:srgbClr val="7030A0"/>
              </a:solidFill>
            </a:endParaRPr>
          </a:p>
        </p:txBody>
      </p:sp>
      <p:sp>
        <p:nvSpPr>
          <p:cNvPr id="11" name="圆角矩形 10"/>
          <p:cNvSpPr/>
          <p:nvPr/>
        </p:nvSpPr>
        <p:spPr>
          <a:xfrm>
            <a:off x="1215082" y="3606289"/>
            <a:ext cx="1140144" cy="408623"/>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none" rtlCol="0" anchor="ctr">
            <a:spAutoFit/>
          </a:bodyPr>
          <a:lstStyle/>
          <a:p>
            <a:pPr lvl="0" algn="ctr"/>
            <a:r>
              <a:rPr lang="zh-CN" altLang="en-US" b="1" dirty="0" smtClean="0">
                <a:solidFill>
                  <a:srgbClr val="7030A0"/>
                </a:solidFill>
              </a:rPr>
              <a:t>点云分类</a:t>
            </a:r>
            <a:endParaRPr lang="zh-CN" altLang="en-US" b="1" dirty="0">
              <a:solidFill>
                <a:srgbClr val="7030A0"/>
              </a:solidFill>
            </a:endParaRPr>
          </a:p>
        </p:txBody>
      </p:sp>
      <p:cxnSp>
        <p:nvCxnSpPr>
          <p:cNvPr id="12" name="直接箭头连接符 11"/>
          <p:cNvCxnSpPr>
            <a:stCxn id="8" idx="2"/>
            <a:endCxn id="9" idx="0"/>
          </p:cNvCxnSpPr>
          <p:nvPr/>
        </p:nvCxnSpPr>
        <p:spPr>
          <a:xfrm>
            <a:off x="575757" y="3211004"/>
            <a:ext cx="0" cy="510706"/>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3" name="形状 51"/>
          <p:cNvCxnSpPr/>
          <p:nvPr/>
        </p:nvCxnSpPr>
        <p:spPr>
          <a:xfrm rot="16200000" flipH="1">
            <a:off x="562225" y="4509893"/>
            <a:ext cx="678352" cy="596089"/>
          </a:xfrm>
          <a:prstGeom prst="bentConnector2">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4" name="直接箭头连接符 13"/>
          <p:cNvCxnSpPr/>
          <p:nvPr/>
        </p:nvCxnSpPr>
        <p:spPr>
          <a:xfrm rot="10800000">
            <a:off x="1795841" y="4181141"/>
            <a:ext cx="0" cy="546622"/>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5" name="TextBox 58"/>
          <p:cNvSpPr txBox="1"/>
          <p:nvPr/>
        </p:nvSpPr>
        <p:spPr>
          <a:xfrm>
            <a:off x="1126157" y="2396303"/>
            <a:ext cx="1324642" cy="589829"/>
          </a:xfrm>
          <a:prstGeom prst="rect">
            <a:avLst/>
          </a:prstGeom>
          <a:noFill/>
        </p:spPr>
        <p:txBody>
          <a:bodyPr wrap="square" rtlCol="0">
            <a:spAutoFit/>
          </a:bodyPr>
          <a:lstStyle/>
          <a:p>
            <a:pPr algn="ctr"/>
            <a:r>
              <a:rPr lang="zh-CN" altLang="en-US" sz="2000" b="1" i="1" dirty="0" smtClean="0">
                <a:solidFill>
                  <a:srgbClr val="00B0F0"/>
                </a:solidFill>
              </a:rPr>
              <a:t>数据驱动</a:t>
            </a:r>
            <a:r>
              <a:rPr lang="zh-CN" altLang="en-US" sz="2000" b="1" i="1" dirty="0">
                <a:solidFill>
                  <a:srgbClr val="00B0F0"/>
                </a:solidFill>
              </a:rPr>
              <a:t>分类</a:t>
            </a:r>
          </a:p>
        </p:txBody>
      </p:sp>
      <p:cxnSp>
        <p:nvCxnSpPr>
          <p:cNvPr id="16" name="直接箭头连接符 15"/>
          <p:cNvCxnSpPr/>
          <p:nvPr/>
        </p:nvCxnSpPr>
        <p:spPr>
          <a:xfrm>
            <a:off x="2759778" y="3920760"/>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7" name="TextBox 41"/>
          <p:cNvSpPr txBox="1"/>
          <p:nvPr/>
        </p:nvSpPr>
        <p:spPr>
          <a:xfrm>
            <a:off x="3603987" y="2392366"/>
            <a:ext cx="1324642" cy="589829"/>
          </a:xfrm>
          <a:prstGeom prst="rect">
            <a:avLst/>
          </a:prstGeom>
          <a:noFill/>
        </p:spPr>
        <p:txBody>
          <a:bodyPr wrap="square" rtlCol="0">
            <a:spAutoFit/>
          </a:bodyPr>
          <a:lstStyle/>
          <a:p>
            <a:pPr algn="ctr"/>
            <a:r>
              <a:rPr lang="zh-CN" altLang="en-US" sz="2000" b="1" i="1" dirty="0" smtClean="0">
                <a:solidFill>
                  <a:srgbClr val="00B0F0"/>
                </a:solidFill>
              </a:rPr>
              <a:t>模型驱动</a:t>
            </a:r>
            <a:r>
              <a:rPr lang="zh-CN" altLang="en-US" sz="2000" b="1" i="1" dirty="0">
                <a:solidFill>
                  <a:srgbClr val="00B0F0"/>
                </a:solidFill>
              </a:rPr>
              <a:t>解译</a:t>
            </a:r>
          </a:p>
        </p:txBody>
      </p:sp>
      <p:sp>
        <p:nvSpPr>
          <p:cNvPr id="19" name="圆角矩形 18"/>
          <p:cNvSpPr/>
          <p:nvPr/>
        </p:nvSpPr>
        <p:spPr>
          <a:xfrm>
            <a:off x="3708202" y="4751583"/>
            <a:ext cx="10517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a:solidFill>
                  <a:srgbClr val="FFC000"/>
                </a:solidFill>
              </a:rPr>
              <a:t>增强</a:t>
            </a:r>
            <a:r>
              <a:rPr lang="zh-CN" altLang="en-US" b="1" dirty="0" smtClean="0">
                <a:solidFill>
                  <a:srgbClr val="FFC000"/>
                </a:solidFill>
              </a:rPr>
              <a:t>学习</a:t>
            </a:r>
            <a:endParaRPr lang="zh-CN" altLang="en-US" b="1" dirty="0">
              <a:solidFill>
                <a:srgbClr val="FFC000"/>
              </a:solidFill>
            </a:endParaRPr>
          </a:p>
        </p:txBody>
      </p:sp>
      <p:sp>
        <p:nvSpPr>
          <p:cNvPr id="20" name="圆角矩形 19"/>
          <p:cNvSpPr/>
          <p:nvPr/>
        </p:nvSpPr>
        <p:spPr>
          <a:xfrm>
            <a:off x="3710397" y="3443872"/>
            <a:ext cx="1049555"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rgbClr val="FFC000"/>
                </a:solidFill>
              </a:rPr>
              <a:t>定义形状语义</a:t>
            </a:r>
            <a:endParaRPr lang="zh-CN" altLang="en-US" b="1" dirty="0">
              <a:solidFill>
                <a:srgbClr val="FFC000"/>
              </a:solidFill>
            </a:endParaRPr>
          </a:p>
        </p:txBody>
      </p:sp>
      <p:cxnSp>
        <p:nvCxnSpPr>
          <p:cNvPr id="21" name="直接箭头连接符 20"/>
          <p:cNvCxnSpPr/>
          <p:nvPr/>
        </p:nvCxnSpPr>
        <p:spPr>
          <a:xfrm rot="10800000" flipV="1">
            <a:off x="4209889" y="4166104"/>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22" name="圆角矩形 21"/>
          <p:cNvSpPr/>
          <p:nvPr/>
        </p:nvSpPr>
        <p:spPr>
          <a:xfrm>
            <a:off x="2556544" y="2929778"/>
            <a:ext cx="875356"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smtClean="0">
                <a:solidFill>
                  <a:schemeClr val="accent2"/>
                </a:solidFill>
              </a:rPr>
              <a:t>分类</a:t>
            </a:r>
            <a:r>
              <a:rPr lang="zh-CN" altLang="en-US" b="1" dirty="0" smtClean="0">
                <a:solidFill>
                  <a:schemeClr val="accent2"/>
                </a:solidFill>
              </a:rPr>
              <a:t>结果</a:t>
            </a:r>
            <a:endParaRPr lang="zh-CN" altLang="en-US" b="1" dirty="0">
              <a:solidFill>
                <a:schemeClr val="accent2"/>
              </a:solidFill>
            </a:endParaRPr>
          </a:p>
        </p:txBody>
      </p:sp>
      <p:sp>
        <p:nvSpPr>
          <p:cNvPr id="23" name="圆角矩形 22"/>
          <p:cNvSpPr/>
          <p:nvPr/>
        </p:nvSpPr>
        <p:spPr>
          <a:xfrm>
            <a:off x="6267366" y="2251081"/>
            <a:ext cx="1323239"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4" name="TextBox 58"/>
          <p:cNvSpPr txBox="1"/>
          <p:nvPr/>
        </p:nvSpPr>
        <p:spPr>
          <a:xfrm>
            <a:off x="6265963" y="2381946"/>
            <a:ext cx="1324642" cy="589829"/>
          </a:xfrm>
          <a:prstGeom prst="rect">
            <a:avLst/>
          </a:prstGeom>
          <a:noFill/>
        </p:spPr>
        <p:txBody>
          <a:bodyPr wrap="square" rtlCol="0">
            <a:spAutoFit/>
          </a:bodyPr>
          <a:lstStyle/>
          <a:p>
            <a:pPr algn="ctr"/>
            <a:r>
              <a:rPr lang="zh-CN" altLang="en-US" sz="2000" b="1" i="1" dirty="0" smtClean="0">
                <a:solidFill>
                  <a:srgbClr val="00B0F0"/>
                </a:solidFill>
              </a:rPr>
              <a:t>三维建模</a:t>
            </a:r>
            <a:endParaRPr lang="zh-CN" altLang="en-US" sz="2000" b="1" i="1" dirty="0">
              <a:solidFill>
                <a:srgbClr val="00B0F0"/>
              </a:solidFill>
            </a:endParaRPr>
          </a:p>
        </p:txBody>
      </p:sp>
      <p:sp>
        <p:nvSpPr>
          <p:cNvPr id="25" name="圆角矩形 24"/>
          <p:cNvSpPr/>
          <p:nvPr/>
        </p:nvSpPr>
        <p:spPr>
          <a:xfrm>
            <a:off x="6435077" y="4663965"/>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面平面构造</a:t>
            </a:r>
            <a:endParaRPr lang="zh-CN" altLang="en-US" b="1" dirty="0">
              <a:solidFill>
                <a:srgbClr val="00B050"/>
              </a:solidFill>
            </a:endParaRPr>
          </a:p>
        </p:txBody>
      </p:sp>
      <p:sp>
        <p:nvSpPr>
          <p:cNvPr id="26" name="圆角矩形 25"/>
          <p:cNvSpPr/>
          <p:nvPr/>
        </p:nvSpPr>
        <p:spPr>
          <a:xfrm>
            <a:off x="6403908" y="3454219"/>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面深度提取</a:t>
            </a:r>
            <a:endParaRPr lang="zh-CN" altLang="en-US" b="1" dirty="0">
              <a:solidFill>
                <a:srgbClr val="00B050"/>
              </a:solidFill>
            </a:endParaRPr>
          </a:p>
        </p:txBody>
      </p:sp>
      <p:cxnSp>
        <p:nvCxnSpPr>
          <p:cNvPr id="27" name="形状 63"/>
          <p:cNvCxnSpPr/>
          <p:nvPr/>
        </p:nvCxnSpPr>
        <p:spPr>
          <a:xfrm>
            <a:off x="7673254" y="3716778"/>
            <a:ext cx="777658" cy="666522"/>
          </a:xfrm>
          <a:prstGeom prst="bentConnector2">
            <a:avLst/>
          </a:prstGeom>
          <a:ln>
            <a:solidFill>
              <a:schemeClr val="accent5">
                <a:alpha val="50000"/>
              </a:schemeClr>
            </a:solidFill>
            <a:tailEnd type="arrow"/>
          </a:ln>
        </p:spPr>
        <p:style>
          <a:lnRef idx="2">
            <a:schemeClr val="accent5"/>
          </a:lnRef>
          <a:fillRef idx="0">
            <a:schemeClr val="accent5"/>
          </a:fillRef>
          <a:effectRef idx="1">
            <a:schemeClr val="accent5"/>
          </a:effectRef>
          <a:fontRef idx="minor">
            <a:schemeClr val="tx1"/>
          </a:fontRef>
        </p:style>
      </p:cxnSp>
      <p:cxnSp>
        <p:nvCxnSpPr>
          <p:cNvPr id="28" name="直接箭头连接符 27"/>
          <p:cNvCxnSpPr/>
          <p:nvPr/>
        </p:nvCxnSpPr>
        <p:spPr>
          <a:xfrm>
            <a:off x="5342967" y="5147113"/>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29" name="直接箭头连接符 28"/>
          <p:cNvCxnSpPr/>
          <p:nvPr/>
        </p:nvCxnSpPr>
        <p:spPr>
          <a:xfrm rot="10800000">
            <a:off x="6883577" y="4151286"/>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427452107"/>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6" presetClass="entr" presetSubtype="21"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barn(inVertical)">
                                      <p:cBhvr>
                                        <p:cTn id="11" dur="500"/>
                                        <p:tgtEl>
                                          <p:spTgt spid="12"/>
                                        </p:tgtEl>
                                      </p:cBhvr>
                                    </p:animEffect>
                                  </p:childTnLst>
                                </p:cTn>
                              </p:par>
                              <p:par>
                                <p:cTn id="12"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6" presetClass="entr" presetSubtype="21"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barn(inVertical)">
                                      <p:cBhvr>
                                        <p:cTn id="18" dur="500"/>
                                        <p:tgtEl>
                                          <p:spTgt spid="13"/>
                                        </p:tgtEl>
                                      </p:cBhvr>
                                    </p:animEffec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6" presetClass="entr" presetSubtype="21" fill="hold" nodeType="click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barn(inVertical)">
                                      <p:cBhvr>
                                        <p:cTn id="33" dur="500"/>
                                        <p:tgtEl>
                                          <p:spTgt spid="16"/>
                                        </p:tgtEl>
                                      </p:cBhvr>
                                    </p:animEffect>
                                  </p:childTnLst>
                                </p:cTn>
                              </p:par>
                              <p:par>
                                <p:cTn id="34" presetID="1"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6" presetClass="entr" presetSubtype="21" fill="hold" nodeType="click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barn(inVertical)">
                                      <p:cBhvr>
                                        <p:cTn id="50" dur="500"/>
                                        <p:tgtEl>
                                          <p:spTgt spid="28"/>
                                        </p:tgtEl>
                                      </p:cBhvr>
                                    </p:animEffec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6" presetClass="entr" presetSubtype="21" fill="hold" nodeType="click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barn(inVertical)">
                                      <p:cBhvr>
                                        <p:cTn id="67" dur="500"/>
                                        <p:tgtEl>
                                          <p:spTgt spid="27"/>
                                        </p:tgtEl>
                                      </p:cBhvr>
                                    </p:animEffect>
                                  </p:childTnLst>
                                </p:cTn>
                              </p:par>
                              <p:par>
                                <p:cTn id="68" presetID="1" presetClass="entr" presetSubtype="0"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5" grpId="0" animBg="1"/>
      <p:bldP spid="6" grpId="0" animBg="1"/>
      <p:bldP spid="7" grpId="0" animBg="1"/>
      <p:bldP spid="8" grpId="0" animBg="1"/>
      <p:bldP spid="9" grpId="0" animBg="1"/>
      <p:bldP spid="10" grpId="0" animBg="1"/>
      <p:bldP spid="11" grpId="0" animBg="1"/>
      <p:bldP spid="15" grpId="0"/>
      <p:bldP spid="17" grpId="0"/>
      <p:bldP spid="19" grpId="0" animBg="1"/>
      <p:bldP spid="20" grpId="0" animBg="1"/>
      <p:bldP spid="22" grpId="0" animBg="1"/>
      <p:bldP spid="23" grpId="0" animBg="1"/>
      <p:bldP spid="24" grpId="0"/>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04585" y="1696455"/>
            <a:ext cx="6060909" cy="3015716"/>
          </a:xfrm>
        </p:spPr>
        <p:txBody>
          <a:bodyPr>
            <a:normAutofit fontScale="77500" lnSpcReduction="20000"/>
          </a:bodyPr>
          <a:lstStyle/>
          <a:p>
            <a:pPr marL="128588" indent="-128588">
              <a:buClr>
                <a:srgbClr val="00B050"/>
              </a:buClr>
              <a:buFont typeface="Wingdings" panose="05000000000000000000" pitchFamily="2" charset="2"/>
              <a:buChar char="u"/>
            </a:pPr>
            <a:r>
              <a:rPr lang="zh-CN" altLang="en-US" sz="2800" b="1" dirty="0" smtClean="0">
                <a:solidFill>
                  <a:srgbClr val="0070C0"/>
                </a:solidFill>
                <a:latin typeface="微软雅黑" panose="020B0503020204020204" pitchFamily="34" charset="-122"/>
                <a:ea typeface="微软雅黑" panose="020B0503020204020204" pitchFamily="34" charset="-122"/>
              </a:rPr>
              <a:t>动态地描述复杂的结构化几何体的方法</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800" b="1" dirty="0">
                <a:solidFill>
                  <a:srgbClr val="0070C0"/>
                </a:solidFill>
                <a:latin typeface="微软雅黑" panose="020B0503020204020204" pitchFamily="34" charset="-122"/>
                <a:ea typeface="微软雅黑" panose="020B0503020204020204" pitchFamily="34" charset="-122"/>
              </a:rPr>
              <a:t>分</a:t>
            </a:r>
            <a:r>
              <a:rPr lang="zh-CN" altLang="en-US" sz="2800" b="1" dirty="0" smtClean="0">
                <a:solidFill>
                  <a:srgbClr val="0070C0"/>
                </a:solidFill>
                <a:latin typeface="微软雅黑" panose="020B0503020204020204" pitchFamily="34" charset="-122"/>
                <a:ea typeface="微软雅黑" panose="020B0503020204020204" pitchFamily="34" charset="-122"/>
              </a:rPr>
              <a:t>形、植物、建筑可以通过一些基本的操作一步步递归</a:t>
            </a:r>
            <a:r>
              <a:rPr lang="zh-CN" altLang="en-US" sz="2800" b="1" dirty="0" smtClean="0">
                <a:solidFill>
                  <a:srgbClr val="0070C0"/>
                </a:solidFill>
                <a:latin typeface="微软雅黑" panose="020B0503020204020204" pitchFamily="34" charset="-122"/>
                <a:ea typeface="微软雅黑" panose="020B0503020204020204" pitchFamily="34" charset="-122"/>
              </a:rPr>
              <a:t>地以</a:t>
            </a:r>
            <a:r>
              <a:rPr lang="zh-CN" altLang="en-US" sz="2800" b="1" dirty="0" smtClean="0">
                <a:solidFill>
                  <a:srgbClr val="0070C0"/>
                </a:solidFill>
                <a:latin typeface="微软雅黑" panose="020B0503020204020204" pitchFamily="34" charset="-122"/>
                <a:ea typeface="微软雅黑" panose="020B0503020204020204" pitchFamily="34" charset="-122"/>
              </a:rPr>
              <a:t>一种简单的方式生成</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2400" dirty="0" smtClean="0">
                <a:solidFill>
                  <a:schemeClr val="tx1"/>
                </a:solidFill>
                <a:latin typeface="微软雅黑" panose="020B0503020204020204" pitchFamily="34" charset="-122"/>
                <a:ea typeface="微软雅黑" panose="020B0503020204020204" pitchFamily="34" charset="-122"/>
              </a:rPr>
              <a:t>L</a:t>
            </a:r>
            <a:r>
              <a:rPr lang="zh-CN" altLang="en-US" sz="2400" dirty="0" smtClean="0">
                <a:solidFill>
                  <a:schemeClr val="tx1"/>
                </a:solidFill>
                <a:latin typeface="微软雅黑" panose="020B0503020204020204" pitchFamily="34" charset="-122"/>
                <a:ea typeface="微软雅黑" panose="020B0503020204020204" pitchFamily="34" charset="-122"/>
              </a:rPr>
              <a:t>系统</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2400" dirty="0">
                <a:solidFill>
                  <a:schemeClr val="tx1"/>
                </a:solidFill>
                <a:latin typeface="微软雅黑" panose="020B0503020204020204" pitchFamily="34" charset="-122"/>
                <a:ea typeface="微软雅黑" panose="020B0503020204020204" pitchFamily="34" charset="-122"/>
              </a:rPr>
              <a:t>二</a:t>
            </a:r>
            <a:r>
              <a:rPr lang="zh-CN" altLang="en-US" sz="2400" dirty="0" smtClean="0">
                <a:solidFill>
                  <a:schemeClr val="tx1"/>
                </a:solidFill>
                <a:latin typeface="微软雅黑" panose="020B0503020204020204" pitchFamily="34" charset="-122"/>
                <a:ea typeface="微软雅黑" panose="020B0503020204020204" pitchFamily="34" charset="-122"/>
              </a:rPr>
              <a:t>分形状语义</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wipe(down)">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wipe(down)">
                                      <p:cBhvr>
                                        <p:cTn id="3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453327" y="1885782"/>
            <a:ext cx="5117295" cy="5068469"/>
          </a:xfrm>
        </p:spPr>
        <p:txBody>
          <a:bodyPr>
            <a:normAutofit fontScale="70000" lnSpcReduction="20000"/>
          </a:body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基本形状 </a:t>
            </a:r>
            <a:r>
              <a:rPr lang="en-US" altLang="zh-CN" sz="3100" dirty="0" smtClean="0">
                <a:solidFill>
                  <a:schemeClr val="tx1"/>
                </a:solidFill>
                <a:latin typeface="微软雅黑" panose="020B0503020204020204" pitchFamily="34" charset="-122"/>
                <a:ea typeface="微软雅黑" panose="020B0503020204020204" pitchFamily="34" charset="-122"/>
              </a:rPr>
              <a:t>S(x, y, w, h, label)</a:t>
            </a:r>
            <a:endParaRPr lang="en-US" altLang="zh-CN" sz="3100" dirty="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a:solidFill>
                  <a:schemeClr val="tx1"/>
                </a:solidFill>
                <a:latin typeface="微软雅黑" panose="020B0503020204020204" pitchFamily="34" charset="-122"/>
                <a:ea typeface="微软雅黑" panose="020B0503020204020204" pitchFamily="34" charset="-122"/>
              </a:rPr>
              <a:t>一</a:t>
            </a:r>
            <a:r>
              <a:rPr lang="zh-CN" altLang="en-US" sz="2600" dirty="0" smtClean="0">
                <a:solidFill>
                  <a:schemeClr val="tx1"/>
                </a:solidFill>
                <a:latin typeface="微软雅黑" panose="020B0503020204020204" pitchFamily="34" charset="-122"/>
                <a:ea typeface="微软雅黑" panose="020B0503020204020204" pitchFamily="34" charset="-122"/>
              </a:rPr>
              <a:t>个形状只能沿着水平或竖直方向剖分为两个</a:t>
            </a:r>
            <a:r>
              <a:rPr lang="zh-CN" altLang="en-US" sz="2600" dirty="0">
                <a:solidFill>
                  <a:schemeClr val="tx1"/>
                </a:solidFill>
                <a:latin typeface="微软雅黑" panose="020B0503020204020204" pitchFamily="34" charset="-122"/>
                <a:ea typeface="微软雅黑" panose="020B0503020204020204" pitchFamily="34" charset="-122"/>
              </a:rPr>
              <a:t>子</a:t>
            </a:r>
            <a:r>
              <a:rPr lang="zh-CN" altLang="en-US" sz="2600" dirty="0" smtClean="0">
                <a:solidFill>
                  <a:schemeClr val="tx1"/>
                </a:solidFill>
                <a:latin typeface="微软雅黑" panose="020B0503020204020204" pitchFamily="34" charset="-122"/>
                <a:ea typeface="微软雅黑" panose="020B0503020204020204" pitchFamily="34" charset="-122"/>
              </a:rPr>
              <a:t>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可以被剖分的基本形状称为非终端形状</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不可以被继续剖分的形状称为终端形状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二分形状语义生成形状的过程</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900" dirty="0" smtClean="0">
                <a:solidFill>
                  <a:schemeClr val="tx1"/>
                </a:solidFill>
                <a:latin typeface="微软雅黑" panose="020B0503020204020204" pitchFamily="34" charset="-122"/>
                <a:ea typeface="微软雅黑" panose="020B0503020204020204" pitchFamily="34" charset="-122"/>
              </a:rPr>
              <a:t>对初始形状不断应用语义规则，</a:t>
            </a:r>
            <a:r>
              <a:rPr lang="zh-CN" altLang="en-US" sz="2900" dirty="0">
                <a:solidFill>
                  <a:schemeClr val="tx1"/>
                </a:solidFill>
                <a:latin typeface="微软雅黑" panose="020B0503020204020204" pitchFamily="34" charset="-122"/>
                <a:ea typeface="微软雅黑" panose="020B0503020204020204" pitchFamily="34" charset="-122"/>
              </a:rPr>
              <a:t>直到</a:t>
            </a:r>
            <a:r>
              <a:rPr lang="zh-CN" altLang="en-US" sz="2900" dirty="0" smtClean="0">
                <a:solidFill>
                  <a:schemeClr val="tx1"/>
                </a:solidFill>
                <a:latin typeface="微软雅黑" panose="020B0503020204020204" pitchFamily="34" charset="-122"/>
                <a:ea typeface="微软雅黑" panose="020B0503020204020204" pitchFamily="34" charset="-122"/>
              </a:rPr>
              <a:t>所有的形状都是终端形状为止</a:t>
            </a:r>
            <a:endParaRPr lang="en-US" altLang="zh-CN" sz="2900" dirty="0" smtClean="0">
              <a:solidFill>
                <a:schemeClr val="tx1"/>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978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327" y="-40944"/>
            <a:ext cx="8062025" cy="1208868"/>
          </a:xfrm>
        </p:spPr>
        <p:txBody>
          <a:bodyPr/>
          <a:lstStyle/>
          <a:p>
            <a:r>
              <a:rPr lang="zh-CN" altLang="en-US" dirty="0"/>
              <a:t>示例：用二分形状语义表示一个简单的建筑立面</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1987" y="2102352"/>
            <a:ext cx="4652013" cy="3973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ontent Placeholder 2"/>
          <p:cNvSpPr txBox="1">
            <a:spLocks/>
          </p:cNvSpPr>
          <p:nvPr/>
        </p:nvSpPr>
        <p:spPr>
          <a:xfrm>
            <a:off x="126526" y="1720357"/>
            <a:ext cx="5117295" cy="5068469"/>
          </a:xfrm>
          <a:prstGeom prst="rect">
            <a:avLst/>
          </a:prstGeom>
        </p:spPr>
        <p:txBody>
          <a:bodyPr vert="horz" lIns="91440" tIns="45720" rIns="91440" bIns="45720" rtlCol="0">
            <a:normAutofit fontScale="62500" lnSpcReduction="20000"/>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初始形状：</a:t>
            </a:r>
            <a:r>
              <a:rPr lang="en-US" altLang="zh-CN" sz="3100" dirty="0" smtClean="0">
                <a:solidFill>
                  <a:schemeClr val="tx1"/>
                </a:solidFill>
                <a:latin typeface="微软雅黑" panose="020B0503020204020204" pitchFamily="34" charset="-122"/>
                <a:ea typeface="微软雅黑" panose="020B0503020204020204" pitchFamily="34" charset="-122"/>
              </a:rPr>
              <a:t>façade</a:t>
            </a: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smtClean="0">
                <a:solidFill>
                  <a:schemeClr val="tx1"/>
                </a:solidFill>
                <a:latin typeface="微软雅黑" panose="020B0503020204020204" pitchFamily="34" charset="-122"/>
                <a:ea typeface="微软雅黑" panose="020B0503020204020204" pitchFamily="34" charset="-122"/>
              </a:rPr>
              <a:t>wall</a:t>
            </a:r>
          </a:p>
          <a:p>
            <a:pPr marL="214313" indent="-214313">
              <a:lnSpc>
                <a:spcPct val="120000"/>
              </a:lnSpc>
              <a:buClr>
                <a:srgbClr val="00B050"/>
              </a:buClr>
              <a:buFont typeface="Wingdings" panose="05000000000000000000" pitchFamily="2" charset="2"/>
              <a:buChar char="u"/>
            </a:pPr>
            <a:r>
              <a:rPr lang="zh-CN" altLang="en-US" sz="3100" dirty="0">
                <a:solidFill>
                  <a:srgbClr val="0070C0"/>
                </a:solidFill>
                <a:latin typeface="微软雅黑" panose="020B0503020204020204" pitchFamily="34" charset="-122"/>
                <a:ea typeface="微软雅黑" panose="020B0503020204020204" pitchFamily="34" charset="-122"/>
              </a:rPr>
              <a:t>非</a:t>
            </a: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floorWall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floorWindow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facadeWindow</a:t>
            </a:r>
            <a:endParaRPr lang="en-US" altLang="zh-CN" sz="31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1</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façade → floorWall + </a:t>
            </a:r>
            <a:r>
              <a:rPr lang="en-US" altLang="zh-CN" sz="2600" dirty="0" err="1">
                <a:solidFill>
                  <a:schemeClr val="tx1"/>
                </a:solidFill>
                <a:latin typeface="微软雅黑" panose="020B0503020204020204" pitchFamily="34" charset="-122"/>
                <a:ea typeface="微软雅黑" panose="020B0503020204020204" pitchFamily="34" charset="-122"/>
              </a:rPr>
              <a:t>facadeWall</a:t>
            </a:r>
            <a:endParaRPr lang="zh-CN" altLang="en-US"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smtClean="0">
                <a:solidFill>
                  <a:schemeClr val="tx1"/>
                </a:solidFill>
                <a:latin typeface="微软雅黑" panose="020B0503020204020204" pitchFamily="34" charset="-122"/>
                <a:ea typeface="微软雅黑" panose="020B0503020204020204" pitchFamily="34" charset="-122"/>
              </a:rPr>
              <a:t>Rule </a:t>
            </a:r>
            <a:r>
              <a:rPr lang="en-US" altLang="zh-CN" sz="2600" dirty="0">
                <a:solidFill>
                  <a:schemeClr val="tx1"/>
                </a:solidFill>
                <a:latin typeface="微软雅黑" panose="020B0503020204020204" pitchFamily="34" charset="-122"/>
                <a:ea typeface="微软雅黑" panose="020B0503020204020204" pitchFamily="34" charset="-122"/>
              </a:rPr>
              <a:t>2</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facadeFloor</a:t>
            </a:r>
            <a:r>
              <a:rPr lang="en-US" altLang="zh-CN" sz="2600" dirty="0">
                <a:solidFill>
                  <a:schemeClr val="tx1"/>
                </a:solidFill>
                <a:latin typeface="微软雅黑" panose="020B0503020204020204" pitchFamily="34" charset="-122"/>
                <a:ea typeface="微软雅黑" panose="020B0503020204020204" pitchFamily="34" charset="-122"/>
              </a:rPr>
              <a:t> → floorWall + </a:t>
            </a:r>
            <a:r>
              <a:rPr lang="en-US" altLang="zh-CN" sz="2600" dirty="0" err="1" smtClean="0">
                <a:solidFill>
                  <a:schemeClr val="tx1"/>
                </a:solidFill>
                <a:latin typeface="微软雅黑" panose="020B0503020204020204" pitchFamily="34" charset="-122"/>
                <a:ea typeface="微软雅黑" panose="020B0503020204020204" pitchFamily="34" charset="-122"/>
              </a:rPr>
              <a:t>facadeWall</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3 :  </a:t>
            </a:r>
            <a:r>
              <a:rPr lang="en-US" altLang="zh-CN" sz="2600" dirty="0" err="1">
                <a:solidFill>
                  <a:schemeClr val="tx1"/>
                </a:solidFill>
                <a:latin typeface="微软雅黑" panose="020B0503020204020204" pitchFamily="34" charset="-122"/>
                <a:ea typeface="微软雅黑" panose="020B0503020204020204" pitchFamily="34" charset="-122"/>
              </a:rPr>
              <a:t>facadeWall</a:t>
            </a:r>
            <a:r>
              <a:rPr lang="en-US" altLang="zh-CN" sz="2600" dirty="0">
                <a:solidFill>
                  <a:schemeClr val="tx1"/>
                </a:solidFill>
                <a:latin typeface="微软雅黑" panose="020B0503020204020204" pitchFamily="34" charset="-122"/>
                <a:ea typeface="微软雅黑" panose="020B0503020204020204" pitchFamily="34" charset="-122"/>
              </a:rPr>
              <a:t> → wall+ </a:t>
            </a:r>
            <a:r>
              <a:rPr lang="en-US" altLang="zh-CN" sz="2600" dirty="0" err="1">
                <a:solidFill>
                  <a:schemeClr val="tx1"/>
                </a:solidFill>
                <a:latin typeface="微软雅黑" panose="020B0503020204020204" pitchFamily="34" charset="-122"/>
                <a:ea typeface="微软雅黑" panose="020B0503020204020204" pitchFamily="34" charset="-122"/>
              </a:rPr>
              <a:t>facadeFloor</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4</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floorWall ↓ wall+ </a:t>
            </a:r>
            <a:r>
              <a:rPr lang="en-US" altLang="zh-CN" sz="2600" dirty="0" err="1">
                <a:solidFill>
                  <a:schemeClr val="tx1"/>
                </a:solidFill>
                <a:latin typeface="微软雅黑" panose="020B0503020204020204" pitchFamily="34" charset="-122"/>
                <a:ea typeface="微软雅黑" panose="020B0503020204020204" pitchFamily="34" charset="-122"/>
              </a:rPr>
              <a:t>floorWindow</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5</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floorWindow</a:t>
            </a:r>
            <a:r>
              <a:rPr lang="en-US" altLang="zh-CN" sz="2600" dirty="0">
                <a:solidFill>
                  <a:schemeClr val="tx1"/>
                </a:solidFill>
                <a:latin typeface="微软雅黑" panose="020B0503020204020204" pitchFamily="34" charset="-122"/>
                <a:ea typeface="微软雅黑" panose="020B0503020204020204" pitchFamily="34" charset="-122"/>
              </a:rPr>
              <a:t> ↓ window+ floorWall</a:t>
            </a:r>
          </a:p>
          <a:p>
            <a:pPr marL="728663" lvl="1" indent="-214313">
              <a:lnSpc>
                <a:spcPct val="120000"/>
              </a:lnSpc>
              <a:buClr>
                <a:srgbClr val="00B050"/>
              </a:buClr>
              <a:buFont typeface="Wingdings" panose="05000000000000000000" pitchFamily="2" charset="2"/>
              <a:buChar char="ü"/>
            </a:pPr>
            <a:endParaRPr lang="en-US" altLang="zh-CN" sz="2600" dirty="0">
              <a:solidFill>
                <a:schemeClr val="tx1"/>
              </a:solidFill>
              <a:latin typeface="微软雅黑" panose="020B0503020204020204" pitchFamily="34" charset="-122"/>
              <a:ea typeface="微软雅黑" panose="020B0503020204020204" pitchFamily="34" charset="-122"/>
            </a:endParaRPr>
          </a:p>
          <a:p>
            <a:pPr lvl="1" indent="0">
              <a:buClr>
                <a:srgbClr val="00B050"/>
              </a:buClr>
              <a:buFont typeface="Arial" panose="020B0604020202020204" pitchFamily="34" charset="0"/>
              <a:buNone/>
            </a:pPr>
            <a:endParaRPr lang="zh-CN" altLang="en-US" dirty="0" smtClean="0"/>
          </a:p>
        </p:txBody>
      </p:sp>
      <p:sp>
        <p:nvSpPr>
          <p:cNvPr id="20" name="内容占位符 2"/>
          <p:cNvSpPr txBox="1">
            <a:spLocks/>
          </p:cNvSpPr>
          <p:nvPr/>
        </p:nvSpPr>
        <p:spPr>
          <a:xfrm rot="320518">
            <a:off x="1611806" y="1907071"/>
            <a:ext cx="7264031" cy="1086017"/>
          </a:xfrm>
          <a:prstGeom prst="rect">
            <a:avLst/>
          </a:prstGeom>
          <a:solidFill>
            <a:srgbClr val="00B050"/>
          </a:solidFill>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2400" b="1" dirty="0" smtClean="0">
                <a:ln w="0"/>
                <a:solidFill>
                  <a:srgbClr val="FFFF00"/>
                </a:solidFill>
                <a:effectLst>
                  <a:outerShdw blurRad="38100" dist="19050" dir="2700000" algn="tl" rotWithShape="0">
                    <a:schemeClr val="dk1">
                      <a:alpha val="40000"/>
                    </a:schemeClr>
                  </a:outerShdw>
                </a:effectLst>
                <a:latin typeface="微软雅黑" panose="020B0503020204020204" pitchFamily="34" charset="-122"/>
                <a:ea typeface="微软雅黑" panose="020B0503020204020204" pitchFamily="34" charset="-122"/>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2" fill="hold" nodeType="clickEffect">
                                  <p:stCondLst>
                                    <p:cond delay="0"/>
                                  </p:stCondLst>
                                  <p:childTnLst>
                                    <p:set>
                                      <p:cBhvr>
                                        <p:cTn id="32" dur="1" fill="hold">
                                          <p:stCondLst>
                                            <p:cond delay="0"/>
                                          </p:stCondLst>
                                        </p:cTn>
                                        <p:tgtEl>
                                          <p:spTgt spid="3074"/>
                                        </p:tgtEl>
                                        <p:attrNameLst>
                                          <p:attrName>style.visibility</p:attrName>
                                        </p:attrNameLst>
                                      </p:cBhvr>
                                      <p:to>
                                        <p:strVal val="visible"/>
                                      </p:to>
                                    </p:set>
                                    <p:anim calcmode="lin" valueType="num">
                                      <p:cBhvr additive="base">
                                        <p:cTn id="33" dur="500" fill="hold"/>
                                        <p:tgtEl>
                                          <p:spTgt spid="3074"/>
                                        </p:tgtEl>
                                        <p:attrNameLst>
                                          <p:attrName>ppt_x</p:attrName>
                                        </p:attrNameLst>
                                      </p:cBhvr>
                                      <p:tavLst>
                                        <p:tav tm="0">
                                          <p:val>
                                            <p:strVal val="1+#ppt_w/2"/>
                                          </p:val>
                                        </p:tav>
                                        <p:tav tm="100000">
                                          <p:val>
                                            <p:strVal val="#ppt_x"/>
                                          </p:val>
                                        </p:tav>
                                      </p:tavLst>
                                    </p:anim>
                                    <p:anim calcmode="lin" valueType="num">
                                      <p:cBhvr additive="base">
                                        <p:cTn id="34" dur="500" fill="hold"/>
                                        <p:tgtEl>
                                          <p:spTgt spid="3074"/>
                                        </p:tgtEl>
                                        <p:attrNameLst>
                                          <p:attrName>ppt_y</p:attrName>
                                        </p:attrNameLst>
                                      </p:cBhvr>
                                      <p:tavLst>
                                        <p:tav tm="0">
                                          <p:val>
                                            <p:strVal val="#ppt_y"/>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4"/>
            <a:ext cx="8024030" cy="4930017"/>
          </a:xfrm>
        </p:spPr>
        <p:txBody>
          <a:bodyPr>
            <a:normAutofit/>
          </a:bodyPr>
          <a:lstStyle/>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chemeClr val="tx1"/>
                </a:solidFill>
              </a:rPr>
              <a:t>和</a:t>
            </a:r>
            <a:r>
              <a:rPr lang="en-US" altLang="zh-CN" sz="2200" dirty="0" smtClean="0">
                <a:solidFill>
                  <a:srgbClr val="0070C0"/>
                </a:solidFill>
              </a:rPr>
              <a:t>Environment</a:t>
            </a:r>
            <a:r>
              <a:rPr lang="zh-CN" altLang="en-US" sz="2200" dirty="0" smtClean="0">
                <a:solidFill>
                  <a:schemeClr val="tx1"/>
                </a:solidFill>
              </a:rPr>
              <a:t>的</a:t>
            </a:r>
            <a:r>
              <a:rPr lang="zh-CN" altLang="en-US" sz="2200" dirty="0" smtClean="0">
                <a:solidFill>
                  <a:srgbClr val="0070C0"/>
                </a:solidFill>
              </a:rPr>
              <a:t>交互</a:t>
            </a:r>
            <a:endParaRPr lang="en-US" altLang="zh-CN" sz="2200" dirty="0" smtClean="0">
              <a:solidFill>
                <a:srgbClr val="0070C0"/>
              </a:solidFill>
            </a:endParaRPr>
          </a:p>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rgbClr val="0070C0"/>
                </a:solidFill>
              </a:rPr>
              <a:t>的目标</a:t>
            </a:r>
            <a:r>
              <a:rPr lang="zh-CN" altLang="en-US" sz="2200" dirty="0" smtClean="0">
                <a:solidFill>
                  <a:schemeClr val="tx1"/>
                </a:solidFill>
              </a:rPr>
              <a:t>：最大化长期回报值</a:t>
            </a:r>
            <a:endParaRPr lang="en-US" altLang="zh-CN" sz="2200" dirty="0" smtClean="0">
              <a:solidFill>
                <a:schemeClr val="tx1"/>
              </a:solidFill>
            </a:endParaRPr>
          </a:p>
          <a:p>
            <a:pPr>
              <a:lnSpc>
                <a:spcPct val="100000"/>
              </a:lnSpc>
              <a:buClr>
                <a:srgbClr val="00B050"/>
              </a:buClr>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rgbClr val="0070C0"/>
                </a:solidFill>
              </a:rPr>
              <a:t>策略</a:t>
            </a:r>
            <a:r>
              <a:rPr lang="el-GR" altLang="zh-CN" sz="2200" dirty="0" smtClean="0">
                <a:solidFill>
                  <a:srgbClr val="0070C0"/>
                </a:solidFill>
              </a:rPr>
              <a:t>π</a:t>
            </a:r>
            <a:r>
              <a:rPr lang="zh-CN" altLang="en-US" sz="2200" dirty="0" smtClean="0">
                <a:solidFill>
                  <a:schemeClr val="tx1"/>
                </a:solidFill>
              </a:rPr>
              <a:t>描述了在某个状态下选择某个行为的概率，用</a:t>
            </a:r>
            <a:r>
              <a:rPr lang="en-US" altLang="zh-CN" sz="2200" dirty="0" smtClean="0">
                <a:solidFill>
                  <a:srgbClr val="0070C0"/>
                </a:solidFill>
              </a:rPr>
              <a:t>V</a:t>
            </a:r>
            <a:r>
              <a:rPr lang="zh-CN" altLang="en-US" sz="2200" dirty="0" smtClean="0">
                <a:solidFill>
                  <a:srgbClr val="0070C0"/>
                </a:solidFill>
              </a:rPr>
              <a:t>函数</a:t>
            </a:r>
            <a:r>
              <a:rPr lang="zh-CN" altLang="en-US" sz="2200" dirty="0" smtClean="0">
                <a:solidFill>
                  <a:schemeClr val="tx1"/>
                </a:solidFill>
              </a:rPr>
              <a:t>描述策略的</a:t>
            </a:r>
            <a:r>
              <a:rPr lang="zh-CN" altLang="en-US" sz="2200" dirty="0" smtClean="0">
                <a:solidFill>
                  <a:schemeClr val="tx1"/>
                </a:solidFill>
              </a:rPr>
              <a:t>好坏</a:t>
            </a:r>
            <a:r>
              <a:rPr lang="zh-CN" altLang="en-US" sz="2200" dirty="0">
                <a:solidFill>
                  <a:schemeClr val="tx1"/>
                </a:solidFill>
              </a:rPr>
              <a:t>。</a:t>
            </a:r>
            <a:r>
              <a:rPr lang="en-US" altLang="zh-CN" sz="2200" dirty="0" smtClean="0">
                <a:solidFill>
                  <a:schemeClr val="tx1"/>
                </a:solidFill>
              </a:rPr>
              <a:t>V</a:t>
            </a:r>
            <a:r>
              <a:rPr lang="zh-CN" altLang="en-US" sz="2200" dirty="0" smtClean="0">
                <a:solidFill>
                  <a:schemeClr val="tx1"/>
                </a:solidFill>
              </a:rPr>
              <a:t>函数表示在某个状态下按照策略</a:t>
            </a:r>
            <a:r>
              <a:rPr lang="el-GR" altLang="zh-CN" sz="2200" dirty="0" smtClean="0">
                <a:solidFill>
                  <a:schemeClr val="tx1"/>
                </a:solidFill>
              </a:rPr>
              <a:t>π</a:t>
            </a:r>
            <a:r>
              <a:rPr lang="zh-CN" altLang="en-US" sz="2200" dirty="0" smtClean="0">
                <a:solidFill>
                  <a:schemeClr val="tx1"/>
                </a:solidFill>
              </a:rPr>
              <a:t>决策，</a:t>
            </a:r>
            <a:r>
              <a:rPr lang="en-US" altLang="zh-CN" sz="2200" dirty="0" smtClean="0">
                <a:solidFill>
                  <a:schemeClr val="tx1"/>
                </a:solidFill>
              </a:rPr>
              <a:t>agent</a:t>
            </a:r>
            <a:r>
              <a:rPr lang="zh-CN" altLang="en-US" sz="2200" dirty="0" smtClean="0">
                <a:solidFill>
                  <a:schemeClr val="tx1"/>
                </a:solidFill>
              </a:rPr>
              <a:t>能得到的长期回报</a:t>
            </a:r>
            <a:r>
              <a:rPr lang="zh-CN" altLang="en-US" sz="2200" dirty="0" smtClean="0">
                <a:solidFill>
                  <a:schemeClr val="tx1"/>
                </a:solidFill>
              </a:rPr>
              <a:t>值：</a:t>
            </a: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chemeClr val="tx1"/>
                </a:solidFill>
              </a:rPr>
              <a:t>增强学习</a:t>
            </a:r>
            <a:r>
              <a:rPr lang="zh-CN" altLang="en-US" sz="2200" dirty="0" smtClean="0">
                <a:solidFill>
                  <a:srgbClr val="0070C0"/>
                </a:solidFill>
              </a:rPr>
              <a:t>改进策略的</a:t>
            </a:r>
            <a:r>
              <a:rPr lang="zh-CN" altLang="en-US" sz="2200" dirty="0" smtClean="0">
                <a:solidFill>
                  <a:schemeClr val="tx1"/>
                </a:solidFill>
              </a:rPr>
              <a:t>公式</a:t>
            </a:r>
            <a:r>
              <a:rPr lang="en-US" altLang="zh-CN" sz="2200" dirty="0" smtClean="0">
                <a:solidFill>
                  <a:schemeClr val="tx1"/>
                </a:solidFill>
              </a:rPr>
              <a:t>:</a:t>
            </a:r>
            <a:endParaRPr lang="en-US" altLang="zh-CN" sz="2200" dirty="0" smtClean="0">
              <a:solidFill>
                <a:schemeClr val="tx1"/>
              </a:solidFill>
            </a:endParaRPr>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rotWithShape="1">
          <a:blip r:embed="rId4">
            <a:extLst>
              <a:ext uri="{28A0092B-C50C-407E-A947-70E740481C1C}">
                <a14:useLocalDpi xmlns:a14="http://schemas.microsoft.com/office/drawing/2010/main" val="0"/>
              </a:ext>
            </a:extLst>
          </a:blip>
          <a:srcRect l="9151" r="5908"/>
          <a:stretch/>
        </p:blipFill>
        <p:spPr bwMode="auto">
          <a:xfrm>
            <a:off x="5158852" y="1423720"/>
            <a:ext cx="405338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033360307"/>
              </p:ext>
            </p:extLst>
          </p:nvPr>
        </p:nvGraphicFramePr>
        <p:xfrm>
          <a:off x="1959866" y="2643226"/>
          <a:ext cx="2298411" cy="895820"/>
        </p:xfrm>
        <a:graphic>
          <a:graphicData uri="http://schemas.openxmlformats.org/presentationml/2006/ole">
            <mc:AlternateContent xmlns:mc="http://schemas.openxmlformats.org/markup-compatibility/2006">
              <mc:Choice xmlns:v="urn:schemas-microsoft-com:vml" Requires="v">
                <p:oleObj spid="_x0000_s1250"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59866" y="2643226"/>
                        <a:ext cx="2298411" cy="895820"/>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624833020"/>
              </p:ext>
            </p:extLst>
          </p:nvPr>
        </p:nvGraphicFramePr>
        <p:xfrm>
          <a:off x="1063215" y="4450925"/>
          <a:ext cx="7154901" cy="928814"/>
        </p:xfrm>
        <a:graphic>
          <a:graphicData uri="http://schemas.openxmlformats.org/presentationml/2006/ole">
            <mc:AlternateContent xmlns:mc="http://schemas.openxmlformats.org/markup-compatibility/2006">
              <mc:Choice xmlns:v="urn:schemas-microsoft-com:vml" Requires="v">
                <p:oleObj spid="_x0000_s1251"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63215" y="4450925"/>
                        <a:ext cx="7154901" cy="928814"/>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2973598236"/>
              </p:ext>
            </p:extLst>
          </p:nvPr>
        </p:nvGraphicFramePr>
        <p:xfrm>
          <a:off x="1101540" y="5790850"/>
          <a:ext cx="6604076" cy="631466"/>
        </p:xfrm>
        <a:graphic>
          <a:graphicData uri="http://schemas.openxmlformats.org/presentationml/2006/ole">
            <mc:AlternateContent xmlns:mc="http://schemas.openxmlformats.org/markup-compatibility/2006">
              <mc:Choice xmlns:v="urn:schemas-microsoft-com:vml" Requires="v">
                <p:oleObj spid="_x0000_s1252"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101540" y="5790850"/>
                        <a:ext cx="6604076" cy="631466"/>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mc:Choice xmlns:a14="http://schemas.microsoft.com/office/drawing/2010/main" Requires="a14">
          <p:sp>
            <p:nvSpPr>
              <p:cNvPr id="4" name="内容占位符 3"/>
              <p:cNvSpPr>
                <a:spLocks noGrp="1"/>
              </p:cNvSpPr>
              <p:nvPr>
                <p:ph idx="1"/>
              </p:nvPr>
            </p:nvSpPr>
            <p:spPr>
              <a:xfrm>
                <a:off x="628652" y="1825625"/>
                <a:ext cx="7281634" cy="4734832"/>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000" dirty="0" smtClean="0">
                    <a:solidFill>
                      <a:schemeClr val="tx1"/>
                    </a:solidFill>
                    <a:latin typeface="微软雅黑" panose="020B0503020204020204" pitchFamily="34" charset="-122"/>
                    <a:ea typeface="微软雅黑" panose="020B0503020204020204" pitchFamily="34" charset="-122"/>
                  </a:rPr>
                  <a:t>剖分的过程可以用马尔科夫决策过程来描述</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Agent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a:solidFill>
                      <a:srgbClr val="0070C0"/>
                    </a:solidFill>
                    <a:latin typeface="微软雅黑" panose="020B0503020204020204" pitchFamily="34" charset="-122"/>
                    <a:ea typeface="微软雅黑" panose="020B0503020204020204" pitchFamily="34" charset="-122"/>
                  </a:rPr>
                  <a:t>立</a:t>
                </a:r>
                <a:r>
                  <a:rPr lang="zh-CN" altLang="en-US" sz="2000" dirty="0" smtClean="0">
                    <a:solidFill>
                      <a:srgbClr val="0070C0"/>
                    </a:solidFill>
                    <a:latin typeface="微软雅黑" panose="020B0503020204020204" pitchFamily="34" charset="-122"/>
                    <a:ea typeface="微软雅黑" panose="020B0503020204020204" pitchFamily="34" charset="-122"/>
                  </a:rPr>
                  <a:t>面剖分的过程</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Environment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smtClean="0">
                    <a:solidFill>
                      <a:srgbClr val="0070C0"/>
                    </a:solidFill>
                    <a:latin typeface="微软雅黑" panose="020B0503020204020204" pitchFamily="34" charset="-122"/>
                    <a:ea typeface="微软雅黑" panose="020B0503020204020204" pitchFamily="34" charset="-122"/>
                  </a:rPr>
                  <a:t>剖分树</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状态</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剖分树中的</a:t>
                </a:r>
                <a:r>
                  <a:rPr lang="zh-CN" altLang="en-US" sz="2000" dirty="0" smtClean="0">
                    <a:solidFill>
                      <a:srgbClr val="0070C0"/>
                    </a:solidFill>
                    <a:latin typeface="微软雅黑" panose="020B0503020204020204" pitchFamily="34" charset="-122"/>
                    <a:ea typeface="微软雅黑" panose="020B0503020204020204" pitchFamily="34" charset="-122"/>
                  </a:rPr>
                  <a:t>节点</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2000" dirty="0" smtClean="0">
                    <a:solidFill>
                      <a:schemeClr val="tx1"/>
                    </a:solidFill>
                    <a:latin typeface="微软雅黑" panose="020B0503020204020204" pitchFamily="34" charset="-122"/>
                    <a:ea typeface="微软雅黑" panose="020B0503020204020204" pitchFamily="34" charset="-122"/>
                  </a:rPr>
                  <a:t>在剖分的每一步，</a:t>
                </a:r>
                <a:r>
                  <a:rPr lang="en-US" altLang="zh-CN" sz="2000" dirty="0" smtClean="0">
                    <a:solidFill>
                      <a:schemeClr val="tx1"/>
                    </a:solidFill>
                    <a:latin typeface="微软雅黑" panose="020B0503020204020204" pitchFamily="34" charset="-122"/>
                    <a:ea typeface="微软雅黑" panose="020B0503020204020204" pitchFamily="34" charset="-122"/>
                  </a:rPr>
                  <a:t>Agent</a:t>
                </a:r>
                <a:r>
                  <a:rPr lang="zh-CN" altLang="en-US" sz="2000" dirty="0" smtClean="0">
                    <a:solidFill>
                      <a:schemeClr val="tx1"/>
                    </a:solidFill>
                    <a:latin typeface="微软雅黑" panose="020B0503020204020204" pitchFamily="34" charset="-122"/>
                    <a:ea typeface="微软雅黑" panose="020B0503020204020204" pitchFamily="34" charset="-122"/>
                  </a:rPr>
                  <a:t>都位于剖分树的某个结点上</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行为</a:t>
                </a:r>
                <a:r>
                  <a:rPr lang="en-US" altLang="zh-CN"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语法规则</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285750" indent="-2857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长期回报值</a:t>
                </a:r>
                <a:r>
                  <a:rPr lang="en-US" altLang="zh-CN" sz="2000" dirty="0" smtClean="0">
                    <a:solidFill>
                      <a:srgbClr val="0070C0"/>
                    </a:solidFill>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2000" i="1" dirty="0" smtClean="0">
                            <a:solidFill>
                              <a:srgbClr val="0070C0"/>
                            </a:solidFill>
                            <a:latin typeface="Cambria Math" panose="02040503050406030204" pitchFamily="18" charset="0"/>
                          </a:rPr>
                        </m:ctrlPr>
                      </m:naryPr>
                      <m:sub>
                        <m:r>
                          <m:rPr>
                            <m:brk m:alnAt="7"/>
                          </m:rPr>
                          <a:rPr lang="en-US" altLang="zh-CN" sz="2000" b="0" i="1" dirty="0" smtClean="0">
                            <a:solidFill>
                              <a:srgbClr val="0070C0"/>
                            </a:solidFill>
                            <a:latin typeface="Cambria Math" panose="02040503050406030204" pitchFamily="18" charset="0"/>
                          </a:rPr>
                          <m:t>𝑥</m:t>
                        </m:r>
                        <m:r>
                          <a:rPr lang="en-US" altLang="zh-CN" sz="2000" b="0" i="1" dirty="0" smtClean="0">
                            <a:solidFill>
                              <a:srgbClr val="0070C0"/>
                            </a:solidFill>
                            <a:latin typeface="Cambria Math" panose="02040503050406030204" pitchFamily="18" charset="0"/>
                          </a:rPr>
                          <m:t>,</m:t>
                        </m:r>
                        <m:r>
                          <a:rPr lang="en-US" altLang="zh-CN" sz="2000" b="0" i="1" dirty="0" smtClean="0">
                            <a:solidFill>
                              <a:srgbClr val="0070C0"/>
                            </a:solidFill>
                            <a:latin typeface="Cambria Math" panose="02040503050406030204" pitchFamily="18" charset="0"/>
                          </a:rPr>
                          <m:t>𝑦</m:t>
                        </m:r>
                        <m:r>
                          <a:rPr lang="en-US" altLang="zh-CN" sz="2000" b="0" i="1" dirty="0" smtClean="0">
                            <a:solidFill>
                              <a:srgbClr val="0070C0"/>
                            </a:solidFill>
                            <a:latin typeface="Cambria Math" panose="02040503050406030204" pitchFamily="18" charset="0"/>
                            <a:ea typeface="Cambria Math" panose="02040503050406030204" pitchFamily="18" charset="0"/>
                          </a:rPr>
                          <m:t>∈</m:t>
                        </m:r>
                        <m:r>
                          <a:rPr lang="en-US" altLang="zh-CN" sz="2000" b="0" i="1" dirty="0" smtClean="0">
                            <a:solidFill>
                              <a:srgbClr val="0070C0"/>
                            </a:solidFill>
                            <a:latin typeface="Cambria Math" panose="02040503050406030204" pitchFamily="18" charset="0"/>
                            <a:ea typeface="Cambria Math" panose="02040503050406030204" pitchFamily="18" charset="0"/>
                          </a:rPr>
                          <m:t>𝑓𝑎𝑐𝑎𝑑𝑒</m:t>
                        </m:r>
                      </m:sub>
                      <m:sup/>
                      <m:e>
                        <m:r>
                          <m:rPr>
                            <m:sty m:val="p"/>
                          </m:rPr>
                          <a:rPr lang="en-US" altLang="zh-CN" sz="2000" dirty="0">
                            <a:solidFill>
                              <a:srgbClr val="0070C0"/>
                            </a:solidFill>
                            <a:latin typeface="Cambria Math" panose="02040503050406030204" pitchFamily="18" charset="0"/>
                          </a:rPr>
                          <m:t>p</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s</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nor/>
                          </m:rPr>
                          <a:rPr lang="zh-CN" altLang="en-US" sz="2000" dirty="0">
                            <a:solidFill>
                              <a:srgbClr val="0070C0"/>
                            </a:solidFill>
                            <a:latin typeface="微软雅黑" panose="020B0503020204020204" pitchFamily="34" charset="-122"/>
                            <a:ea typeface="微软雅黑" panose="020B0503020204020204" pitchFamily="34" charset="-122"/>
                          </a:rPr>
                          <m:t> </m:t>
                        </m:r>
                      </m:e>
                    </m:nary>
                  </m:oMath>
                </a14:m>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s(x, y)</a:t>
                </a:r>
                <a:r>
                  <a:rPr lang="zh-CN" altLang="en-US" sz="2000" dirty="0" smtClean="0">
                    <a:solidFill>
                      <a:schemeClr val="tx1"/>
                    </a:solidFill>
                    <a:latin typeface="微软雅黑" panose="020B0503020204020204" pitchFamily="34" charset="-122"/>
                    <a:ea typeface="微软雅黑" panose="020B0503020204020204" pitchFamily="34" charset="-122"/>
                  </a:rPr>
                  <a:t>根据策略</a:t>
                </a:r>
                <a:r>
                  <a:rPr lang="en-US" altLang="zh-CN" sz="2000" dirty="0" smtClean="0">
                    <a:solidFill>
                      <a:schemeClr val="tx1"/>
                    </a:solidFill>
                    <a:latin typeface="微软雅黑" panose="020B0503020204020204" pitchFamily="34" charset="-122"/>
                    <a:ea typeface="微软雅黑" panose="020B0503020204020204" pitchFamily="34" charset="-122"/>
                  </a:rPr>
                  <a:t>s</a:t>
                </a:r>
                <a:r>
                  <a:rPr lang="zh-CN" altLang="en-US" sz="2000" dirty="0" smtClean="0">
                    <a:solidFill>
                      <a:schemeClr val="tx1"/>
                    </a:solidFill>
                    <a:latin typeface="微软雅黑" panose="020B0503020204020204" pitchFamily="34" charset="-122"/>
                    <a:ea typeface="微软雅黑" panose="020B0503020204020204" pitchFamily="34" charset="-122"/>
                  </a:rPr>
                  <a:t>得到的点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的建筑结构类别</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P(s(x, y)|x, y) </a:t>
                </a:r>
                <a:r>
                  <a:rPr lang="zh-CN" altLang="en-US" sz="2000" dirty="0" smtClean="0">
                    <a:solidFill>
                      <a:schemeClr val="tx1"/>
                    </a:solidFill>
                    <a:latin typeface="微软雅黑" panose="020B0503020204020204" pitchFamily="34" charset="-122"/>
                    <a:ea typeface="微软雅黑" panose="020B0503020204020204" pitchFamily="34" charset="-122"/>
                  </a:rPr>
                  <a:t>真实情况下点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a:solidFill>
                      <a:schemeClr val="tx1"/>
                    </a:solidFill>
                    <a:latin typeface="微软雅黑" panose="020B0503020204020204" pitchFamily="34" charset="-122"/>
                    <a:ea typeface="微软雅黑" panose="020B0503020204020204" pitchFamily="34" charset="-122"/>
                  </a:rPr>
                  <a:t>是</a:t>
                </a:r>
                <a:r>
                  <a:rPr lang="zh-CN" altLang="en-US" sz="2000" dirty="0" smtClean="0">
                    <a:solidFill>
                      <a:schemeClr val="tx1"/>
                    </a:solidFill>
                    <a:latin typeface="微软雅黑" panose="020B0503020204020204" pitchFamily="34" charset="-122"/>
                    <a:ea typeface="微软雅黑" panose="020B0503020204020204" pitchFamily="34" charset="-122"/>
                  </a:rPr>
                  <a:t>建筑类别</a:t>
                </a:r>
                <a:r>
                  <a:rPr lang="en-US" altLang="zh-CN" sz="2000" dirty="0">
                    <a:solidFill>
                      <a:schemeClr val="tx1"/>
                    </a:solidFill>
                    <a:latin typeface="微软雅黑" panose="020B0503020204020204" pitchFamily="34" charset="-122"/>
                    <a:ea typeface="微软雅黑" panose="020B0503020204020204" pitchFamily="34" charset="-122"/>
                  </a:rPr>
                  <a:t>s(x, </a:t>
                </a:r>
                <a:r>
                  <a:rPr lang="en-US" altLang="zh-CN" sz="2000" dirty="0" smtClean="0">
                    <a:solidFill>
                      <a:schemeClr val="tx1"/>
                    </a:solidFill>
                    <a:latin typeface="微软雅黑" panose="020B0503020204020204" pitchFamily="34" charset="-122"/>
                    <a:ea typeface="微软雅黑" panose="020B0503020204020204" pitchFamily="34" charset="-122"/>
                  </a:rPr>
                  <a:t>y)</a:t>
                </a:r>
                <a:r>
                  <a:rPr lang="zh-CN" altLang="en-US" sz="2000" dirty="0" smtClean="0">
                    <a:solidFill>
                      <a:schemeClr val="tx1"/>
                    </a:solidFill>
                    <a:latin typeface="微软雅黑" panose="020B0503020204020204" pitchFamily="34" charset="-122"/>
                    <a:ea typeface="微软雅黑" panose="020B0503020204020204" pitchFamily="34" charset="-122"/>
                  </a:rPr>
                  <a:t>的概率</a:t>
                </a:r>
                <a:endParaRPr lang="zh-CN" altLang="en-US" sz="2000" dirty="0">
                  <a:solidFill>
                    <a:schemeClr val="tx1"/>
                  </a:solidFill>
                  <a:latin typeface="微软雅黑" panose="020B0503020204020204" pitchFamily="34" charset="-122"/>
                  <a:ea typeface="微软雅黑" panose="020B0503020204020204" pitchFamily="34" charset="-122"/>
                </a:endParaRPr>
              </a:p>
            </p:txBody>
          </p:sp>
        </mc:Choice>
        <mc:Fallback>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753" t="-644" r="-837"/>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954107"/>
          </a:xfrm>
          <a:prstGeom prst="rect">
            <a:avLst/>
          </a:prstGeom>
          <a:solidFill>
            <a:schemeClr val="accent5"/>
          </a:solidFill>
        </p:spPr>
        <p:txBody>
          <a:bodyPr wrap="square" rtlCol="0">
            <a:spAutoFit/>
          </a:bodyPr>
          <a:lstStyle/>
          <a:p>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如何得到点（</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为</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建筑</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类别</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800" b="1" dirty="0" err="1"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p:cNvSpPr>
            <a:spLocks noGrp="1"/>
          </p:cNvSpPr>
          <p:nvPr>
            <p:ph idx="1"/>
          </p:nvPr>
        </p:nvSpPr>
        <p:spPr>
          <a:xfrm>
            <a:off x="544427" y="1825625"/>
            <a:ext cx="6457951" cy="4551112"/>
          </a:xfrm>
        </p:spPr>
        <p:txBody>
          <a:bodyPr>
            <a:noAutofit/>
          </a:bodyPr>
          <a:lstStyle/>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预处理</a:t>
            </a:r>
            <a:endParaRPr lang="en-US" altLang="zh-CN" sz="2000" b="1" dirty="0" smtClean="0">
              <a:solidFill>
                <a:srgbClr val="0070C0"/>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去除</a:t>
            </a:r>
            <a:r>
              <a:rPr lang="zh-CN" altLang="en-US" sz="1800" dirty="0" smtClean="0">
                <a:solidFill>
                  <a:schemeClr val="tx1"/>
                </a:solidFill>
                <a:latin typeface="微软雅黑" panose="020B0503020204020204" pitchFamily="34" charset="-122"/>
                <a:ea typeface="微软雅黑" panose="020B0503020204020204" pitchFamily="34" charset="-122"/>
              </a:rPr>
              <a:t>噪声</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转换坐标系，将建筑立面对其到</a:t>
            </a:r>
            <a:r>
              <a:rPr lang="en-US" altLang="zh-CN" sz="1800" dirty="0">
                <a:solidFill>
                  <a:schemeClr val="tx1"/>
                </a:solidFill>
                <a:latin typeface="微软雅黑" panose="020B0503020204020204" pitchFamily="34" charset="-122"/>
                <a:ea typeface="微软雅黑" panose="020B0503020204020204" pitchFamily="34" charset="-122"/>
              </a:rPr>
              <a:t>X-Y</a:t>
            </a:r>
            <a:r>
              <a:rPr lang="zh-CN" altLang="en-US" sz="1800" dirty="0">
                <a:solidFill>
                  <a:schemeClr val="tx1"/>
                </a:solidFill>
                <a:latin typeface="微软雅黑" panose="020B0503020204020204" pitchFamily="34" charset="-122"/>
                <a:ea typeface="微软雅黑" panose="020B0503020204020204" pitchFamily="34" charset="-122"/>
              </a:rPr>
              <a:t>平面</a:t>
            </a:r>
            <a:endParaRPr lang="en-US" altLang="zh-CN" sz="1800" dirty="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立面的网格分割，合并</a:t>
            </a:r>
            <a:r>
              <a:rPr lang="en-US" altLang="zh-CN" sz="1800" dirty="0">
                <a:solidFill>
                  <a:schemeClr val="tx1"/>
                </a:solidFill>
                <a:latin typeface="微软雅黑" panose="020B0503020204020204" pitchFamily="34" charset="-122"/>
                <a:ea typeface="微软雅黑" panose="020B0503020204020204" pitchFamily="34" charset="-122"/>
              </a:rPr>
              <a:t>x</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y</a:t>
            </a:r>
            <a:r>
              <a:rPr lang="zh-CN" altLang="en-US" sz="1800" dirty="0">
                <a:solidFill>
                  <a:schemeClr val="tx1"/>
                </a:solidFill>
                <a:latin typeface="微软雅黑" panose="020B0503020204020204" pitchFamily="34" charset="-122"/>
                <a:ea typeface="微软雅黑" panose="020B0503020204020204" pitchFamily="34" charset="-122"/>
              </a:rPr>
              <a:t>相同，</a:t>
            </a:r>
            <a:r>
              <a:rPr lang="en-US" altLang="zh-CN" sz="1800" dirty="0">
                <a:solidFill>
                  <a:schemeClr val="tx1"/>
                </a:solidFill>
                <a:latin typeface="微软雅黑" panose="020B0503020204020204" pitchFamily="34" charset="-122"/>
                <a:ea typeface="微软雅黑" panose="020B0503020204020204" pitchFamily="34" charset="-122"/>
              </a:rPr>
              <a:t>z</a:t>
            </a:r>
            <a:r>
              <a:rPr lang="zh-CN" altLang="en-US" sz="1800" dirty="0">
                <a:solidFill>
                  <a:schemeClr val="tx1"/>
                </a:solidFill>
                <a:latin typeface="微软雅黑" panose="020B0503020204020204" pitchFamily="34" charset="-122"/>
                <a:ea typeface="微软雅黑" panose="020B0503020204020204" pitchFamily="34" charset="-122"/>
              </a:rPr>
              <a:t>不同的</a:t>
            </a:r>
            <a:r>
              <a:rPr lang="zh-CN" altLang="en-US" sz="1800" dirty="0" smtClean="0">
                <a:solidFill>
                  <a:schemeClr val="tx1"/>
                </a:solidFill>
                <a:latin typeface="微软雅黑" panose="020B0503020204020204" pitchFamily="34" charset="-122"/>
                <a:ea typeface="微软雅黑" panose="020B0503020204020204" pitchFamily="34" charset="-122"/>
              </a:rPr>
              <a:t>网格</a:t>
            </a:r>
            <a:endParaRPr lang="zh-CN" altLang="en-US" sz="1800" dirty="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a:solidFill>
                  <a:srgbClr val="0070C0"/>
                </a:solidFill>
                <a:latin typeface="微软雅黑" panose="020B0503020204020204" pitchFamily="34" charset="-122"/>
                <a:ea typeface="微软雅黑" panose="020B0503020204020204" pitchFamily="34" charset="-122"/>
              </a:rPr>
              <a:t>网格特征提取</a:t>
            </a:r>
          </a:p>
          <a:p>
            <a:pPr marL="728663" lvl="1" indent="-214313">
              <a:lnSpc>
                <a:spcPct val="100000"/>
              </a:lnSpc>
              <a:buClr>
                <a:srgbClr val="00B050"/>
              </a:buClr>
              <a:buFont typeface="Wingdings" panose="05000000000000000000" pitchFamily="2" charset="2"/>
              <a:buChar char="ü"/>
            </a:pPr>
            <a:r>
              <a:rPr lang="zh-CN" altLang="en-US" sz="1800" dirty="0" smtClean="0">
                <a:solidFill>
                  <a:schemeClr val="tx1"/>
                </a:solidFill>
                <a:latin typeface="微软雅黑" panose="020B0503020204020204" pitchFamily="34" charset="-122"/>
                <a:ea typeface="微软雅黑" panose="020B0503020204020204" pitchFamily="34" charset="-122"/>
              </a:rPr>
              <a:t>曲</a:t>
            </a:r>
            <a:r>
              <a:rPr lang="zh-CN" altLang="en-US" sz="1800" dirty="0" smtClean="0">
                <a:solidFill>
                  <a:schemeClr val="tx1"/>
                </a:solidFill>
                <a:latin typeface="微软雅黑" panose="020B0503020204020204" pitchFamily="34" charset="-122"/>
                <a:ea typeface="微软雅黑" panose="020B0503020204020204" pitchFamily="34" charset="-122"/>
              </a:rPr>
              <a:t>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深度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密度</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支持</a:t>
            </a:r>
            <a:r>
              <a:rPr lang="zh-CN" altLang="en-US" sz="2000" b="1" dirty="0">
                <a:solidFill>
                  <a:srgbClr val="0070C0"/>
                </a:solidFill>
                <a:latin typeface="微软雅黑" panose="020B0503020204020204" pitchFamily="34" charset="-122"/>
                <a:ea typeface="微软雅黑" panose="020B0503020204020204" pitchFamily="34" charset="-122"/>
              </a:rPr>
              <a:t>向量机分类</a:t>
            </a: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交互选取</a:t>
            </a:r>
            <a:r>
              <a:rPr lang="zh-CN" altLang="en-US" sz="1800" dirty="0" smtClean="0">
                <a:solidFill>
                  <a:schemeClr val="tx1"/>
                </a:solidFill>
                <a:latin typeface="微软雅黑" panose="020B0503020204020204" pitchFamily="34" charset="-122"/>
                <a:ea typeface="微软雅黑" panose="020B0503020204020204" pitchFamily="34" charset="-122"/>
              </a:rPr>
              <a:t>样本</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训练、</a:t>
            </a:r>
            <a:r>
              <a:rPr lang="zh-CN" altLang="en-US" sz="1800" dirty="0" smtClean="0">
                <a:solidFill>
                  <a:schemeClr val="tx1"/>
                </a:solidFill>
                <a:latin typeface="微软雅黑" panose="020B0503020204020204" pitchFamily="34" charset="-122"/>
                <a:ea typeface="微软雅黑" panose="020B0503020204020204" pitchFamily="34" charset="-122"/>
              </a:rPr>
              <a:t>预测</a:t>
            </a:r>
            <a:endParaRPr lang="en-US" altLang="zh-CN" sz="1800" dirty="0">
              <a:solidFill>
                <a:schemeClr val="tx1"/>
              </a:solidFill>
              <a:latin typeface="微软雅黑" panose="020B0503020204020204" pitchFamily="34" charset="-122"/>
              <a:ea typeface="微软雅黑" panose="020B0503020204020204" pitchFamily="34" charset="-122"/>
            </a:endParaRPr>
          </a:p>
        </p:txBody>
      </p:sp>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4005094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ppt_x"/>
                                          </p:val>
                                        </p:tav>
                                        <p:tav tm="100000">
                                          <p:val>
                                            <p:strVal val="#ppt_x"/>
                                          </p:val>
                                        </p:tav>
                                      </p:tavLst>
                                    </p:anim>
                                    <p:anim calcmode="lin" valueType="num">
                                      <p:cBhvr additive="base">
                                        <p:cTn id="5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a:t>
            </a:r>
            <a:r>
              <a:rPr lang="zh-CN" altLang="en-US" dirty="0" smtClean="0"/>
              <a:t>结果：实验</a:t>
            </a:r>
            <a:r>
              <a:rPr lang="en-US" altLang="zh-CN" dirty="0" smtClean="0"/>
              <a:t>1</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a:t>
            </a:r>
            <a:r>
              <a:rPr lang="zh-CN" altLang="en-US" dirty="0"/>
              <a:t>结果：</a:t>
            </a:r>
            <a:r>
              <a:rPr lang="zh-CN" altLang="en-US" dirty="0" smtClean="0"/>
              <a:t>实验</a:t>
            </a:r>
            <a:r>
              <a:rPr lang="en-US" altLang="zh-CN" dirty="0" smtClean="0"/>
              <a:t>2</a:t>
            </a:r>
            <a:endParaRPr lang="zh-CN" altLang="en-US" dirty="0"/>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3</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4</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33127"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5</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6</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7</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算法效率</a:t>
            </a:r>
            <a:endParaRPr lang="zh-CN" altLang="en-US" dirty="0"/>
          </a:p>
        </p:txBody>
      </p:sp>
      <p:sp>
        <p:nvSpPr>
          <p:cNvPr id="3" name="内容占位符 2"/>
          <p:cNvSpPr>
            <a:spLocks noGrp="1"/>
          </p:cNvSpPr>
          <p:nvPr>
            <p:ph idx="1"/>
          </p:nvPr>
        </p:nvSpPr>
        <p:spPr>
          <a:xfrm>
            <a:off x="276963" y="1825625"/>
            <a:ext cx="3125815" cy="4351338"/>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实验环境</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C++</a:t>
            </a:r>
            <a:r>
              <a:rPr lang="zh-CN" altLang="en-US" sz="2000" dirty="0" smtClean="0">
                <a:solidFill>
                  <a:schemeClr val="tx1"/>
                </a:solidFill>
                <a:latin typeface="微软雅黑" panose="020B0503020204020204" pitchFamily="34" charset="-122"/>
                <a:ea typeface="微软雅黑" panose="020B0503020204020204" pitchFamily="34" charset="-122"/>
              </a:rPr>
              <a:t>语言</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RAM</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6G</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CPU</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Intel</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Xeon</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smtClean="0">
                <a:solidFill>
                  <a:schemeClr val="tx1"/>
                </a:solidFill>
                <a:latin typeface="微软雅黑" panose="020B0503020204020204" pitchFamily="34" charset="-122"/>
                <a:ea typeface="微软雅黑" panose="020B0503020204020204" pitchFamily="34" charset="-122"/>
              </a:rPr>
              <a:t>）；工作站</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网格属性计</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24</a:t>
            </a:r>
            <a:r>
              <a:rPr lang="zh-CN" altLang="zh-CN" sz="2250" dirty="0">
                <a:solidFill>
                  <a:schemeClr val="tx1"/>
                </a:solidFill>
                <a:latin typeface="微软雅黑" panose="020B0503020204020204" pitchFamily="34" charset="-122"/>
                <a:ea typeface="微软雅黑" panose="020B0503020204020204" pitchFamily="34" charset="-122"/>
              </a:rPr>
              <a:t>～</a:t>
            </a:r>
            <a:r>
              <a:rPr lang="en-US" altLang="zh-CN" sz="2250" dirty="0" smtClean="0">
                <a:solidFill>
                  <a:schemeClr val="tx1"/>
                </a:solidFill>
                <a:latin typeface="微软雅黑" panose="020B0503020204020204" pitchFamily="34" charset="-122"/>
                <a:ea typeface="微软雅黑" panose="020B0503020204020204" pitchFamily="34" charset="-122"/>
              </a:rPr>
              <a:t>161s</a:t>
            </a: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增强学习求</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100</a:t>
            </a:r>
            <a:r>
              <a:rPr lang="zh-CN" altLang="en-US" sz="2250" dirty="0">
                <a:solidFill>
                  <a:schemeClr val="tx1"/>
                </a:solidFill>
                <a:latin typeface="微软雅黑" panose="020B0503020204020204" pitchFamily="34" charset="-122"/>
                <a:ea typeface="微软雅黑" panose="020B0503020204020204" pitchFamily="34" charset="-122"/>
              </a:rPr>
              <a:t>～</a:t>
            </a:r>
            <a:r>
              <a:rPr lang="en-US" altLang="zh-CN" sz="2250" dirty="0">
                <a:solidFill>
                  <a:schemeClr val="tx1"/>
                </a:solidFill>
                <a:latin typeface="微软雅黑" panose="020B0503020204020204" pitchFamily="34" charset="-122"/>
                <a:ea typeface="微软雅黑" panose="020B0503020204020204" pitchFamily="34" charset="-122"/>
              </a:rPr>
              <a:t>1000s</a:t>
            </a:r>
            <a:endParaRPr lang="zh-CN" altLang="en-US" sz="2250" dirty="0">
              <a:solidFill>
                <a:schemeClr val="tx1"/>
              </a:solidFill>
              <a:latin typeface="微软雅黑" panose="020B0503020204020204" pitchFamily="34" charset="-122"/>
              <a:ea typeface="微软雅黑" panose="020B0503020204020204" pitchFamily="34" charset="-122"/>
            </a:endParaRPr>
          </a:p>
        </p:txBody>
      </p:sp>
      <p:graphicFrame>
        <p:nvGraphicFramePr>
          <p:cNvPr id="4" name="表格 3"/>
          <p:cNvGraphicFramePr>
            <a:graphicFrameLocks noGrp="1"/>
          </p:cNvGraphicFramePr>
          <p:nvPr>
            <p:extLst>
              <p:ext uri="{D42A27DB-BD31-4B8C-83A1-F6EECF244321}">
                <p14:modId xmlns:p14="http://schemas.microsoft.com/office/powerpoint/2010/main" val="1116432516"/>
              </p:ext>
            </p:extLst>
          </p:nvPr>
        </p:nvGraphicFramePr>
        <p:xfrm>
          <a:off x="3480179" y="1825624"/>
          <a:ext cx="5622877" cy="4582688"/>
        </p:xfrm>
        <a:graphic>
          <a:graphicData uri="http://schemas.openxmlformats.org/drawingml/2006/table">
            <a:tbl>
              <a:tblPr>
                <a:tableStyleId>{5C22544A-7EE6-4342-B048-85BDC9FD1C3A}</a:tableStyleId>
              </a:tblPr>
              <a:tblGrid>
                <a:gridCol w="500978"/>
                <a:gridCol w="1097280"/>
                <a:gridCol w="1153551"/>
                <a:gridCol w="927358"/>
                <a:gridCol w="1106446"/>
                <a:gridCol w="837264"/>
              </a:tblGrid>
              <a:tr h="494000">
                <a:tc rowSpan="2">
                  <a:txBody>
                    <a:bodyPr/>
                    <a:lstStyle/>
                    <a:p>
                      <a:pPr indent="304800" algn="ctr">
                        <a:lnSpc>
                          <a:spcPct val="125000"/>
                        </a:lnSpc>
                        <a:spcAft>
                          <a:spcPts val="0"/>
                        </a:spcAft>
                      </a:pPr>
                      <a:r>
                        <a:rPr lang="zh-CN" altLang="en-US" sz="1400" b="1" kern="100" dirty="0" smtClean="0">
                          <a:solidFill>
                            <a:srgbClr val="00B050"/>
                          </a:solidFill>
                          <a:effectLst/>
                        </a:rPr>
                        <a:t> 实验</a:t>
                      </a:r>
                      <a:r>
                        <a:rPr lang="en-US" sz="1400" b="1" kern="100" dirty="0">
                          <a:solidFill>
                            <a:srgbClr val="00B050"/>
                          </a:solidFill>
                          <a:effectLst/>
                        </a:rPr>
                        <a:t> </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gridSpan="3">
                  <a:txBody>
                    <a:bodyPr/>
                    <a:lstStyle/>
                    <a:p>
                      <a:pPr indent="304800" algn="ctr">
                        <a:lnSpc>
                          <a:spcPct val="125000"/>
                        </a:lnSpc>
                        <a:spcAft>
                          <a:spcPts val="0"/>
                        </a:spcAft>
                      </a:pPr>
                      <a:r>
                        <a:rPr lang="zh-CN" sz="1400" b="1" kern="100">
                          <a:solidFill>
                            <a:srgbClr val="00B050"/>
                          </a:solidFill>
                          <a:effectLst/>
                        </a:rPr>
                        <a:t>支持向量机分类（训练、预测）</a:t>
                      </a:r>
                      <a:endParaRPr lang="zh-CN" sz="1400" b="1" kern="10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hMerge="1">
                  <a:txBody>
                    <a:bodyPr/>
                    <a:lstStyle/>
                    <a:p>
                      <a:endParaRPr lang="zh-CN" altLang="en-US"/>
                    </a:p>
                  </a:txBody>
                  <a:tcPr/>
                </a:tc>
                <a:tc hMerge="1">
                  <a:txBody>
                    <a:bodyPr/>
                    <a:lstStyle/>
                    <a:p>
                      <a:endParaRPr lang="zh-CN" altLang="en-US"/>
                    </a:p>
                  </a:txBody>
                  <a:tcPr/>
                </a:tc>
                <a:tc rowSpan="2">
                  <a:txBody>
                    <a:bodyPr/>
                    <a:lstStyle/>
                    <a:p>
                      <a:pPr algn="ctr">
                        <a:lnSpc>
                          <a:spcPct val="125000"/>
                        </a:lnSpc>
                        <a:spcAft>
                          <a:spcPts val="0"/>
                        </a:spcAft>
                      </a:pPr>
                      <a:r>
                        <a:rPr lang="zh-CN" sz="1400" b="1" kern="100" dirty="0">
                          <a:solidFill>
                            <a:srgbClr val="00B050"/>
                          </a:solidFill>
                          <a:effectLst/>
                        </a:rPr>
                        <a:t>增强学习</a:t>
                      </a:r>
                      <a:r>
                        <a:rPr lang="zh-CN" sz="1400" b="1" kern="100" dirty="0" smtClean="0">
                          <a:solidFill>
                            <a:srgbClr val="00B050"/>
                          </a:solidFill>
                          <a:effectLst/>
                        </a:rPr>
                        <a:t>求解</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rowSpan="2">
                  <a:txBody>
                    <a:bodyPr/>
                    <a:lstStyle/>
                    <a:p>
                      <a:pPr algn="ctr">
                        <a:lnSpc>
                          <a:spcPct val="125000"/>
                        </a:lnSpc>
                        <a:spcAft>
                          <a:spcPts val="0"/>
                        </a:spcAft>
                      </a:pPr>
                      <a:r>
                        <a:rPr lang="zh-CN" sz="1400" b="1" kern="100" dirty="0">
                          <a:solidFill>
                            <a:srgbClr val="00B050"/>
                          </a:solidFill>
                          <a:effectLst/>
                        </a:rPr>
                        <a:t>精度</a:t>
                      </a:r>
                      <a:r>
                        <a:rPr lang="en-US" sz="1400" b="1" kern="100" dirty="0">
                          <a:solidFill>
                            <a:srgbClr val="00B050"/>
                          </a:solidFill>
                          <a:effectLst/>
                        </a:rPr>
                        <a:t>(R/N</a:t>
                      </a:r>
                      <a:r>
                        <a:rPr lang="en-US" sz="1400" b="1" kern="100" dirty="0" smtClean="0">
                          <a:solidFill>
                            <a:srgbClr val="00B050"/>
                          </a:solidFill>
                          <a:effectLst/>
                        </a:rPr>
                        <a:t>)</a:t>
                      </a:r>
                      <a:r>
                        <a:rPr lang="zh-CN" altLang="en-US" sz="1400" b="1" kern="100" dirty="0" smtClean="0">
                          <a:solidFill>
                            <a:srgbClr val="00B050"/>
                          </a:solidFill>
                          <a:effectLst/>
                        </a:rPr>
                        <a:t>（</a:t>
                      </a:r>
                      <a:r>
                        <a:rPr lang="en-US" altLang="zh-CN" sz="1400" b="1" kern="100" dirty="0" smtClean="0">
                          <a:solidFill>
                            <a:srgbClr val="00B050"/>
                          </a:solidFill>
                          <a:effectLst/>
                        </a:rPr>
                        <a:t>%</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r>
              <a:tr h="1038018">
                <a:tc vMerge="1">
                  <a:txBody>
                    <a:bodyPr/>
                    <a:lstStyle/>
                    <a:p>
                      <a:endParaRPr lang="zh-CN" altLang="en-US"/>
                    </a:p>
                  </a:txBody>
                  <a:tcPr/>
                </a:tc>
                <a:tc>
                  <a:txBody>
                    <a:bodyPr/>
                    <a:lstStyle/>
                    <a:p>
                      <a:pPr algn="ctr">
                        <a:lnSpc>
                          <a:spcPct val="125000"/>
                        </a:lnSpc>
                        <a:spcAft>
                          <a:spcPts val="0"/>
                        </a:spcAft>
                      </a:pPr>
                      <a:r>
                        <a:rPr lang="zh-CN" sz="1400" b="1" kern="100" dirty="0">
                          <a:solidFill>
                            <a:srgbClr val="00B050"/>
                          </a:solidFill>
                          <a:effectLst/>
                        </a:rPr>
                        <a:t>网格属性</a:t>
                      </a:r>
                      <a:r>
                        <a:rPr lang="zh-CN" sz="1400" b="1" kern="100" dirty="0" smtClean="0">
                          <a:solidFill>
                            <a:srgbClr val="00B050"/>
                          </a:solidFill>
                          <a:effectLst/>
                        </a:rPr>
                        <a:t>计算</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样本</a:t>
                      </a:r>
                      <a:r>
                        <a:rPr lang="zh-CN" sz="1400" b="1" kern="100" dirty="0" smtClean="0">
                          <a:solidFill>
                            <a:srgbClr val="00B050"/>
                          </a:solidFill>
                          <a:effectLst/>
                        </a:rPr>
                        <a:t>训练</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类别</a:t>
                      </a:r>
                      <a:r>
                        <a:rPr lang="zh-CN" sz="1400" b="1" kern="100" dirty="0" smtClean="0">
                          <a:solidFill>
                            <a:srgbClr val="00B050"/>
                          </a:solidFill>
                          <a:effectLst/>
                        </a:rPr>
                        <a:t>预测</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latin typeface="Times New Roman" panose="02020603050405020304" pitchFamily="18" charset="0"/>
                          <a:ea typeface="宋体" panose="02010600030101010101" pitchFamily="2" charset="-122"/>
                        </a:rPr>
                        <a:t>）</a:t>
                      </a:r>
                      <a:endParaRPr lang="en-US" altLang="zh-CN" sz="1400" b="1" kern="100" dirty="0" smtClean="0">
                        <a:solidFill>
                          <a:srgbClr val="00B050"/>
                        </a:solidFill>
                        <a:effectLst/>
                      </a:endParaRPr>
                    </a:p>
                  </a:txBody>
                  <a:tcPr marL="68580" marR="68580" marT="0" marB="0" anchor="ctr"/>
                </a:tc>
                <a:tc vMerge="1">
                  <a:txBody>
                    <a:bodyPr/>
                    <a:lstStyle/>
                    <a:p>
                      <a:endParaRPr lang="zh-CN" altLang="en-US"/>
                    </a:p>
                  </a:txBody>
                  <a:tcPr/>
                </a:tc>
                <a:tc vMerge="1">
                  <a:txBody>
                    <a:bodyPr/>
                    <a:lstStyle/>
                    <a:p>
                      <a:endParaRPr lang="zh-CN" altLang="en-US"/>
                    </a:p>
                  </a:txBody>
                  <a:tcP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1</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10.609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106.662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86.252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2</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24.541</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9.573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1.478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271.378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3</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253.265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59.707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3.414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950.347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86.748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4</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161.787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47.902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623.422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84.818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5</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150.444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185.403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1.537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427.876</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87.648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6</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49.338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249.713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2.315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831.435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89.795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bl>
          </a:graphicData>
        </a:graphic>
      </p:graphicFrame>
    </p:spTree>
    <p:extLst>
      <p:ext uri="{BB962C8B-B14F-4D97-AF65-F5344CB8AC3E}">
        <p14:creationId xmlns:p14="http://schemas.microsoft.com/office/powerpoint/2010/main" val="836006592"/>
      </p:ext>
    </p:extLst>
  </p:cSld>
  <p:clrMapOvr>
    <a:masterClrMapping/>
  </p:clrMapOvr>
  <mc:AlternateContent xmlns:mc="http://schemas.openxmlformats.org/markup-compatibility/2006">
    <mc:Choice xmlns:p14="http://schemas.microsoft.com/office/powerpoint/2010/main" Requires="p14">
      <p:transition spd="slow" p14:dur="1200">
        <p14:prism/>
      </p:transition>
    </mc:Choice>
    <mc:Fallback>
      <p:transition spd="slow">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结论和不足</a:t>
            </a:r>
            <a:endParaRPr lang="zh-CN" altLang="en-US" dirty="0"/>
          </a:p>
        </p:txBody>
      </p:sp>
      <p:sp>
        <p:nvSpPr>
          <p:cNvPr id="3" name="内容占位符 2"/>
          <p:cNvSpPr>
            <a:spLocks noGrp="1"/>
          </p:cNvSpPr>
          <p:nvPr>
            <p:ph idx="1"/>
          </p:nvPr>
        </p:nvSpPr>
        <p:spPr>
          <a:xfrm>
            <a:off x="628652" y="1825625"/>
            <a:ext cx="6854990" cy="4351338"/>
          </a:xfrm>
        </p:spPr>
        <p:txBody>
          <a:bodyPr>
            <a:noAutofit/>
          </a:bodyPr>
          <a:lstStyle/>
          <a:p>
            <a:pPr marL="171450" indent="-171450">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使用形状语义的方法可以灵活地对多种风格的建筑进行建模，并且可以有效地应对对称的建筑立面点云缺失的情况。</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应用</a:t>
            </a:r>
            <a:r>
              <a:rPr lang="zh-CN" altLang="en-US" sz="2400" dirty="0">
                <a:solidFill>
                  <a:srgbClr val="FFC000"/>
                </a:solidFill>
                <a:latin typeface="微软雅黑" panose="020B0503020204020204" pitchFamily="34" charset="-122"/>
                <a:ea typeface="微软雅黑" panose="020B0503020204020204" pitchFamily="34" charset="-122"/>
              </a:rPr>
              <a:t>三维的形状</a:t>
            </a:r>
            <a:r>
              <a:rPr lang="zh-CN" altLang="en-US" sz="2400" dirty="0" smtClean="0">
                <a:solidFill>
                  <a:srgbClr val="FFC000"/>
                </a:solidFill>
                <a:latin typeface="微软雅黑" panose="020B0503020204020204" pitchFamily="34" charset="-122"/>
                <a:ea typeface="微软雅黑" panose="020B0503020204020204" pitchFamily="34" charset="-122"/>
              </a:rPr>
              <a:t>语义</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应用函数</a:t>
            </a:r>
            <a:r>
              <a:rPr lang="zh-CN" altLang="en-US" sz="2400" dirty="0" smtClean="0">
                <a:solidFill>
                  <a:srgbClr val="FFC000"/>
                </a:solidFill>
                <a:latin typeface="微软雅黑" panose="020B0503020204020204" pitchFamily="34" charset="-122"/>
                <a:ea typeface="微软雅黑" panose="020B0503020204020204" pitchFamily="34" charset="-122"/>
              </a:rPr>
              <a:t>近似的</a:t>
            </a:r>
            <a:r>
              <a:rPr lang="zh-CN" altLang="en-US" sz="2400" dirty="0" smtClean="0">
                <a:solidFill>
                  <a:srgbClr val="FFC000"/>
                </a:solidFill>
                <a:latin typeface="微软雅黑" panose="020B0503020204020204" pitchFamily="34" charset="-122"/>
                <a:ea typeface="微软雅黑" panose="020B0503020204020204" pitchFamily="34" charset="-122"/>
              </a:rPr>
              <a:t>方式表示</a:t>
            </a:r>
            <a:r>
              <a:rPr lang="en-US" altLang="zh-CN" sz="2400" dirty="0" smtClean="0">
                <a:solidFill>
                  <a:srgbClr val="FFC000"/>
                </a:solidFill>
                <a:latin typeface="微软雅黑" panose="020B0503020204020204" pitchFamily="34" charset="-122"/>
                <a:ea typeface="微软雅黑" panose="020B0503020204020204" pitchFamily="34" charset="-122"/>
              </a:rPr>
              <a:t>V</a:t>
            </a:r>
            <a:r>
              <a:rPr lang="zh-CN" altLang="en-US" sz="2400" dirty="0" smtClean="0">
                <a:solidFill>
                  <a:srgbClr val="FFC000"/>
                </a:solidFill>
                <a:latin typeface="微软雅黑" panose="020B0503020204020204" pitchFamily="34" charset="-122"/>
                <a:ea typeface="微软雅黑" panose="020B0503020204020204" pitchFamily="34" charset="-122"/>
              </a:rPr>
              <a:t>函数</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自动化预分类</a:t>
            </a:r>
            <a:endParaRPr lang="zh-CN" altLang="en-US" sz="2400" dirty="0">
              <a:solidFill>
                <a:srgbClr val="FFC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2368</Words>
  <Application>Microsoft Office PowerPoint</Application>
  <PresentationFormat>全屏显示(4:3)</PresentationFormat>
  <Paragraphs>219</Paragraphs>
  <Slides>20</Slides>
  <Notes>20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20</vt:i4>
      </vt:variant>
    </vt:vector>
  </HeadingPairs>
  <TitlesOfParts>
    <vt:vector size="32" baseType="lpstr">
      <vt:lpstr>Microsoft YaHei UI</vt:lpstr>
      <vt:lpstr>宋体</vt:lpstr>
      <vt:lpstr>微软雅黑</vt:lpstr>
      <vt:lpstr>Arial</vt:lpstr>
      <vt:lpstr>Calibri</vt:lpstr>
      <vt:lpstr>Cambria Math</vt:lpstr>
      <vt:lpstr>Segoe UI</vt:lpstr>
      <vt:lpstr>Segoe UI Light</vt:lpstr>
      <vt:lpstr>Times New Roman</vt:lpstr>
      <vt:lpstr>Wingdings</vt:lpstr>
      <vt:lpstr>WelcomeDoc</vt:lpstr>
      <vt:lpstr>Equation.DSMT4</vt:lpstr>
      <vt:lpstr>基于形状语义和增强学习的建筑立面点云解译与重建的方法</vt:lpstr>
      <vt:lpstr>研究背景及意义</vt:lpstr>
      <vt:lpstr>建筑立面建模研究现状</vt:lpstr>
      <vt:lpstr>算法概述</vt:lpstr>
      <vt:lpstr>形状语义</vt:lpstr>
      <vt:lpstr>二分形状语义</vt:lpstr>
      <vt:lpstr>示例：用二分形状语义表示一个简单的建筑立面</vt:lpstr>
      <vt:lpstr>马尔科夫决策过程</vt:lpstr>
      <vt:lpstr>最佳形状语义求解</vt:lpstr>
      <vt:lpstr>用预分类的结果近似表示建筑结构的概率分布</vt:lpstr>
      <vt:lpstr>实验结果：实验1</vt:lpstr>
      <vt:lpstr>实验结果：实验2</vt:lpstr>
      <vt:lpstr>实验结果：实验3</vt:lpstr>
      <vt:lpstr>实验结果：实验4</vt:lpstr>
      <vt:lpstr>实验结果：实验5</vt:lpstr>
      <vt:lpstr>实验结果：实验6</vt:lpstr>
      <vt:lpstr>实验结果：实验7</vt:lpstr>
      <vt:lpstr>算法效率</vt:lpstr>
      <vt:lpstr>结论和不足</vt:lpstr>
      <vt:lpstr>谢谢！请老师提问</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2014-05-12T03:52:00Z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