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2"/>
  </p:sldMasterIdLst>
  <p:notesMasterIdLst>
    <p:notesMasterId r:id="rId16"/>
  </p:notesMasterIdLst>
  <p:sldIdLst>
    <p:sldId id="256" r:id="rId3"/>
    <p:sldId id="262" r:id="rId4"/>
    <p:sldId id="269" r:id="rId5"/>
    <p:sldId id="257" r:id="rId6"/>
    <p:sldId id="270" r:id="rId7"/>
    <p:sldId id="271" r:id="rId8"/>
    <p:sldId id="272" r:id="rId9"/>
    <p:sldId id="264" r:id="rId10"/>
    <p:sldId id="265" r:id="rId11"/>
    <p:sldId id="266" r:id="rId12"/>
    <p:sldId id="267" r:id="rId13"/>
    <p:sldId id="268" r:id="rId14"/>
    <p:sldId id="26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欢迎" id="{E75E278A-FF0E-49A4-B170-79828D63BBAD}">
          <p14:sldIdLst>
            <p14:sldId id="256"/>
          </p14:sldIdLst>
        </p14:section>
        <p14:section name="设计、令人印象深刻、协作" id="{B9B51309-D148-4332-87C2-07BE32FBCA3B}">
          <p14:sldIdLst>
            <p14:sldId id="262"/>
            <p14:sldId id="269"/>
            <p14:sldId id="257"/>
            <p14:sldId id="270"/>
            <p14:sldId id="271"/>
            <p14:sldId id="272"/>
            <p14:sldId id="264"/>
            <p14:sldId id="265"/>
            <p14:sldId id="266"/>
            <p14:sldId id="267"/>
            <p14:sldId id="268"/>
          </p14:sldIdLst>
        </p14:section>
        <p14:section name="了解更多" id="{2CC34DB2-6590-42C0-AD4B-A04C6060184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B4A6"/>
    <a:srgbClr val="734F29"/>
    <a:srgbClr val="D24726"/>
    <a:srgbClr val="DD462F"/>
    <a:srgbClr val="AEB785"/>
    <a:srgbClr val="EFD5A2"/>
    <a:srgbClr val="3B3026"/>
    <a:srgbClr val="ECE1CA"/>
    <a:srgbClr val="79553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60" autoAdjust="0"/>
    <p:restoredTop sz="94280" autoAdjust="0"/>
  </p:normalViewPr>
  <p:slideViewPr>
    <p:cSldViewPr snapToGrid="0">
      <p:cViewPr varScale="1">
        <p:scale>
          <a:sx n="94" d="100"/>
          <a:sy n="94" d="100"/>
        </p:scale>
        <p:origin x="-366" y="-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commentAuthors" Target="commentAuthors.xml"/><Relationship Id="rId2" Type="http://schemas.openxmlformats.org/officeDocument/2006/relationships/slideMaster" Target="slideMasters/slideMaster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latinLnBrk="0">
              <a:defRPr lang="zh-CN" sz="1200"/>
            </a:lvl1pPr>
          </a:lstStyle>
          <a:p>
            <a:endParaRPr lang="zh-CN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latinLnBrk="0">
              <a:defRPr lang="zh-CN" sz="1200"/>
            </a:lvl1pPr>
          </a:lstStyle>
          <a:p>
            <a:fld id="{EC13577B-6902-467D-A26C-08A0DD5E4E03}" type="datetimeFigureOut">
              <a:t>2014/5/9</a:t>
            </a:fld>
            <a:endParaRPr lang="zh-CN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latinLnBrk="0">
              <a:defRPr lang="zh-CN" sz="1200"/>
            </a:lvl1pPr>
          </a:lstStyle>
          <a:p>
            <a:endParaRPr lang="zh-CN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latinLnBrk="0">
              <a:defRPr lang="zh-CN" sz="1200"/>
            </a:lvl1pPr>
          </a:lstStyle>
          <a:p>
            <a:fld id="{DF61EA0F-A667-4B49-8422-0062BC55E249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zh-CN" smtClean="0"/>
              <a:t>1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 smtClean="0"/>
              <a:t>在 </a:t>
            </a:r>
            <a:r>
              <a:rPr lang="zh-CN" baseline="0" dirty="0" smtClean="0"/>
              <a:t>“幻灯片放映”模式，单击箭头进入 PowerPoint 入门中心。</a:t>
            </a:r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altLang="zh-CN" smtClean="0"/>
              <a:t>13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851196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12192000" cy="4866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38202" y="2061006"/>
            <a:ext cx="10515600" cy="2387600"/>
          </a:xfrm>
        </p:spPr>
        <p:txBody>
          <a:bodyPr anchor="b">
            <a:normAutofit/>
          </a:bodyPr>
          <a:lstStyle>
            <a:lvl1pPr algn="l" latinLnBrk="0">
              <a:defRPr lang="zh-CN" sz="5400">
                <a:solidFill>
                  <a:schemeClr val="bg1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38204" y="5110610"/>
            <a:ext cx="6705598" cy="1137793"/>
          </a:xfrm>
        </p:spPr>
        <p:txBody>
          <a:bodyPr>
            <a:normAutofit/>
          </a:bodyPr>
          <a:lstStyle>
            <a:lvl1pPr marL="0" indent="0" algn="l" latinLnBrk="0">
              <a:lnSpc>
                <a:spcPct val="150000"/>
              </a:lnSpc>
              <a:spcBef>
                <a:spcPts val="600"/>
              </a:spcBef>
              <a:buNone/>
              <a:defRPr lang="zh-CN" sz="2800">
                <a:solidFill>
                  <a:srgbClr val="D24726"/>
                </a:solidFill>
                <a:latin typeface="+mj-lt"/>
              </a:defRPr>
            </a:lvl1pPr>
            <a:lvl2pPr marL="457200" indent="0" algn="ctr" latinLnBrk="0">
              <a:buNone/>
              <a:defRPr lang="zh-CN" sz="2000"/>
            </a:lvl2pPr>
            <a:lvl3pPr marL="914400" indent="0" algn="ctr" latinLnBrk="0">
              <a:buNone/>
              <a:defRPr lang="zh-CN" sz="1800"/>
            </a:lvl3pPr>
            <a:lvl4pPr marL="1371600" indent="0" algn="ctr" latinLnBrk="0">
              <a:buNone/>
              <a:defRPr lang="zh-CN" sz="1600"/>
            </a:lvl4pPr>
            <a:lvl5pPr marL="1828800" indent="0" algn="ctr" latinLnBrk="0">
              <a:buNone/>
              <a:defRPr lang="zh-CN" sz="1600"/>
            </a:lvl5pPr>
            <a:lvl6pPr marL="2286000" indent="0" algn="ctr" latinLnBrk="0">
              <a:buNone/>
              <a:defRPr lang="zh-CN" sz="1600"/>
            </a:lvl6pPr>
            <a:lvl7pPr marL="2743200" indent="0" algn="ctr" latinLnBrk="0">
              <a:buNone/>
              <a:defRPr lang="zh-CN" sz="1600"/>
            </a:lvl7pPr>
            <a:lvl8pPr marL="3200400" indent="0" algn="ctr" latinLnBrk="0">
              <a:buNone/>
              <a:defRPr lang="zh-CN" sz="1600"/>
            </a:lvl8pPr>
            <a:lvl9pPr marL="3657600" indent="0" algn="ctr" latinLnBrk="0">
              <a:buNone/>
              <a:defRPr lang="zh-CN"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8" name="矩形 7"/>
          <p:cNvSpPr/>
          <p:nvPr userDrawn="1"/>
        </p:nvSpPr>
        <p:spPr>
          <a:xfrm>
            <a:off x="0" y="0"/>
            <a:ext cx="12192000" cy="4866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4435" y="0"/>
            <a:ext cx="10749367" cy="1208868"/>
          </a:xfrm>
        </p:spPr>
        <p:txBody>
          <a:bodyPr anchor="b">
            <a:normAutofit/>
          </a:bodyPr>
          <a:lstStyle>
            <a:lvl1pPr latinLnBrk="0">
              <a:defRPr lang="zh-CN" sz="3600">
                <a:solidFill>
                  <a:schemeClr val="bg1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2" y="1825625"/>
            <a:ext cx="4167753" cy="4351338"/>
          </a:xfrm>
        </p:spPr>
        <p:txBody>
          <a:bodyPr>
            <a:normAutofit/>
          </a:bodyPr>
          <a:lstStyle>
            <a:lvl1pPr marL="0" indent="0" latinLnBrk="0">
              <a:lnSpc>
                <a:spcPct val="150000"/>
              </a:lnSpc>
              <a:spcAft>
                <a:spcPts val="1200"/>
              </a:spcAft>
              <a:buNone/>
              <a:defRPr lang="zh-CN" sz="1600">
                <a:solidFill>
                  <a:schemeClr val="bg1">
                    <a:lumMod val="50000"/>
                  </a:schemeClr>
                </a:solidFill>
              </a:defRPr>
            </a:lvl1pPr>
            <a:lvl2pPr latinLnBrk="0">
              <a:lnSpc>
                <a:spcPct val="150000"/>
              </a:lnSpc>
              <a:spcAft>
                <a:spcPts val="1200"/>
              </a:spcAft>
              <a:defRPr lang="zh-CN" sz="1400">
                <a:solidFill>
                  <a:schemeClr val="bg1">
                    <a:lumMod val="50000"/>
                  </a:schemeClr>
                </a:solidFill>
              </a:defRPr>
            </a:lvl2pPr>
            <a:lvl3pPr latinLnBrk="0">
              <a:lnSpc>
                <a:spcPct val="150000"/>
              </a:lnSpc>
              <a:spcAft>
                <a:spcPts val="1200"/>
              </a:spcAft>
              <a:defRPr lang="zh-CN" sz="1200">
                <a:solidFill>
                  <a:schemeClr val="bg1">
                    <a:lumMod val="50000"/>
                  </a:schemeClr>
                </a:solidFill>
              </a:defRPr>
            </a:lvl3pPr>
            <a:lvl4pPr latinLnBrk="0">
              <a:lnSpc>
                <a:spcPct val="150000"/>
              </a:lnSpc>
              <a:spcAft>
                <a:spcPts val="1200"/>
              </a:spcAft>
              <a:defRPr lang="zh-CN" sz="1100">
                <a:solidFill>
                  <a:schemeClr val="bg1">
                    <a:lumMod val="50000"/>
                  </a:schemeClr>
                </a:solidFill>
              </a:defRPr>
            </a:lvl4pPr>
            <a:lvl5pPr latinLnBrk="0">
              <a:lnSpc>
                <a:spcPct val="150000"/>
              </a:lnSpc>
              <a:spcAft>
                <a:spcPts val="1200"/>
              </a:spcAft>
              <a:defRPr lang="zh-CN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8" name="矩形 7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5656884" y="1709738"/>
            <a:ext cx="6535118" cy="357518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1" y="2402239"/>
            <a:ext cx="4508715" cy="2187227"/>
          </a:xfrm>
        </p:spPr>
        <p:txBody>
          <a:bodyPr anchor="ctr">
            <a:noAutofit/>
          </a:bodyPr>
          <a:lstStyle>
            <a:lvl1pPr algn="l" latinLnBrk="0">
              <a:defRPr lang="zh-CN" sz="4800">
                <a:solidFill>
                  <a:srgbClr val="D24726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23309" y="2402237"/>
            <a:ext cx="5269424" cy="2187226"/>
          </a:xfrm>
        </p:spPr>
        <p:txBody>
          <a:bodyPr anchor="ctr">
            <a:normAutofit/>
          </a:bodyPr>
          <a:lstStyle>
            <a:lvl1pPr marL="0" indent="0" latinLnBrk="0">
              <a:lnSpc>
                <a:spcPct val="150000"/>
              </a:lnSpc>
              <a:buNone/>
              <a:defRPr lang="zh-CN" sz="2800">
                <a:solidFill>
                  <a:schemeClr val="bg1"/>
                </a:solidFill>
                <a:latin typeface="+mj-lt"/>
              </a:defRPr>
            </a:lvl1pPr>
            <a:lvl2pPr marL="457200" indent="0" latinLnBrk="0">
              <a:buNone/>
              <a:defRPr lang="zh-CN" sz="2000"/>
            </a:lvl2pPr>
            <a:lvl3pPr marL="914400" indent="0" latinLnBrk="0">
              <a:buNone/>
              <a:defRPr lang="zh-CN" sz="1800"/>
            </a:lvl3pPr>
            <a:lvl4pPr marL="1371600" indent="0" latinLnBrk="0">
              <a:buNone/>
              <a:defRPr lang="zh-CN" sz="1600"/>
            </a:lvl4pPr>
            <a:lvl5pPr marL="1828800" indent="0" latinLnBrk="0">
              <a:buNone/>
              <a:defRPr lang="zh-CN" sz="1600"/>
            </a:lvl5pPr>
            <a:lvl6pPr marL="2286000" indent="0" latinLnBrk="0">
              <a:buNone/>
              <a:defRPr lang="zh-CN" sz="1600"/>
            </a:lvl6pPr>
            <a:lvl7pPr marL="2743200" indent="0" latinLnBrk="0">
              <a:buNone/>
              <a:defRPr lang="zh-CN" sz="1600"/>
            </a:lvl7pPr>
            <a:lvl8pPr marL="3200400" indent="0" latinLnBrk="0">
              <a:buNone/>
              <a:defRPr lang="zh-CN" sz="1600"/>
            </a:lvl8pPr>
            <a:lvl9pPr marL="3657600" indent="0" latinLnBrk="0">
              <a:buNone/>
              <a:defRPr lang="zh-CN"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8" name="矩形 7"/>
          <p:cNvSpPr/>
          <p:nvPr userDrawn="1"/>
        </p:nvSpPr>
        <p:spPr>
          <a:xfrm>
            <a:off x="5656884" y="1709738"/>
            <a:ext cx="6535118" cy="357518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1"/>
            <a:ext cx="10744201" cy="1228436"/>
          </a:xfrm>
        </p:spPr>
        <p:txBody>
          <a:bodyPr anchor="b">
            <a:normAutofit/>
          </a:bodyPr>
          <a:lstStyle>
            <a:lvl1pPr latinLnBrk="0">
              <a:defRPr lang="zh-CN" sz="3600">
                <a:solidFill>
                  <a:schemeClr val="bg1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>
            <a:lvl1pPr latinLnBrk="0">
              <a:defRPr lang="zh-CN" sz="1600">
                <a:solidFill>
                  <a:schemeClr val="bg1">
                    <a:lumMod val="50000"/>
                  </a:schemeClr>
                </a:solidFill>
              </a:defRPr>
            </a:lvl1pPr>
            <a:lvl2pPr latinLnBrk="0">
              <a:defRPr lang="zh-CN" sz="1400">
                <a:solidFill>
                  <a:schemeClr val="bg1">
                    <a:lumMod val="50000"/>
                  </a:schemeClr>
                </a:solidFill>
              </a:defRPr>
            </a:lvl2pPr>
            <a:lvl3pPr latinLnBrk="0">
              <a:defRPr lang="zh-CN" sz="1200">
                <a:solidFill>
                  <a:schemeClr val="bg1">
                    <a:lumMod val="50000"/>
                  </a:schemeClr>
                </a:solidFill>
              </a:defRPr>
            </a:lvl3pPr>
            <a:lvl4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4pPr>
            <a:lvl5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单击此处编辑母版文本样式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第二级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第三级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第四级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>
            <a:lvl1pPr latinLnBrk="0">
              <a:defRPr lang="zh-CN" sz="1600">
                <a:solidFill>
                  <a:schemeClr val="bg1">
                    <a:lumMod val="50000"/>
                  </a:schemeClr>
                </a:solidFill>
              </a:defRPr>
            </a:lvl1pPr>
            <a:lvl2pPr latinLnBrk="0">
              <a:defRPr lang="zh-CN" sz="1400">
                <a:solidFill>
                  <a:schemeClr val="bg1">
                    <a:lumMod val="50000"/>
                  </a:schemeClr>
                </a:solidFill>
              </a:defRPr>
            </a:lvl2pPr>
            <a:lvl3pPr latinLnBrk="0">
              <a:defRPr lang="zh-CN" sz="1200">
                <a:solidFill>
                  <a:schemeClr val="bg1">
                    <a:lumMod val="50000"/>
                  </a:schemeClr>
                </a:solidFill>
              </a:defRPr>
            </a:lvl3pPr>
            <a:lvl4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4pPr>
            <a:lvl5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单击此处编辑母版文本样式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第二级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第三级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第四级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2014/5/9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9" name="矩形 8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3328223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0"/>
            <a:ext cx="10737851" cy="1228436"/>
          </a:xfrm>
        </p:spPr>
        <p:txBody>
          <a:bodyPr anchor="b">
            <a:normAutofit/>
          </a:bodyPr>
          <a:lstStyle>
            <a:lvl1pPr latinLnBrk="0">
              <a:defRPr lang="zh-CN" sz="3600">
                <a:solidFill>
                  <a:schemeClr val="bg1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1489075"/>
            <a:ext cx="5156201" cy="641350"/>
          </a:xfrm>
        </p:spPr>
        <p:txBody>
          <a:bodyPr anchor="b"/>
          <a:lstStyle>
            <a:lvl1pPr marL="0" indent="0" latinLnBrk="0">
              <a:buNone/>
              <a:defRPr lang="zh-CN" sz="2400" b="1"/>
            </a:lvl1pPr>
            <a:lvl2pPr marL="457200" indent="0" latinLnBrk="0">
              <a:buNone/>
              <a:defRPr lang="zh-CN" sz="2000" b="1"/>
            </a:lvl2pPr>
            <a:lvl3pPr marL="914400" indent="0" latinLnBrk="0">
              <a:buNone/>
              <a:defRPr lang="zh-CN" sz="1800" b="1"/>
            </a:lvl3pPr>
            <a:lvl4pPr marL="1371600" indent="0" latinLnBrk="0">
              <a:buNone/>
              <a:defRPr lang="zh-CN" sz="1600" b="1"/>
            </a:lvl4pPr>
            <a:lvl5pPr marL="1828800" indent="0" latinLnBrk="0">
              <a:buNone/>
              <a:defRPr lang="zh-CN" sz="1600" b="1"/>
            </a:lvl5pPr>
            <a:lvl6pPr marL="2286000" indent="0" latinLnBrk="0">
              <a:buNone/>
              <a:defRPr lang="zh-CN" sz="1600" b="1"/>
            </a:lvl6pPr>
            <a:lvl7pPr marL="2743200" indent="0" latinLnBrk="0">
              <a:buNone/>
              <a:defRPr lang="zh-CN" sz="1600" b="1"/>
            </a:lvl7pPr>
            <a:lvl8pPr marL="3200400" indent="0" latinLnBrk="0">
              <a:buNone/>
              <a:defRPr lang="zh-CN" sz="1600" b="1"/>
            </a:lvl8pPr>
            <a:lvl9pPr marL="3657600" indent="0" latinLnBrk="0">
              <a:buNone/>
              <a:defRPr lang="zh-CN"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1851" y="2193928"/>
            <a:ext cx="5156201" cy="3978275"/>
          </a:xfrm>
        </p:spPr>
        <p:txBody>
          <a:bodyPr vert="horz" lIns="91440" tIns="45720" rIns="91440" bIns="45720" rtlCol="0">
            <a:normAutofit/>
          </a:bodyPr>
          <a:lstStyle>
            <a:lvl1pPr latinLnBrk="0">
              <a:defRPr lang="zh-CN" sz="1600">
                <a:solidFill>
                  <a:schemeClr val="bg1">
                    <a:lumMod val="50000"/>
                  </a:schemeClr>
                </a:solidFill>
              </a:defRPr>
            </a:lvl1pPr>
            <a:lvl2pPr latinLnBrk="0">
              <a:defRPr lang="zh-CN" sz="1400">
                <a:solidFill>
                  <a:schemeClr val="bg1">
                    <a:lumMod val="50000"/>
                  </a:schemeClr>
                </a:solidFill>
              </a:defRPr>
            </a:lvl2pPr>
            <a:lvl3pPr latinLnBrk="0">
              <a:defRPr lang="zh-CN" sz="1200">
                <a:solidFill>
                  <a:schemeClr val="bg1">
                    <a:lumMod val="50000"/>
                  </a:schemeClr>
                </a:solidFill>
              </a:defRPr>
            </a:lvl3pPr>
            <a:lvl4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4pPr>
            <a:lvl5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单击此处编辑母版文本样式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第二级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第三级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第四级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89665" y="1489075"/>
            <a:ext cx="5157787" cy="641350"/>
          </a:xfrm>
        </p:spPr>
        <p:txBody>
          <a:bodyPr anchor="b"/>
          <a:lstStyle>
            <a:lvl1pPr marL="0" indent="0" latinLnBrk="0">
              <a:buNone/>
              <a:defRPr lang="zh-CN" sz="2400" b="1"/>
            </a:lvl1pPr>
            <a:lvl2pPr marL="457200" indent="0" latinLnBrk="0">
              <a:buNone/>
              <a:defRPr lang="zh-CN" sz="2000" b="1"/>
            </a:lvl2pPr>
            <a:lvl3pPr marL="914400" indent="0" latinLnBrk="0">
              <a:buNone/>
              <a:defRPr lang="zh-CN" sz="1800" b="1"/>
            </a:lvl3pPr>
            <a:lvl4pPr marL="1371600" indent="0" latinLnBrk="0">
              <a:buNone/>
              <a:defRPr lang="zh-CN" sz="1600" b="1"/>
            </a:lvl4pPr>
            <a:lvl5pPr marL="1828800" indent="0" latinLnBrk="0">
              <a:buNone/>
              <a:defRPr lang="zh-CN" sz="1600" b="1"/>
            </a:lvl5pPr>
            <a:lvl6pPr marL="2286000" indent="0" latinLnBrk="0">
              <a:buNone/>
              <a:defRPr lang="zh-CN" sz="1600" b="1"/>
            </a:lvl6pPr>
            <a:lvl7pPr marL="2743200" indent="0" latinLnBrk="0">
              <a:buNone/>
              <a:defRPr lang="zh-CN" sz="1600" b="1"/>
            </a:lvl7pPr>
            <a:lvl8pPr marL="3200400" indent="0" latinLnBrk="0">
              <a:buNone/>
              <a:defRPr lang="zh-CN" sz="1600" b="1"/>
            </a:lvl8pPr>
            <a:lvl9pPr marL="3657600" indent="0" latinLnBrk="0">
              <a:buNone/>
              <a:defRPr lang="zh-CN"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89665" y="2193928"/>
            <a:ext cx="5157787" cy="3978275"/>
          </a:xfrm>
        </p:spPr>
        <p:txBody>
          <a:bodyPr vert="horz" lIns="91440" tIns="45720" rIns="91440" bIns="45720" rtlCol="0">
            <a:normAutofit/>
          </a:bodyPr>
          <a:lstStyle>
            <a:lvl1pPr latinLnBrk="0">
              <a:defRPr lang="zh-CN" sz="1600">
                <a:solidFill>
                  <a:schemeClr val="bg1">
                    <a:lumMod val="50000"/>
                  </a:schemeClr>
                </a:solidFill>
              </a:defRPr>
            </a:lvl1pPr>
            <a:lvl2pPr latinLnBrk="0">
              <a:defRPr lang="zh-CN" sz="1400">
                <a:solidFill>
                  <a:schemeClr val="bg1">
                    <a:lumMod val="50000"/>
                  </a:schemeClr>
                </a:solidFill>
              </a:defRPr>
            </a:lvl2pPr>
            <a:lvl3pPr latinLnBrk="0">
              <a:defRPr lang="zh-CN" sz="1200">
                <a:solidFill>
                  <a:schemeClr val="bg1">
                    <a:lumMod val="50000"/>
                  </a:schemeClr>
                </a:solidFill>
              </a:defRPr>
            </a:lvl3pPr>
            <a:lvl4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4pPr>
            <a:lvl5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单击此处编辑母版文本样式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第二级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第三级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第四级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2014/5/9</a:t>
            </a:fld>
            <a:endParaRPr lang="zh-CN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11" name="矩形 10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3606029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1"/>
            <a:ext cx="10744201" cy="1228436"/>
          </a:xfrm>
        </p:spPr>
        <p:txBody>
          <a:bodyPr anchor="b">
            <a:normAutofit/>
          </a:bodyPr>
          <a:lstStyle>
            <a:lvl1pPr latinLnBrk="0">
              <a:defRPr lang="zh-CN" sz="3600">
                <a:solidFill>
                  <a:schemeClr val="bg1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2014/5/9</a:t>
            </a:fld>
            <a:endParaRPr 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7" name="矩形 6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100814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2014/5/9</a:t>
            </a:fld>
            <a:endParaRPr 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4037432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题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 latinLnBrk="0">
              <a:defRPr lang="zh-CN"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8"/>
            <a:ext cx="6172201" cy="4873625"/>
          </a:xfrm>
        </p:spPr>
        <p:txBody>
          <a:bodyPr vert="horz" lIns="91440" tIns="45720" rIns="91440" bIns="45720" rtlCol="0">
            <a:normAutofit/>
          </a:bodyPr>
          <a:lstStyle>
            <a:lvl1pPr latinLnBrk="0">
              <a:defRPr lang="zh-CN" sz="1600">
                <a:solidFill>
                  <a:schemeClr val="bg1">
                    <a:lumMod val="50000"/>
                  </a:schemeClr>
                </a:solidFill>
              </a:defRPr>
            </a:lvl1pPr>
            <a:lvl2pPr latinLnBrk="0">
              <a:defRPr lang="zh-CN" sz="1400">
                <a:solidFill>
                  <a:schemeClr val="bg1">
                    <a:lumMod val="50000"/>
                  </a:schemeClr>
                </a:solidFill>
              </a:defRPr>
            </a:lvl2pPr>
            <a:lvl3pPr latinLnBrk="0">
              <a:defRPr lang="zh-CN" sz="1200">
                <a:solidFill>
                  <a:schemeClr val="bg1">
                    <a:lumMod val="50000"/>
                  </a:schemeClr>
                </a:solidFill>
              </a:defRPr>
            </a:lvl3pPr>
            <a:lvl4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4pPr>
            <a:lvl5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单击此处编辑母版文本样式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第二级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第三级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第四级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90" y="2101850"/>
            <a:ext cx="3932236" cy="3759200"/>
          </a:xfrm>
        </p:spPr>
        <p:txBody>
          <a:bodyPr/>
          <a:lstStyle>
            <a:lvl1pPr marL="0" indent="0" latinLnBrk="0">
              <a:buNone/>
              <a:defRPr lang="zh-CN" sz="1600"/>
            </a:lvl1pPr>
            <a:lvl2pPr marL="457200" indent="0" latinLnBrk="0">
              <a:buNone/>
              <a:defRPr lang="zh-CN" sz="1400"/>
            </a:lvl2pPr>
            <a:lvl3pPr marL="914400" indent="0" latinLnBrk="0">
              <a:buNone/>
              <a:defRPr lang="zh-CN" sz="1200"/>
            </a:lvl3pPr>
            <a:lvl4pPr marL="1371600" indent="0" latinLnBrk="0">
              <a:buNone/>
              <a:defRPr lang="zh-CN" sz="1000"/>
            </a:lvl4pPr>
            <a:lvl5pPr marL="1828800" indent="0" latinLnBrk="0">
              <a:buNone/>
              <a:defRPr lang="zh-CN" sz="1000"/>
            </a:lvl5pPr>
            <a:lvl6pPr marL="2286000" indent="0" latinLnBrk="0">
              <a:buNone/>
              <a:defRPr lang="zh-CN" sz="1000"/>
            </a:lvl6pPr>
            <a:lvl7pPr marL="2743200" indent="0" latinLnBrk="0">
              <a:buNone/>
              <a:defRPr lang="zh-CN" sz="1000"/>
            </a:lvl7pPr>
            <a:lvl8pPr marL="3200400" indent="0" latinLnBrk="0">
              <a:buNone/>
              <a:defRPr lang="zh-CN" sz="1000"/>
            </a:lvl8pPr>
            <a:lvl9pPr marL="3657600" indent="0" latinLnBrk="0">
              <a:buNone/>
              <a:defRPr lang="zh-CN"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2014/5/9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7841938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题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 latinLnBrk="0">
              <a:defRPr lang="zh-CN"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1" cy="4873625"/>
          </a:xfrm>
        </p:spPr>
        <p:txBody>
          <a:bodyPr/>
          <a:lstStyle>
            <a:lvl1pPr marL="0" indent="0" latinLnBrk="0">
              <a:buNone/>
              <a:defRPr lang="zh-CN" sz="3200"/>
            </a:lvl1pPr>
            <a:lvl2pPr marL="457200" indent="0" latinLnBrk="0">
              <a:buNone/>
              <a:defRPr lang="zh-CN" sz="2800"/>
            </a:lvl2pPr>
            <a:lvl3pPr marL="914400" indent="0" latinLnBrk="0">
              <a:buNone/>
              <a:defRPr lang="zh-CN" sz="2400"/>
            </a:lvl3pPr>
            <a:lvl4pPr marL="1371600" indent="0" latinLnBrk="0">
              <a:buNone/>
              <a:defRPr lang="zh-CN" sz="2000"/>
            </a:lvl4pPr>
            <a:lvl5pPr marL="1828800" indent="0" latinLnBrk="0">
              <a:buNone/>
              <a:defRPr lang="zh-CN" sz="2000"/>
            </a:lvl5pPr>
            <a:lvl6pPr marL="2286000" indent="0" latinLnBrk="0">
              <a:buNone/>
              <a:defRPr lang="zh-CN" sz="2000"/>
            </a:lvl6pPr>
            <a:lvl7pPr marL="2743200" indent="0" latinLnBrk="0">
              <a:buNone/>
              <a:defRPr lang="zh-CN" sz="2000"/>
            </a:lvl7pPr>
            <a:lvl8pPr marL="3200400" indent="0" latinLnBrk="0">
              <a:buNone/>
              <a:defRPr lang="zh-CN" sz="2000"/>
            </a:lvl8pPr>
            <a:lvl9pPr marL="3657600" indent="0" latinLnBrk="0">
              <a:buNone/>
              <a:defRPr lang="zh-CN" sz="2000"/>
            </a:lvl9pPr>
          </a:lstStyle>
          <a:p>
            <a:r>
              <a:rPr lang="zh-CN" altLang="en-US" smtClean="0"/>
              <a:t>单击图标添加图片</a:t>
            </a:r>
            <a:endParaRPr lang="zh-CN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90" y="2101850"/>
            <a:ext cx="3932236" cy="3759200"/>
          </a:xfrm>
        </p:spPr>
        <p:txBody>
          <a:bodyPr/>
          <a:lstStyle>
            <a:lvl1pPr marL="0" indent="0" latinLnBrk="0">
              <a:buNone/>
              <a:defRPr lang="zh-CN" sz="1600"/>
            </a:lvl1pPr>
            <a:lvl2pPr marL="457200" indent="0" latinLnBrk="0">
              <a:buNone/>
              <a:defRPr lang="zh-CN" sz="1400"/>
            </a:lvl2pPr>
            <a:lvl3pPr marL="914400" indent="0" latinLnBrk="0">
              <a:buNone/>
              <a:defRPr lang="zh-CN" sz="1200"/>
            </a:lvl3pPr>
            <a:lvl4pPr marL="1371600" indent="0" latinLnBrk="0">
              <a:buNone/>
              <a:defRPr lang="zh-CN" sz="1000"/>
            </a:lvl4pPr>
            <a:lvl5pPr marL="1828800" indent="0" latinLnBrk="0">
              <a:buNone/>
              <a:defRPr lang="zh-CN" sz="1000"/>
            </a:lvl5pPr>
            <a:lvl6pPr marL="2286000" indent="0" latinLnBrk="0">
              <a:buNone/>
              <a:defRPr lang="zh-CN" sz="1000"/>
            </a:lvl6pPr>
            <a:lvl7pPr marL="2743200" indent="0" latinLnBrk="0">
              <a:buNone/>
              <a:defRPr lang="zh-CN" sz="1000"/>
            </a:lvl7pPr>
            <a:lvl8pPr marL="3200400" indent="0" latinLnBrk="0">
              <a:buNone/>
              <a:defRPr lang="zh-CN" sz="1000"/>
            </a:lvl8pPr>
            <a:lvl9pPr marL="3657600" indent="0" latinLnBrk="0">
              <a:buNone/>
              <a:defRPr lang="zh-CN"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2014/5/9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161095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1"/>
            <a:ext cx="10744201" cy="1228436"/>
          </a:xfrm>
        </p:spPr>
        <p:txBody>
          <a:bodyPr anchor="b">
            <a:normAutofit/>
          </a:bodyPr>
          <a:lstStyle>
            <a:lvl1pPr latinLnBrk="0">
              <a:defRPr lang="zh-CN" sz="3600">
                <a:solidFill>
                  <a:schemeClr val="bg1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8" name="矩形 7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596921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10095348" y="0"/>
            <a:ext cx="2096654" cy="6858000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0215420" y="365125"/>
            <a:ext cx="1819564" cy="5811838"/>
          </a:xfrm>
        </p:spPr>
        <p:txBody>
          <a:bodyPr vert="eaVert" anchor="b">
            <a:normAutofit/>
          </a:bodyPr>
          <a:lstStyle>
            <a:lvl1pPr latinLnBrk="0">
              <a:defRPr lang="zh-CN" sz="3600">
                <a:solidFill>
                  <a:schemeClr val="bg1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8" name="矩形 7"/>
          <p:cNvSpPr/>
          <p:nvPr userDrawn="1"/>
        </p:nvSpPr>
        <p:spPr>
          <a:xfrm>
            <a:off x="10095348" y="0"/>
            <a:ext cx="2096654" cy="6858000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1302266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2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199" y="6356353"/>
            <a:ext cx="32766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latinLnBrk="0">
              <a:defRPr lang="zh-CN" sz="1200">
                <a:solidFill>
                  <a:schemeClr val="tx1">
                    <a:tint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8BEEBAAA-29B5-4AF5-BC5F-7E580C29002D}" type="datetimeFigureOut">
              <a:rPr lang="en-US" altLang="zh-CN" smtClean="0"/>
              <a:pPr/>
              <a:t>5/9/2014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648202" y="6356353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latinLnBrk="0">
              <a:defRPr lang="zh-CN" sz="1200">
                <a:solidFill>
                  <a:schemeClr val="tx1">
                    <a:tint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077200" y="6356353"/>
            <a:ext cx="32766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latinLnBrk="0">
              <a:defRPr lang="zh-CN" sz="1200">
                <a:solidFill>
                  <a:schemeClr val="tx1">
                    <a:tint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9860EDB8-5305-433F-BE41-D7A86D811DB3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lang="zh-CN" sz="44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28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24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20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o15.officeredir.microsoft.com/r/rlid2013GettingStartedCntrPPT?clid=205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 smtClean="0"/>
              <a:t>基于形状语义和增强学习的建筑立面点云解译与重建的方法</a:t>
            </a:r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zh-CN" altLang="en-US" dirty="0" smtClean="0">
                <a:latin typeface="Microsoft YaHei UI" panose="020B0503020204020204" pitchFamily="34" charset="-122"/>
              </a:rPr>
              <a:t>徐翔 地理信息系统专业</a:t>
            </a:r>
            <a:endParaRPr lang="en-US" altLang="zh-CN" dirty="0" smtClean="0">
              <a:latin typeface="Microsoft YaHei UI" panose="020B0503020204020204" pitchFamily="34" charset="-122"/>
            </a:endParaRPr>
          </a:p>
          <a:p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指导老师：张立强教授</a:t>
            </a:r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956" r="32714"/>
          <a:stretch/>
        </p:blipFill>
        <p:spPr>
          <a:xfrm>
            <a:off x="388454" y="0"/>
            <a:ext cx="1728252" cy="28800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82" r="23743"/>
          <a:stretch/>
        </p:blipFill>
        <p:spPr>
          <a:xfrm>
            <a:off x="2722868" y="0"/>
            <a:ext cx="2601410" cy="2880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82" r="27571"/>
          <a:stretch/>
        </p:blipFill>
        <p:spPr>
          <a:xfrm>
            <a:off x="6096001" y="0"/>
            <a:ext cx="2408713" cy="28800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34" r="23384"/>
          <a:stretch/>
        </p:blipFill>
        <p:spPr>
          <a:xfrm>
            <a:off x="9296363" y="0"/>
            <a:ext cx="2480974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研究背景及意义</a:t>
            </a:r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199" y="1825625"/>
            <a:ext cx="4876800" cy="4447761"/>
          </a:xfrm>
        </p:spPr>
        <p:txBody>
          <a:bodyPr>
            <a:norm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三</a:t>
            </a:r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维数字城市重</a:t>
            </a:r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建</a:t>
            </a:r>
            <a:endParaRPr lang="en-US" altLang="zh-CN" dirty="0" smtClean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/>
              <a:t>传</a:t>
            </a:r>
            <a:r>
              <a:rPr lang="zh-CN" altLang="en-US" dirty="0" smtClean="0"/>
              <a:t>统的方法耗时耗力</a:t>
            </a:r>
            <a:endParaRPr lang="en-US" altLang="zh-CN" dirty="0" smtClean="0"/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激光雷</a:t>
            </a:r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达技术</a:t>
            </a:r>
            <a:endParaRPr lang="en-US" altLang="zh-CN" dirty="0" smtClean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/>
              <a:t>自</a:t>
            </a:r>
            <a:r>
              <a:rPr lang="zh-CN" altLang="en-US" dirty="0" smtClean="0"/>
              <a:t>动化重建建筑立面</a:t>
            </a:r>
            <a:endParaRPr lang="en-US" altLang="zh-CN" dirty="0" smtClean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9536" y="1746236"/>
            <a:ext cx="5243044" cy="2965023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9537" y="4842096"/>
            <a:ext cx="2560318" cy="14224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2358" y="4833206"/>
            <a:ext cx="2560222" cy="143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733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建筑立面建模研究现状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/>
              <a:t>基</a:t>
            </a:r>
            <a:r>
              <a:rPr lang="zh-CN" altLang="en-US" dirty="0" smtClean="0"/>
              <a:t>于数据驱动的方法</a:t>
            </a:r>
            <a:endParaRPr lang="en-US" altLang="zh-CN" dirty="0" smtClean="0"/>
          </a:p>
          <a:p>
            <a:pPr marL="971550" lvl="1" indent="-285750">
              <a:buClr>
                <a:srgbClr val="7030A0"/>
              </a:buClr>
              <a:buFont typeface="Wingdings" panose="05000000000000000000" pitchFamily="2" charset="2"/>
              <a:buChar char="Ø"/>
            </a:pPr>
            <a:r>
              <a:rPr lang="zh-CN" altLang="en-US" dirty="0"/>
              <a:t>无</a:t>
            </a:r>
            <a:r>
              <a:rPr lang="zh-CN" altLang="en-US" dirty="0" smtClean="0"/>
              <a:t>法很好地揭示建筑的语义特征（如门、窗、阳台等）</a:t>
            </a:r>
            <a:endParaRPr lang="en-US" altLang="zh-CN" dirty="0" smtClean="0"/>
          </a:p>
          <a:p>
            <a:pPr marL="971550" lvl="1" indent="-285750">
              <a:buClr>
                <a:srgbClr val="7030A0"/>
              </a:buClr>
              <a:buFont typeface="Wingdings" panose="05000000000000000000" pitchFamily="2" charset="2"/>
              <a:buChar char="Ø"/>
            </a:pPr>
            <a:r>
              <a:rPr lang="zh-CN" altLang="en-US" dirty="0"/>
              <a:t>建</a:t>
            </a:r>
            <a:r>
              <a:rPr lang="zh-CN" altLang="en-US" dirty="0" smtClean="0"/>
              <a:t>模受点云数据缺失的影响较大</a:t>
            </a:r>
            <a:endParaRPr lang="en-US" altLang="zh-CN" dirty="0" smtClean="0"/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/>
              <a:t>基</a:t>
            </a:r>
            <a:r>
              <a:rPr lang="zh-CN" altLang="en-US" dirty="0" smtClean="0"/>
              <a:t>于</a:t>
            </a:r>
            <a:r>
              <a:rPr lang="zh-CN" altLang="en-US" dirty="0"/>
              <a:t>模型</a:t>
            </a:r>
            <a:r>
              <a:rPr lang="zh-CN" altLang="en-US" dirty="0" smtClean="0"/>
              <a:t>驱</a:t>
            </a:r>
            <a:r>
              <a:rPr lang="zh-CN" altLang="en-US" dirty="0"/>
              <a:t>动的方法</a:t>
            </a:r>
            <a:endParaRPr lang="en-US" altLang="zh-CN" dirty="0"/>
          </a:p>
          <a:p>
            <a:pPr marL="971550" lvl="1" indent="-285750">
              <a:buClr>
                <a:srgbClr val="7030A0"/>
              </a:buClr>
              <a:buFont typeface="Wingdings" panose="05000000000000000000" pitchFamily="2" charset="2"/>
              <a:buChar char="Ø"/>
            </a:pPr>
            <a:r>
              <a:rPr lang="zh-CN" altLang="en-US" dirty="0" smtClean="0"/>
              <a:t>如何设计一个统一的模型来描述现实世界中复杂多样的建筑</a:t>
            </a:r>
            <a:endParaRPr lang="en-US" altLang="zh-CN" dirty="0" smtClean="0"/>
          </a:p>
          <a:p>
            <a:pPr marL="971550" lvl="1" indent="-285750">
              <a:buClr>
                <a:srgbClr val="7030A0"/>
              </a:buClr>
              <a:buFont typeface="Wingdings" panose="05000000000000000000" pitchFamily="2" charset="2"/>
              <a:buChar char="Ø"/>
            </a:pPr>
            <a:r>
              <a:rPr lang="zh-CN" altLang="en-US" dirty="0"/>
              <a:t>如</a:t>
            </a:r>
            <a:r>
              <a:rPr lang="zh-CN" altLang="en-US" dirty="0" smtClean="0"/>
              <a:t>何高效地求解建筑的立面模型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369462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形状语</a:t>
            </a:r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义</a:t>
            </a:r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199" y="1825625"/>
            <a:ext cx="6093884" cy="3234055"/>
          </a:xfrm>
        </p:spPr>
        <p:txBody>
          <a:bodyPr>
            <a:normAutofit fontScale="92500" lnSpcReduction="10000"/>
          </a:bodyPr>
          <a:lstStyle/>
          <a:p>
            <a:pPr marL="171450" indent="-1714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动态地描述复杂的结构化几何体的方法</a:t>
            </a:r>
            <a:endParaRPr lang="en-US" altLang="zh-CN" dirty="0" smtClean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171450" indent="-171450">
              <a:buClr>
                <a:srgbClr val="00B050"/>
              </a:buClr>
              <a:buFont typeface="Wingdings" panose="05000000000000000000" pitchFamily="2" charset="2"/>
              <a:buChar char="u"/>
            </a:pPr>
            <a:endParaRPr lang="en-US" altLang="zh-CN" dirty="0" smtClean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171450" indent="-1714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/>
              <a:t>分</a:t>
            </a:r>
            <a:r>
              <a:rPr lang="zh-CN" altLang="en-US" dirty="0" smtClean="0"/>
              <a:t>形、植物、建筑可以通过一些基本的操作一步步递归地</a:t>
            </a:r>
            <a:endParaRPr lang="en-US" altLang="zh-CN" dirty="0" smtClean="0"/>
          </a:p>
          <a:p>
            <a:pPr>
              <a:buClr>
                <a:srgbClr val="00B050"/>
              </a:buClr>
            </a:pPr>
            <a:r>
              <a:rPr lang="zh-CN" altLang="en-US" dirty="0" smtClean="0"/>
              <a:t>     以一种简单的方式生成</a:t>
            </a:r>
            <a:endParaRPr lang="en-US" altLang="zh-CN" dirty="0" smtClean="0"/>
          </a:p>
          <a:p>
            <a:pPr marL="971550" lvl="1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</a:t>
            </a:r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系统</a:t>
            </a:r>
            <a:endParaRPr lang="en-US" altLang="zh-CN" dirty="0" smtClean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971550" lvl="1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zh-CN" altLang="en-US" dirty="0"/>
              <a:t>二</a:t>
            </a:r>
            <a:r>
              <a:rPr lang="zh-CN" altLang="en-US" dirty="0" smtClean="0"/>
              <a:t>分形状语义</a:t>
            </a:r>
            <a:endParaRPr lang="en-US" altLang="zh-CN" dirty="0" smtClean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971550" lvl="1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1026" name="Picture 2" descr="C:\Users\drifters\Downloads\cvpr2010\images\monge_119bis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2255" y="1378585"/>
            <a:ext cx="3009900" cy="528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D:\Xu Xiang\new_workspace\graduation-thesis-defenses\images\486px-Serpinski_Lsystem.svg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9200" y="1673225"/>
            <a:ext cx="2523462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:\Xu Xiang\new_workspace\graduation-thesis-defenses\images\320px-Fractal_weeds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3920" y="4272280"/>
            <a:ext cx="4064000" cy="238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86760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二分形状语义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 smtClean="0"/>
              <a:t>特殊的形状语义。通过不断对一个初始形状进行剖分得到复杂的结构</a:t>
            </a:r>
            <a:endParaRPr lang="en-US" altLang="zh-CN" dirty="0" smtClean="0"/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 smtClean="0"/>
              <a:t>初始形状</a:t>
            </a:r>
            <a:endParaRPr lang="en-US" altLang="zh-CN" dirty="0" smtClean="0"/>
          </a:p>
          <a:p>
            <a:pPr marL="971550" lvl="1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zh-CN" altLang="en-US" dirty="0"/>
              <a:t>剖</a:t>
            </a:r>
            <a:r>
              <a:rPr lang="zh-CN" altLang="en-US" dirty="0" smtClean="0"/>
              <a:t>分开始时的形状</a:t>
            </a:r>
            <a:endParaRPr lang="en-US" altLang="zh-CN" dirty="0" smtClean="0"/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/>
              <a:t>终</a:t>
            </a:r>
            <a:r>
              <a:rPr lang="zh-CN" altLang="en-US" dirty="0" smtClean="0"/>
              <a:t>端形状</a:t>
            </a:r>
            <a:endParaRPr lang="en-US" altLang="zh-CN" dirty="0" smtClean="0"/>
          </a:p>
          <a:p>
            <a:pPr marL="971550" lvl="1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zh-CN" altLang="en-US" dirty="0" smtClean="0"/>
              <a:t>不可以继续剖分的形状</a:t>
            </a:r>
            <a:endParaRPr lang="en-US" altLang="zh-CN" dirty="0" smtClean="0"/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 smtClean="0"/>
              <a:t>非终端形状</a:t>
            </a:r>
            <a:endParaRPr lang="en-US" altLang="zh-CN" dirty="0" smtClean="0"/>
          </a:p>
          <a:p>
            <a:pPr marL="971550" lvl="1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zh-CN" altLang="en-US" dirty="0"/>
              <a:t>可</a:t>
            </a:r>
            <a:r>
              <a:rPr lang="zh-CN" altLang="en-US" dirty="0" smtClean="0"/>
              <a:t>以继续剖分为其它形状</a:t>
            </a:r>
            <a:endParaRPr lang="en-US" altLang="zh-CN" dirty="0" smtClean="0"/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/>
              <a:t>语</a:t>
            </a:r>
            <a:r>
              <a:rPr lang="zh-CN" altLang="en-US" dirty="0" smtClean="0"/>
              <a:t>义规则</a:t>
            </a:r>
            <a:endParaRPr lang="en-US" altLang="zh-CN" dirty="0" smtClean="0"/>
          </a:p>
          <a:p>
            <a:pPr marL="971550" lvl="1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zh-CN" altLang="en-US" dirty="0"/>
              <a:t>描</a:t>
            </a:r>
            <a:r>
              <a:rPr lang="zh-CN" altLang="en-US" dirty="0" smtClean="0"/>
              <a:t>述一个形状如何剖分为其它形状</a:t>
            </a:r>
            <a:endParaRPr lang="zh-CN" altLang="en-US" dirty="0"/>
          </a:p>
        </p:txBody>
      </p:sp>
      <p:pic>
        <p:nvPicPr>
          <p:cNvPr id="2051" name="Picture 3" descr="parsing_tree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13" t="4812" r="51546" b="83165"/>
          <a:stretch/>
        </p:blipFill>
        <p:spPr bwMode="auto">
          <a:xfrm>
            <a:off x="7709336" y="1354083"/>
            <a:ext cx="1483200" cy="1185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871311" y="1608487"/>
            <a:ext cx="10972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smtClean="0">
                <a:ea typeface="Microsoft YaHei UI"/>
              </a:rPr>
              <a:t>facade</a:t>
            </a:r>
            <a:endParaRPr lang="zh-CN" altLang="en-US" sz="1600" dirty="0">
              <a:ea typeface="Microsoft YaHei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763054" y="2948103"/>
            <a:ext cx="1069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smtClean="0">
                <a:ea typeface="Microsoft YaHei UI"/>
              </a:rPr>
              <a:t>window</a:t>
            </a:r>
            <a:endParaRPr lang="en-US" altLang="zh-CN" sz="1600" dirty="0">
              <a:ea typeface="Microsoft YaHei UI"/>
            </a:endParaRPr>
          </a:p>
        </p:txBody>
      </p:sp>
      <p:pic>
        <p:nvPicPr>
          <p:cNvPr id="9" name="Picture 3" descr="parsing_tree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126" t="12776" r="59145" b="83165"/>
          <a:stretch/>
        </p:blipFill>
        <p:spPr bwMode="auto">
          <a:xfrm>
            <a:off x="8069838" y="2904913"/>
            <a:ext cx="199697" cy="4003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3" descr="parsing_tree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84" t="12884" r="61045" b="83075"/>
          <a:stretch/>
        </p:blipFill>
        <p:spPr bwMode="auto">
          <a:xfrm>
            <a:off x="8850522" y="2904913"/>
            <a:ext cx="193000" cy="3986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5242283" y="3811024"/>
            <a:ext cx="13141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smtClean="0">
                <a:ea typeface="Microsoft YaHei UI"/>
              </a:rPr>
              <a:t> </a:t>
            </a:r>
            <a:r>
              <a:rPr lang="en-US" altLang="zh-CN" sz="1600" dirty="0" err="1" smtClean="0">
                <a:ea typeface="Microsoft YaHei UI"/>
              </a:rPr>
              <a:t>facadeWall</a:t>
            </a:r>
            <a:endParaRPr lang="zh-CN" altLang="en-US" sz="1600" dirty="0">
              <a:ea typeface="Microsoft YaHei U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92536" y="2968795"/>
            <a:ext cx="1069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smtClean="0">
                <a:ea typeface="Microsoft YaHei UI"/>
              </a:rPr>
              <a:t>wall</a:t>
            </a:r>
            <a:endParaRPr lang="en-US" altLang="zh-CN" sz="1600" dirty="0">
              <a:ea typeface="Microsoft YaHei UI"/>
            </a:endParaRPr>
          </a:p>
        </p:txBody>
      </p:sp>
      <p:pic>
        <p:nvPicPr>
          <p:cNvPr id="13" name="Picture 3" descr="parsing_tree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13" t="4812" r="51546" b="87460"/>
          <a:stretch/>
        </p:blipFill>
        <p:spPr bwMode="auto">
          <a:xfrm>
            <a:off x="6556429" y="3523360"/>
            <a:ext cx="1483200" cy="7622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3" descr="parsing_tree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13" t="4812" r="51546" b="89177"/>
          <a:stretch/>
        </p:blipFill>
        <p:spPr bwMode="auto">
          <a:xfrm>
            <a:off x="8706765" y="3683822"/>
            <a:ext cx="1483200" cy="5929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TextBox 14"/>
          <p:cNvSpPr txBox="1"/>
          <p:nvPr/>
        </p:nvSpPr>
        <p:spPr>
          <a:xfrm>
            <a:off x="10217460" y="3899105"/>
            <a:ext cx="13141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smtClean="0">
                <a:ea typeface="Microsoft YaHei UI"/>
              </a:rPr>
              <a:t> </a:t>
            </a:r>
            <a:r>
              <a:rPr lang="en-US" altLang="zh-CN" sz="1600" dirty="0" err="1" smtClean="0">
                <a:ea typeface="Microsoft YaHei UI"/>
              </a:rPr>
              <a:t>facadeFloor</a:t>
            </a:r>
            <a:endParaRPr lang="zh-CN" altLang="en-US" sz="1600" dirty="0">
              <a:ea typeface="Microsoft YaHei UI"/>
            </a:endParaRPr>
          </a:p>
        </p:txBody>
      </p:sp>
      <p:pic>
        <p:nvPicPr>
          <p:cNvPr id="16" name="Picture 3" descr="parsing_tree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13" t="12921" r="51546" b="83165"/>
          <a:stretch/>
        </p:blipFill>
        <p:spPr bwMode="auto">
          <a:xfrm>
            <a:off x="6620110" y="4938110"/>
            <a:ext cx="1483200" cy="386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TextBox 16"/>
          <p:cNvSpPr txBox="1"/>
          <p:nvPr/>
        </p:nvSpPr>
        <p:spPr>
          <a:xfrm>
            <a:off x="5242283" y="4993377"/>
            <a:ext cx="13141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smtClean="0">
                <a:ea typeface="Microsoft YaHei UI"/>
              </a:rPr>
              <a:t> </a:t>
            </a:r>
            <a:r>
              <a:rPr lang="en-US" altLang="zh-CN" sz="1600" dirty="0" err="1" smtClean="0">
                <a:ea typeface="Microsoft YaHei UI"/>
              </a:rPr>
              <a:t>floorWall</a:t>
            </a:r>
            <a:endParaRPr lang="en-US" altLang="zh-CN" sz="1600" dirty="0" smtClean="0">
              <a:ea typeface="Microsoft YaHei UI"/>
            </a:endParaRPr>
          </a:p>
          <a:p>
            <a:endParaRPr lang="zh-CN" altLang="en-US" sz="1600" dirty="0">
              <a:ea typeface="Microsoft YaHei UI"/>
            </a:endParaRPr>
          </a:p>
        </p:txBody>
      </p:sp>
      <p:pic>
        <p:nvPicPr>
          <p:cNvPr id="18" name="Picture 3" descr="parsing_tree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56" t="12921" r="51546" b="83165"/>
          <a:stretch/>
        </p:blipFill>
        <p:spPr bwMode="auto">
          <a:xfrm>
            <a:off x="8908327" y="4993377"/>
            <a:ext cx="1062430" cy="386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10189965" y="4993377"/>
            <a:ext cx="1558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smtClean="0">
                <a:ea typeface="Microsoft YaHei UI"/>
              </a:rPr>
              <a:t> </a:t>
            </a:r>
            <a:r>
              <a:rPr lang="en-US" altLang="zh-CN" sz="1600" dirty="0" err="1" smtClean="0">
                <a:ea typeface="Microsoft YaHei UI"/>
              </a:rPr>
              <a:t>floorWindow</a:t>
            </a:r>
            <a:endParaRPr lang="en-US" altLang="zh-CN" sz="1600" dirty="0" smtClean="0">
              <a:ea typeface="Microsoft YaHei UI"/>
            </a:endParaRPr>
          </a:p>
          <a:p>
            <a:endParaRPr lang="zh-CN" altLang="en-US" sz="1600" dirty="0">
              <a:ea typeface="Microsoft YaHei UI"/>
            </a:endParaRPr>
          </a:p>
        </p:txBody>
      </p:sp>
    </p:spTree>
    <p:extLst>
      <p:ext uri="{BB962C8B-B14F-4D97-AF65-F5344CB8AC3E}">
        <p14:creationId xmlns:p14="http://schemas.microsoft.com/office/powerpoint/2010/main" val="113978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二</a:t>
            </a:r>
            <a:r>
              <a:rPr lang="zh-CN" altLang="en-US" dirty="0" smtClean="0"/>
              <a:t>分形状的语义规则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2" y="1825625"/>
            <a:ext cx="4167753" cy="490855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</a:t>
            </a:r>
            <a:r>
              <a:rPr lang="en-US" altLang="zh-CN" dirty="0" smtClean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açade → </a:t>
            </a:r>
            <a:r>
              <a:rPr lang="en-US" altLang="zh-CN" dirty="0" err="1" smtClean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floorWall</a:t>
            </a:r>
            <a:r>
              <a:rPr lang="en-US" altLang="zh-CN" dirty="0" smtClean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+ </a:t>
            </a:r>
            <a:r>
              <a:rPr lang="en-US" altLang="zh-CN" dirty="0" err="1" smtClean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facadeWall</a:t>
            </a:r>
            <a:endParaRPr lang="zh-CN" altLang="en-US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4580056" y="1354083"/>
            <a:ext cx="6954613" cy="1185917"/>
            <a:chOff x="4580056" y="1354083"/>
            <a:chExt cx="6954613" cy="1185917"/>
          </a:xfrm>
        </p:grpSpPr>
        <p:pic>
          <p:nvPicPr>
            <p:cNvPr id="4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613" t="4812" r="51546" b="83165"/>
            <a:stretch/>
          </p:blipFill>
          <p:spPr bwMode="auto">
            <a:xfrm>
              <a:off x="4580056" y="1354083"/>
              <a:ext cx="1483200" cy="11859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" name="Right Arrow 4"/>
            <p:cNvSpPr/>
            <p:nvPr/>
          </p:nvSpPr>
          <p:spPr>
            <a:xfrm>
              <a:off x="6106160" y="1930400"/>
              <a:ext cx="934720" cy="18288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613" t="12921" r="51546" b="83165"/>
            <a:stretch/>
          </p:blipFill>
          <p:spPr bwMode="auto">
            <a:xfrm>
              <a:off x="7280510" y="1828800"/>
              <a:ext cx="1483200" cy="3860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Plus 6"/>
            <p:cNvSpPr/>
            <p:nvPr/>
          </p:nvSpPr>
          <p:spPr>
            <a:xfrm>
              <a:off x="8920480" y="1737360"/>
              <a:ext cx="660400" cy="477520"/>
            </a:xfrm>
            <a:prstGeom prst="mathPlu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8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613" t="4812" r="51546" b="87460"/>
            <a:stretch/>
          </p:blipFill>
          <p:spPr bwMode="auto">
            <a:xfrm>
              <a:off x="10051469" y="1595002"/>
              <a:ext cx="1483200" cy="7622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9" name="Content Placeholder 2"/>
          <p:cNvSpPr txBox="1">
            <a:spLocks/>
          </p:cNvSpPr>
          <p:nvPr/>
        </p:nvSpPr>
        <p:spPr>
          <a:xfrm>
            <a:off x="756922" y="3014345"/>
            <a:ext cx="4167753" cy="4908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zh-CN" sz="16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4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2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1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1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 smtClean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facadeWall</a:t>
            </a:r>
            <a:r>
              <a:rPr lang="en-US" altLang="zh-CN" dirty="0" smtClean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 wall+ </a:t>
            </a:r>
            <a:r>
              <a:rPr lang="en-US" altLang="zh-CN" dirty="0" err="1" smtClean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facadeFloor</a:t>
            </a:r>
            <a:endParaRPr lang="en-US" altLang="en-US" dirty="0">
              <a:solidFill>
                <a:schemeClr val="accent6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6" name="Group 35"/>
          <p:cNvGrpSpPr/>
          <p:nvPr/>
        </p:nvGrpSpPr>
        <p:grpSpPr>
          <a:xfrm>
            <a:off x="4580056" y="2805895"/>
            <a:ext cx="6954613" cy="762236"/>
            <a:chOff x="4580056" y="2805895"/>
            <a:chExt cx="6954613" cy="762236"/>
          </a:xfrm>
        </p:grpSpPr>
        <p:pic>
          <p:nvPicPr>
            <p:cNvPr id="10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613" t="4812" r="51546" b="87460"/>
            <a:stretch/>
          </p:blipFill>
          <p:spPr bwMode="auto">
            <a:xfrm>
              <a:off x="4580056" y="2805895"/>
              <a:ext cx="1483200" cy="7622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Right Arrow 10"/>
            <p:cNvSpPr/>
            <p:nvPr/>
          </p:nvSpPr>
          <p:spPr>
            <a:xfrm>
              <a:off x="6106160" y="3168332"/>
              <a:ext cx="934720" cy="18288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2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613" t="10995" r="51546" b="87460"/>
            <a:stretch/>
          </p:blipFill>
          <p:spPr bwMode="auto">
            <a:xfrm>
              <a:off x="7280510" y="3187064"/>
              <a:ext cx="1483200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Plus 12"/>
            <p:cNvSpPr/>
            <p:nvPr/>
          </p:nvSpPr>
          <p:spPr>
            <a:xfrm>
              <a:off x="8910320" y="2983865"/>
              <a:ext cx="660400" cy="477520"/>
            </a:xfrm>
            <a:prstGeom prst="mathPlu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613" t="4812" r="51546" b="89177"/>
            <a:stretch/>
          </p:blipFill>
          <p:spPr bwMode="auto">
            <a:xfrm>
              <a:off x="10051469" y="2898907"/>
              <a:ext cx="1483200" cy="5929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5" name="Content Placeholder 2"/>
          <p:cNvSpPr txBox="1">
            <a:spLocks/>
          </p:cNvSpPr>
          <p:nvPr/>
        </p:nvSpPr>
        <p:spPr>
          <a:xfrm>
            <a:off x="756922" y="4152265"/>
            <a:ext cx="4167753" cy="4908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zh-CN" sz="16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4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2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1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1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facadeFloor</a:t>
            </a:r>
            <a:r>
              <a:rPr lang="en-US" altLang="zh-CN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dirty="0" err="1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floorWall</a:t>
            </a:r>
            <a:r>
              <a:rPr lang="en-US" altLang="zh-CN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+ </a:t>
            </a:r>
            <a:r>
              <a:rPr lang="en-US" altLang="zh-CN" dirty="0" err="1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facadeWall</a:t>
            </a:r>
            <a:endParaRPr lang="zh-CN" altLang="en-US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7" name="Group 36"/>
          <p:cNvGrpSpPr/>
          <p:nvPr/>
        </p:nvGrpSpPr>
        <p:grpSpPr>
          <a:xfrm>
            <a:off x="4580056" y="3917061"/>
            <a:ext cx="6954613" cy="625079"/>
            <a:chOff x="4580056" y="3917061"/>
            <a:chExt cx="6954613" cy="625079"/>
          </a:xfrm>
        </p:grpSpPr>
        <p:sp>
          <p:nvSpPr>
            <p:cNvPr id="18" name="Right Arrow 17"/>
            <p:cNvSpPr/>
            <p:nvPr/>
          </p:nvSpPr>
          <p:spPr>
            <a:xfrm>
              <a:off x="6116320" y="4231956"/>
              <a:ext cx="934720" cy="18288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9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613" t="12921" r="51546" b="83165"/>
            <a:stretch/>
          </p:blipFill>
          <p:spPr bwMode="auto">
            <a:xfrm>
              <a:off x="7367660" y="4130356"/>
              <a:ext cx="1483200" cy="3860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" name="Plus 19"/>
            <p:cNvSpPr/>
            <p:nvPr/>
          </p:nvSpPr>
          <p:spPr>
            <a:xfrm>
              <a:off x="8890000" y="4064620"/>
              <a:ext cx="660400" cy="477520"/>
            </a:xfrm>
            <a:prstGeom prst="mathPlu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1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613" t="4812" r="51546" b="89177"/>
            <a:stretch/>
          </p:blipFill>
          <p:spPr bwMode="auto">
            <a:xfrm>
              <a:off x="4580056" y="3917061"/>
              <a:ext cx="1483200" cy="5929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613" t="10995" r="51546" b="87460"/>
            <a:stretch/>
          </p:blipFill>
          <p:spPr bwMode="auto">
            <a:xfrm>
              <a:off x="10051469" y="4213540"/>
              <a:ext cx="1483200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3" name="Content Placeholder 2"/>
          <p:cNvSpPr txBox="1">
            <a:spLocks/>
          </p:cNvSpPr>
          <p:nvPr/>
        </p:nvSpPr>
        <p:spPr>
          <a:xfrm>
            <a:off x="756922" y="5076825"/>
            <a:ext cx="4167753" cy="4908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zh-CN" sz="16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4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2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1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1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>
                <a:solidFill>
                  <a:schemeClr val="accent2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floorWall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 smtClean="0">
                <a:solidFill>
                  <a:schemeClr val="accent2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↓ wall+ </a:t>
            </a:r>
            <a:r>
              <a:rPr lang="en-US" altLang="zh-CN" dirty="0" err="1" smtClean="0">
                <a:solidFill>
                  <a:schemeClr val="accent2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floorWindow</a:t>
            </a:r>
            <a:endParaRPr lang="zh-CN" altLang="en-US" dirty="0">
              <a:solidFill>
                <a:schemeClr val="accent2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Content Placeholder 2"/>
          <p:cNvSpPr txBox="1">
            <a:spLocks/>
          </p:cNvSpPr>
          <p:nvPr/>
        </p:nvSpPr>
        <p:spPr>
          <a:xfrm>
            <a:off x="756921" y="5879465"/>
            <a:ext cx="4167753" cy="4908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zh-CN" sz="16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4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2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1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zh-CN" sz="1100" kern="1200">
                <a:solidFill>
                  <a:schemeClr val="bg1">
                    <a:lumMod val="50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 smtClean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floorWindow</a:t>
            </a:r>
            <a:r>
              <a:rPr lang="en-US" altLang="zh-CN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↓</a:t>
            </a:r>
            <a:r>
              <a:rPr lang="en-US" altLang="zh-CN" dirty="0" smtClean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window+ </a:t>
            </a:r>
            <a:r>
              <a:rPr lang="en-US" altLang="zh-CN" dirty="0" err="1" smtClean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floorWall</a:t>
            </a:r>
            <a:endParaRPr lang="zh-CN" altLang="en-US" dirty="0">
              <a:solidFill>
                <a:schemeClr val="accent5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8" name="Group 37"/>
          <p:cNvGrpSpPr/>
          <p:nvPr/>
        </p:nvGrpSpPr>
        <p:grpSpPr>
          <a:xfrm>
            <a:off x="4580056" y="5140960"/>
            <a:ext cx="6908893" cy="477520"/>
            <a:chOff x="4580056" y="5140960"/>
            <a:chExt cx="6908893" cy="477520"/>
          </a:xfrm>
        </p:grpSpPr>
        <p:pic>
          <p:nvPicPr>
            <p:cNvPr id="25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613" t="12921" r="51546" b="83165"/>
            <a:stretch/>
          </p:blipFill>
          <p:spPr bwMode="auto">
            <a:xfrm>
              <a:off x="4580056" y="5180012"/>
              <a:ext cx="1483200" cy="3860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Right Arrow 25"/>
            <p:cNvSpPr/>
            <p:nvPr/>
          </p:nvSpPr>
          <p:spPr>
            <a:xfrm>
              <a:off x="6106160" y="5280764"/>
              <a:ext cx="934720" cy="18288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7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56" t="12921" r="51546" b="83165"/>
            <a:stretch/>
          </p:blipFill>
          <p:spPr bwMode="auto">
            <a:xfrm>
              <a:off x="10426519" y="5180012"/>
              <a:ext cx="1062430" cy="3860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8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284" t="12884" r="61045" b="83075"/>
            <a:stretch/>
          </p:blipFill>
          <p:spPr bwMode="auto">
            <a:xfrm>
              <a:off x="8012760" y="5172857"/>
              <a:ext cx="193000" cy="3986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9" name="Plus 28"/>
            <p:cNvSpPr/>
            <p:nvPr/>
          </p:nvSpPr>
          <p:spPr>
            <a:xfrm>
              <a:off x="8874760" y="5140960"/>
              <a:ext cx="660400" cy="477520"/>
            </a:xfrm>
            <a:prstGeom prst="mathPlu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4790441" y="5864678"/>
            <a:ext cx="6488558" cy="477520"/>
            <a:chOff x="4790441" y="5864678"/>
            <a:chExt cx="6488558" cy="477520"/>
          </a:xfrm>
        </p:grpSpPr>
        <p:pic>
          <p:nvPicPr>
            <p:cNvPr id="30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56" t="12921" r="51546" b="83165"/>
            <a:stretch/>
          </p:blipFill>
          <p:spPr bwMode="auto">
            <a:xfrm>
              <a:off x="4790441" y="5907222"/>
              <a:ext cx="1062430" cy="3860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" name="Right Arrow 30"/>
            <p:cNvSpPr/>
            <p:nvPr/>
          </p:nvSpPr>
          <p:spPr>
            <a:xfrm>
              <a:off x="6096000" y="6002972"/>
              <a:ext cx="934720" cy="18288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2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126" t="12776" r="59145" b="83165"/>
            <a:stretch/>
          </p:blipFill>
          <p:spPr bwMode="auto">
            <a:xfrm>
              <a:off x="8006299" y="5872343"/>
              <a:ext cx="199697" cy="4003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3" name="Plus 32"/>
            <p:cNvSpPr/>
            <p:nvPr/>
          </p:nvSpPr>
          <p:spPr>
            <a:xfrm>
              <a:off x="8874760" y="5864678"/>
              <a:ext cx="660400" cy="477520"/>
            </a:xfrm>
            <a:prstGeom prst="mathPlus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4" name="Picture 3" descr="parsing_tree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073" t="12921" r="51546" b="83165"/>
            <a:stretch/>
          </p:blipFill>
          <p:spPr bwMode="auto">
            <a:xfrm>
              <a:off x="10426519" y="5879918"/>
              <a:ext cx="852480" cy="3860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81049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二</a:t>
            </a:r>
            <a:r>
              <a:rPr lang="zh-CN" altLang="en-US" dirty="0" smtClean="0"/>
              <a:t>分形状语义的剖分过程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/>
              <a:t>对初</a:t>
            </a:r>
            <a:r>
              <a:rPr lang="zh-CN" altLang="en-US" dirty="0" smtClean="0"/>
              <a:t>始形状应用一系列的语义规则，直到所有的子形状全部为终端形状（不可继续剖分），便可以完成对建筑立面的建模。得到的结果可以表示成二叉树的形式</a:t>
            </a:r>
            <a:endParaRPr lang="en-US" altLang="zh-CN" dirty="0" smtClean="0"/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u"/>
            </a:pPr>
            <a:r>
              <a:rPr lang="zh-CN" altLang="en-US" dirty="0"/>
              <a:t>问</a:t>
            </a:r>
            <a:r>
              <a:rPr lang="zh-CN" altLang="en-US" dirty="0" smtClean="0"/>
              <a:t>题是：给定一个建筑立面如何求得最佳的剖分树（语义规则的应用序列）？</a:t>
            </a:r>
            <a:endParaRPr lang="zh-CN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3160" y="1520508"/>
            <a:ext cx="5943600" cy="5076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22327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最佳形状语义求解</a:t>
            </a:r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可从不同的计算机与其他人在同一时间协作进行编辑，而且会话功能改进了注释系统。 </a:t>
            </a:r>
          </a:p>
          <a:p>
            <a:r>
              <a:rPr 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在线共享很简单。即使您的观众没有安装 PowerPoint，也可以使用“联机演示”将幻灯片映射到他们的浏览器供其观看。</a:t>
            </a:r>
          </a:p>
          <a:p>
            <a:r>
              <a:rPr 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可从不同位置在同一时间与其他人协同工作，而无论您是使用自己桌面上的 PowerPoint 还是使用 PowerPoint Web App。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3527" y="2029620"/>
            <a:ext cx="6010276" cy="394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532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马尔科</a:t>
            </a:r>
            <a:r>
              <a:rPr lang="zh-CN" altLang="en-US" dirty="0" smtClean="0"/>
              <a:t>夫决策过程</a:t>
            </a:r>
            <a:endParaRPr lang="zh-CN" altLang="en-US" dirty="0"/>
          </a:p>
        </p:txBody>
      </p:sp>
      <p:pic>
        <p:nvPicPr>
          <p:cNvPr id="409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080" y="2857083"/>
            <a:ext cx="4167188" cy="15772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05094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建模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6738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预分类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6367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结果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6306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sz="4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PowerPoint 2013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28267" y="2402237"/>
            <a:ext cx="5859506" cy="2187226"/>
          </a:xfrm>
        </p:spPr>
        <p:txBody>
          <a:bodyPr>
            <a:noAutofit/>
          </a:bodyPr>
          <a:lstStyle/>
          <a:p>
            <a:r>
              <a:rPr lang="zh-CN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使用先进的演示工具直观地设计精美的演示文稿、轻松与其他人共享和协作、提供展现专业素质的演示。</a:t>
            </a:r>
          </a:p>
        </p:txBody>
      </p:sp>
      <p:sp>
        <p:nvSpPr>
          <p:cNvPr id="8" name="任意多边形 7">
            <a:hlinkClick r:id="rId3" tooltip="了解详细信息"/>
          </p:cNvPr>
          <p:cNvSpPr/>
          <p:nvPr/>
        </p:nvSpPr>
        <p:spPr>
          <a:xfrm>
            <a:off x="11557039" y="6134154"/>
            <a:ext cx="431764" cy="431763"/>
          </a:xfrm>
          <a:custGeom>
            <a:avLst/>
            <a:gdLst>
              <a:gd name="connsiteX0" fmla="*/ 283692 w 643468"/>
              <a:gd name="connsiteY0" fmla="*/ 156886 h 643468"/>
              <a:gd name="connsiteX1" fmla="*/ 315574 w 643468"/>
              <a:gd name="connsiteY1" fmla="*/ 156886 h 643468"/>
              <a:gd name="connsiteX2" fmla="*/ 486582 w 643468"/>
              <a:gd name="connsiteY2" fmla="*/ 321734 h 643468"/>
              <a:gd name="connsiteX3" fmla="*/ 315574 w 643468"/>
              <a:gd name="connsiteY3" fmla="*/ 486582 h 643468"/>
              <a:gd name="connsiteX4" fmla="*/ 283692 w 643468"/>
              <a:gd name="connsiteY4" fmla="*/ 486582 h 643468"/>
              <a:gd name="connsiteX5" fmla="*/ 441545 w 643468"/>
              <a:gd name="connsiteY5" fmla="*/ 334415 h 643468"/>
              <a:gd name="connsiteX6" fmla="*/ 156887 w 643468"/>
              <a:gd name="connsiteY6" fmla="*/ 334415 h 643468"/>
              <a:gd name="connsiteX7" fmla="*/ 156887 w 643468"/>
              <a:gd name="connsiteY7" fmla="*/ 309054 h 643468"/>
              <a:gd name="connsiteX8" fmla="*/ 441545 w 643468"/>
              <a:gd name="connsiteY8" fmla="*/ 309054 h 643468"/>
              <a:gd name="connsiteX9" fmla="*/ 321733 w 643468"/>
              <a:gd name="connsiteY9" fmla="*/ 16937 h 643468"/>
              <a:gd name="connsiteX10" fmla="*/ 16936 w 643468"/>
              <a:gd name="connsiteY10" fmla="*/ 321734 h 643468"/>
              <a:gd name="connsiteX11" fmla="*/ 321733 w 643468"/>
              <a:gd name="connsiteY11" fmla="*/ 626531 h 643468"/>
              <a:gd name="connsiteX12" fmla="*/ 626530 w 643468"/>
              <a:gd name="connsiteY12" fmla="*/ 321734 h 643468"/>
              <a:gd name="connsiteX13" fmla="*/ 321733 w 643468"/>
              <a:gd name="connsiteY13" fmla="*/ 16937 h 643468"/>
              <a:gd name="connsiteX14" fmla="*/ 321734 w 643468"/>
              <a:gd name="connsiteY14" fmla="*/ 0 h 643468"/>
              <a:gd name="connsiteX15" fmla="*/ 643468 w 643468"/>
              <a:gd name="connsiteY15" fmla="*/ 321734 h 643468"/>
              <a:gd name="connsiteX16" fmla="*/ 321734 w 643468"/>
              <a:gd name="connsiteY16" fmla="*/ 643468 h 643468"/>
              <a:gd name="connsiteX17" fmla="*/ 0 w 643468"/>
              <a:gd name="connsiteY17" fmla="*/ 321734 h 643468"/>
              <a:gd name="connsiteX18" fmla="*/ 321734 w 643468"/>
              <a:gd name="connsiteY18" fmla="*/ 0 h 643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643468" h="643468">
                <a:moveTo>
                  <a:pt x="283692" y="156886"/>
                </a:moveTo>
                <a:lnTo>
                  <a:pt x="315574" y="156886"/>
                </a:lnTo>
                <a:lnTo>
                  <a:pt x="486582" y="321734"/>
                </a:lnTo>
                <a:lnTo>
                  <a:pt x="315574" y="486582"/>
                </a:lnTo>
                <a:lnTo>
                  <a:pt x="283692" y="486582"/>
                </a:lnTo>
                <a:lnTo>
                  <a:pt x="441545" y="334415"/>
                </a:lnTo>
                <a:lnTo>
                  <a:pt x="156887" y="334415"/>
                </a:lnTo>
                <a:lnTo>
                  <a:pt x="156887" y="309054"/>
                </a:lnTo>
                <a:lnTo>
                  <a:pt x="441545" y="309054"/>
                </a:lnTo>
                <a:close/>
                <a:moveTo>
                  <a:pt x="321733" y="16937"/>
                </a:moveTo>
                <a:cubicBezTo>
                  <a:pt x="153398" y="16937"/>
                  <a:pt x="16936" y="153399"/>
                  <a:pt x="16936" y="321734"/>
                </a:cubicBezTo>
                <a:cubicBezTo>
                  <a:pt x="16936" y="490069"/>
                  <a:pt x="153398" y="626531"/>
                  <a:pt x="321733" y="626531"/>
                </a:cubicBezTo>
                <a:cubicBezTo>
                  <a:pt x="490068" y="626531"/>
                  <a:pt x="626530" y="490069"/>
                  <a:pt x="626530" y="321734"/>
                </a:cubicBezTo>
                <a:cubicBezTo>
                  <a:pt x="626530" y="153399"/>
                  <a:pt x="490068" y="16937"/>
                  <a:pt x="321733" y="16937"/>
                </a:cubicBezTo>
                <a:close/>
                <a:moveTo>
                  <a:pt x="321734" y="0"/>
                </a:moveTo>
                <a:cubicBezTo>
                  <a:pt x="499423" y="0"/>
                  <a:pt x="643468" y="144045"/>
                  <a:pt x="643468" y="321734"/>
                </a:cubicBezTo>
                <a:cubicBezTo>
                  <a:pt x="643468" y="499423"/>
                  <a:pt x="499423" y="643468"/>
                  <a:pt x="321734" y="643468"/>
                </a:cubicBezTo>
                <a:cubicBezTo>
                  <a:pt x="144045" y="643468"/>
                  <a:pt x="0" y="499423"/>
                  <a:pt x="0" y="321734"/>
                </a:cubicBezTo>
                <a:cubicBezTo>
                  <a:pt x="0" y="144045"/>
                  <a:pt x="144045" y="0"/>
                  <a:pt x="321734" y="0"/>
                </a:cubicBezTo>
                <a:close/>
              </a:path>
            </a:pathLst>
          </a:custGeom>
          <a:solidFill>
            <a:srgbClr val="DD46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>
              <a:solidFill>
                <a:schemeClr val="tx1"/>
              </a:solidFill>
            </a:endParaRPr>
          </a:p>
        </p:txBody>
      </p:sp>
      <p:sp>
        <p:nvSpPr>
          <p:cNvPr id="9" name="文本占位符 2">
            <a:hlinkClick r:id="rId3" tooltip="了解详细信息"/>
          </p:cNvPr>
          <p:cNvSpPr txBox="1">
            <a:spLocks/>
          </p:cNvSpPr>
          <p:nvPr/>
        </p:nvSpPr>
        <p:spPr>
          <a:xfrm>
            <a:off x="2897187" y="5844664"/>
            <a:ext cx="8659851" cy="9313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28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zh-CN" sz="1800" dirty="0">
                <a:solidFill>
                  <a:srgbClr val="DD462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在 PowerPoint 入门中心查找更多内容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8466023" y="6477370"/>
            <a:ext cx="2963979" cy="298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zh-CN" sz="1200" dirty="0">
                <a:solidFill>
                  <a:srgbClr val="D24726">
                    <a:alpha val="37000"/>
                  </a:srgb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（在“幻灯片放映”模式中时单击该箭头）</a:t>
            </a:r>
          </a:p>
          <a:p>
            <a:endParaRPr lang="zh-CN" sz="1200" dirty="0">
              <a:solidFill>
                <a:srgbClr val="D24726">
                  <a:alpha val="37000"/>
                </a:srgbClr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750212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xmlns="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WelcomeDoc" id="{E1E7EDF9-8B79-4E5D-B508-2301E35CD219}" vid="{4342E303-0389-44F2-B6F0-C13C203CC59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D8DBC0A1-66E1-4B9D-88C2-9B3A32A2147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欢迎使用 PowerPoint</Template>
  <TotalTime>0</TotalTime>
  <Words>768</Words>
  <Application>Microsoft Office PowerPoint</Application>
  <PresentationFormat>Custom</PresentationFormat>
  <Paragraphs>63</Paragraphs>
  <Slides>13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WelcomeDoc</vt:lpstr>
      <vt:lpstr>基于形状语义和增强学习的建筑立面点云解译与重建的方法</vt:lpstr>
      <vt:lpstr>研究背景及意义</vt:lpstr>
      <vt:lpstr>建筑立面建模研究现状</vt:lpstr>
      <vt:lpstr>形状语义</vt:lpstr>
      <vt:lpstr>二分形状语义</vt:lpstr>
      <vt:lpstr>二分形状的语义规则</vt:lpstr>
      <vt:lpstr>二分形状语义的剖分过程</vt:lpstr>
      <vt:lpstr>最佳形状语义求解</vt:lpstr>
      <vt:lpstr>马尔科夫决策过程</vt:lpstr>
      <vt:lpstr>建模</vt:lpstr>
      <vt:lpstr>预分类</vt:lpstr>
      <vt:lpstr>结果</vt:lpstr>
      <vt:lpstr>PowerPoint 2013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2014-05-08T11:51:39Z</dcterms:created>
  <dcterms:modified xsi:type="dcterms:W3CDTF">2014-05-09T11:35:42Z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TC029239449991</vt:lpwstr>
  </property>
</Properties>
</file>